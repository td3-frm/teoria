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40834-23C8-481A-B77C-3403578525E3}" v="132" dt="2026-05-01T15:48:01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18F426-8B5D-4B5E-B58F-492424B78C2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1101C2-B172-49B6-9C77-C7D9838C19FA}">
      <dgm:prSet/>
      <dgm:spPr/>
      <dgm:t>
        <a:bodyPr/>
        <a:lstStyle/>
        <a:p>
          <a:r>
            <a:rPr lang="es-MX"/>
            <a:t>Es el proceso mediante el cual el Sistema Operativo decide </a:t>
          </a:r>
          <a:r>
            <a:rPr lang="es-MX" b="1"/>
            <a:t>qué programa o tarea utilizará la CPU</a:t>
          </a:r>
          <a:r>
            <a:rPr lang="es-MX"/>
            <a:t> en un momento exacto.</a:t>
          </a:r>
          <a:endParaRPr lang="en-US"/>
        </a:p>
      </dgm:t>
    </dgm:pt>
    <dgm:pt modelId="{AD9EE9D8-9FB2-4D12-9B47-BC8B493B3623}" type="parTrans" cxnId="{ECC0337D-7CC6-4A9F-8C54-F441B401B28A}">
      <dgm:prSet/>
      <dgm:spPr/>
      <dgm:t>
        <a:bodyPr/>
        <a:lstStyle/>
        <a:p>
          <a:endParaRPr lang="en-US"/>
        </a:p>
      </dgm:t>
    </dgm:pt>
    <dgm:pt modelId="{99669F8C-8984-470B-85F2-2B2E5D0CEBCB}" type="sibTrans" cxnId="{ECC0337D-7CC6-4A9F-8C54-F441B401B28A}">
      <dgm:prSet/>
      <dgm:spPr/>
      <dgm:t>
        <a:bodyPr/>
        <a:lstStyle/>
        <a:p>
          <a:endParaRPr lang="en-US"/>
        </a:p>
      </dgm:t>
    </dgm:pt>
    <dgm:pt modelId="{CB8A36A5-35B8-45F8-8408-5706641BC496}">
      <dgm:prSet/>
      <dgm:spPr/>
      <dgm:t>
        <a:bodyPr/>
        <a:lstStyle/>
        <a:p>
          <a:r>
            <a:rPr lang="es-MX"/>
            <a:t>La sección encargada de tomar estas decisiones se llama </a:t>
          </a:r>
          <a:r>
            <a:rPr lang="es-MX" b="1"/>
            <a:t>Planificador (Scheduler)</a:t>
          </a:r>
          <a:r>
            <a:rPr lang="es-MX"/>
            <a:t>. </a:t>
          </a:r>
          <a:endParaRPr lang="en-US"/>
        </a:p>
      </dgm:t>
    </dgm:pt>
    <dgm:pt modelId="{348498B1-2816-4EB0-AE15-E1A47981FFE3}" type="parTrans" cxnId="{8403CF38-B675-4484-8891-D4038E1F2EB2}">
      <dgm:prSet/>
      <dgm:spPr/>
      <dgm:t>
        <a:bodyPr/>
        <a:lstStyle/>
        <a:p>
          <a:endParaRPr lang="en-US"/>
        </a:p>
      </dgm:t>
    </dgm:pt>
    <dgm:pt modelId="{B8716805-D060-4172-A571-EFB3A6D4222A}" type="sibTrans" cxnId="{8403CF38-B675-4484-8891-D4038E1F2EB2}">
      <dgm:prSet/>
      <dgm:spPr/>
      <dgm:t>
        <a:bodyPr/>
        <a:lstStyle/>
        <a:p>
          <a:endParaRPr lang="en-US"/>
        </a:p>
      </dgm:t>
    </dgm:pt>
    <dgm:pt modelId="{7C038B71-390E-4739-9DCC-A6EEE7E2CF84}">
      <dgm:prSet/>
      <dgm:spPr/>
      <dgm:t>
        <a:bodyPr/>
        <a:lstStyle/>
        <a:p>
          <a:r>
            <a:rPr lang="es-MX"/>
            <a:t>Dado que un núcleo de la CPU hace una sola cosa a la vez, el planificador cambia rápidamente entre programas para dar la ilusión de que todo funciona al mismo tiempo. </a:t>
          </a:r>
          <a:endParaRPr lang="en-US"/>
        </a:p>
      </dgm:t>
    </dgm:pt>
    <dgm:pt modelId="{B66D0E42-1BEF-4A63-8102-E5330E94C56D}" type="parTrans" cxnId="{1234E374-8236-4BC9-89EE-FF6CA6236299}">
      <dgm:prSet/>
      <dgm:spPr/>
      <dgm:t>
        <a:bodyPr/>
        <a:lstStyle/>
        <a:p>
          <a:endParaRPr lang="en-US"/>
        </a:p>
      </dgm:t>
    </dgm:pt>
    <dgm:pt modelId="{C02C2CED-C55E-431A-803B-34EC9A7E6649}" type="sibTrans" cxnId="{1234E374-8236-4BC9-89EE-FF6CA6236299}">
      <dgm:prSet/>
      <dgm:spPr/>
      <dgm:t>
        <a:bodyPr/>
        <a:lstStyle/>
        <a:p>
          <a:endParaRPr lang="en-US"/>
        </a:p>
      </dgm:t>
    </dgm:pt>
    <dgm:pt modelId="{2F4256D4-F106-4F7C-AE41-B0BF6DF7CD08}" type="pres">
      <dgm:prSet presAssocID="{CA18F426-8B5D-4B5E-B58F-492424B78C28}" presName="vert0" presStyleCnt="0">
        <dgm:presLayoutVars>
          <dgm:dir/>
          <dgm:animOne val="branch"/>
          <dgm:animLvl val="lvl"/>
        </dgm:presLayoutVars>
      </dgm:prSet>
      <dgm:spPr/>
    </dgm:pt>
    <dgm:pt modelId="{71237AD5-B392-4C07-BBBA-E3F6B0D3DC03}" type="pres">
      <dgm:prSet presAssocID="{041101C2-B172-49B6-9C77-C7D9838C19FA}" presName="thickLine" presStyleLbl="alignNode1" presStyleIdx="0" presStyleCnt="3"/>
      <dgm:spPr/>
    </dgm:pt>
    <dgm:pt modelId="{5F6FF6BD-663F-4358-95F4-FCECE83600FE}" type="pres">
      <dgm:prSet presAssocID="{041101C2-B172-49B6-9C77-C7D9838C19FA}" presName="horz1" presStyleCnt="0"/>
      <dgm:spPr/>
    </dgm:pt>
    <dgm:pt modelId="{DD416CD4-041F-4BA4-8DA7-0E556697B412}" type="pres">
      <dgm:prSet presAssocID="{041101C2-B172-49B6-9C77-C7D9838C19FA}" presName="tx1" presStyleLbl="revTx" presStyleIdx="0" presStyleCnt="3"/>
      <dgm:spPr/>
    </dgm:pt>
    <dgm:pt modelId="{E5CE8C8D-8F22-477F-A895-C5DCFCBA4083}" type="pres">
      <dgm:prSet presAssocID="{041101C2-B172-49B6-9C77-C7D9838C19FA}" presName="vert1" presStyleCnt="0"/>
      <dgm:spPr/>
    </dgm:pt>
    <dgm:pt modelId="{F76E41E9-CC4D-4F3A-B87F-84ED6165F134}" type="pres">
      <dgm:prSet presAssocID="{CB8A36A5-35B8-45F8-8408-5706641BC496}" presName="thickLine" presStyleLbl="alignNode1" presStyleIdx="1" presStyleCnt="3"/>
      <dgm:spPr/>
    </dgm:pt>
    <dgm:pt modelId="{1B6C7E69-5132-44BF-93CD-419DE316A76D}" type="pres">
      <dgm:prSet presAssocID="{CB8A36A5-35B8-45F8-8408-5706641BC496}" presName="horz1" presStyleCnt="0"/>
      <dgm:spPr/>
    </dgm:pt>
    <dgm:pt modelId="{09F81655-388E-4D2A-BD66-49F2633A6D34}" type="pres">
      <dgm:prSet presAssocID="{CB8A36A5-35B8-45F8-8408-5706641BC496}" presName="tx1" presStyleLbl="revTx" presStyleIdx="1" presStyleCnt="3"/>
      <dgm:spPr/>
    </dgm:pt>
    <dgm:pt modelId="{4401B550-AC05-48E9-A75F-D746AF6D317B}" type="pres">
      <dgm:prSet presAssocID="{CB8A36A5-35B8-45F8-8408-5706641BC496}" presName="vert1" presStyleCnt="0"/>
      <dgm:spPr/>
    </dgm:pt>
    <dgm:pt modelId="{4D8C0BDF-E73C-4745-8BA5-043EEEE6044B}" type="pres">
      <dgm:prSet presAssocID="{7C038B71-390E-4739-9DCC-A6EEE7E2CF84}" presName="thickLine" presStyleLbl="alignNode1" presStyleIdx="2" presStyleCnt="3"/>
      <dgm:spPr/>
    </dgm:pt>
    <dgm:pt modelId="{E8CE49B6-41F7-40DC-8CF1-16A76D4EB85D}" type="pres">
      <dgm:prSet presAssocID="{7C038B71-390E-4739-9DCC-A6EEE7E2CF84}" presName="horz1" presStyleCnt="0"/>
      <dgm:spPr/>
    </dgm:pt>
    <dgm:pt modelId="{09BEE5E1-8A4D-4B47-9F9B-DF2DA8E338D0}" type="pres">
      <dgm:prSet presAssocID="{7C038B71-390E-4739-9DCC-A6EEE7E2CF84}" presName="tx1" presStyleLbl="revTx" presStyleIdx="2" presStyleCnt="3"/>
      <dgm:spPr/>
    </dgm:pt>
    <dgm:pt modelId="{8DFFF456-4801-4CDA-9B90-CA3B06D7F256}" type="pres">
      <dgm:prSet presAssocID="{7C038B71-390E-4739-9DCC-A6EEE7E2CF84}" presName="vert1" presStyleCnt="0"/>
      <dgm:spPr/>
    </dgm:pt>
  </dgm:ptLst>
  <dgm:cxnLst>
    <dgm:cxn modelId="{085F0012-6CFF-4C8A-8F62-040F660393C5}" type="presOf" srcId="{CB8A36A5-35B8-45F8-8408-5706641BC496}" destId="{09F81655-388E-4D2A-BD66-49F2633A6D34}" srcOrd="0" destOrd="0" presId="urn:microsoft.com/office/officeart/2008/layout/LinedList"/>
    <dgm:cxn modelId="{8403CF38-B675-4484-8891-D4038E1F2EB2}" srcId="{CA18F426-8B5D-4B5E-B58F-492424B78C28}" destId="{CB8A36A5-35B8-45F8-8408-5706641BC496}" srcOrd="1" destOrd="0" parTransId="{348498B1-2816-4EB0-AE15-E1A47981FFE3}" sibTransId="{B8716805-D060-4172-A571-EFB3A6D4222A}"/>
    <dgm:cxn modelId="{424E375C-FAD2-4E31-BE64-21D7A46CEBF1}" type="presOf" srcId="{041101C2-B172-49B6-9C77-C7D9838C19FA}" destId="{DD416CD4-041F-4BA4-8DA7-0E556697B412}" srcOrd="0" destOrd="0" presId="urn:microsoft.com/office/officeart/2008/layout/LinedList"/>
    <dgm:cxn modelId="{1234E374-8236-4BC9-89EE-FF6CA6236299}" srcId="{CA18F426-8B5D-4B5E-B58F-492424B78C28}" destId="{7C038B71-390E-4739-9DCC-A6EEE7E2CF84}" srcOrd="2" destOrd="0" parTransId="{B66D0E42-1BEF-4A63-8102-E5330E94C56D}" sibTransId="{C02C2CED-C55E-431A-803B-34EC9A7E6649}"/>
    <dgm:cxn modelId="{ECC0337D-7CC6-4A9F-8C54-F441B401B28A}" srcId="{CA18F426-8B5D-4B5E-B58F-492424B78C28}" destId="{041101C2-B172-49B6-9C77-C7D9838C19FA}" srcOrd="0" destOrd="0" parTransId="{AD9EE9D8-9FB2-4D12-9B47-BC8B493B3623}" sibTransId="{99669F8C-8984-470B-85F2-2B2E5D0CEBCB}"/>
    <dgm:cxn modelId="{49C1AF84-981F-4ABA-8FAD-E99E0804BB08}" type="presOf" srcId="{7C038B71-390E-4739-9DCC-A6EEE7E2CF84}" destId="{09BEE5E1-8A4D-4B47-9F9B-DF2DA8E338D0}" srcOrd="0" destOrd="0" presId="urn:microsoft.com/office/officeart/2008/layout/LinedList"/>
    <dgm:cxn modelId="{E55CB4E0-56FE-44A6-9070-075F7B419003}" type="presOf" srcId="{CA18F426-8B5D-4B5E-B58F-492424B78C28}" destId="{2F4256D4-F106-4F7C-AE41-B0BF6DF7CD08}" srcOrd="0" destOrd="0" presId="urn:microsoft.com/office/officeart/2008/layout/LinedList"/>
    <dgm:cxn modelId="{1A8233A6-05CC-4369-9381-FCC23EE0B62C}" type="presParOf" srcId="{2F4256D4-F106-4F7C-AE41-B0BF6DF7CD08}" destId="{71237AD5-B392-4C07-BBBA-E3F6B0D3DC03}" srcOrd="0" destOrd="0" presId="urn:microsoft.com/office/officeart/2008/layout/LinedList"/>
    <dgm:cxn modelId="{39015ECA-42CA-42D9-AC59-965DAEF6E393}" type="presParOf" srcId="{2F4256D4-F106-4F7C-AE41-B0BF6DF7CD08}" destId="{5F6FF6BD-663F-4358-95F4-FCECE83600FE}" srcOrd="1" destOrd="0" presId="urn:microsoft.com/office/officeart/2008/layout/LinedList"/>
    <dgm:cxn modelId="{B32C5557-43DE-4D19-B465-D983706F0BCE}" type="presParOf" srcId="{5F6FF6BD-663F-4358-95F4-FCECE83600FE}" destId="{DD416CD4-041F-4BA4-8DA7-0E556697B412}" srcOrd="0" destOrd="0" presId="urn:microsoft.com/office/officeart/2008/layout/LinedList"/>
    <dgm:cxn modelId="{86682B90-5066-4BBD-B457-BA93FCDDD8B6}" type="presParOf" srcId="{5F6FF6BD-663F-4358-95F4-FCECE83600FE}" destId="{E5CE8C8D-8F22-477F-A895-C5DCFCBA4083}" srcOrd="1" destOrd="0" presId="urn:microsoft.com/office/officeart/2008/layout/LinedList"/>
    <dgm:cxn modelId="{5EC6764A-64B5-471D-82F3-0CFE63EA0A8D}" type="presParOf" srcId="{2F4256D4-F106-4F7C-AE41-B0BF6DF7CD08}" destId="{F76E41E9-CC4D-4F3A-B87F-84ED6165F134}" srcOrd="2" destOrd="0" presId="urn:microsoft.com/office/officeart/2008/layout/LinedList"/>
    <dgm:cxn modelId="{FE75BA4A-28C4-4403-B895-07A21DC80E71}" type="presParOf" srcId="{2F4256D4-F106-4F7C-AE41-B0BF6DF7CD08}" destId="{1B6C7E69-5132-44BF-93CD-419DE316A76D}" srcOrd="3" destOrd="0" presId="urn:microsoft.com/office/officeart/2008/layout/LinedList"/>
    <dgm:cxn modelId="{45F53E9C-C9FD-4803-831D-922528D63CF5}" type="presParOf" srcId="{1B6C7E69-5132-44BF-93CD-419DE316A76D}" destId="{09F81655-388E-4D2A-BD66-49F2633A6D34}" srcOrd="0" destOrd="0" presId="urn:microsoft.com/office/officeart/2008/layout/LinedList"/>
    <dgm:cxn modelId="{E1086B36-9B26-4BE7-8E31-298DB78CBEE8}" type="presParOf" srcId="{1B6C7E69-5132-44BF-93CD-419DE316A76D}" destId="{4401B550-AC05-48E9-A75F-D746AF6D317B}" srcOrd="1" destOrd="0" presId="urn:microsoft.com/office/officeart/2008/layout/LinedList"/>
    <dgm:cxn modelId="{BEFC89AC-938F-4D90-8B25-F3FDB5811E9F}" type="presParOf" srcId="{2F4256D4-F106-4F7C-AE41-B0BF6DF7CD08}" destId="{4D8C0BDF-E73C-4745-8BA5-043EEEE6044B}" srcOrd="4" destOrd="0" presId="urn:microsoft.com/office/officeart/2008/layout/LinedList"/>
    <dgm:cxn modelId="{D13923BD-C846-41F2-BBA8-5A4C23E55A06}" type="presParOf" srcId="{2F4256D4-F106-4F7C-AE41-B0BF6DF7CD08}" destId="{E8CE49B6-41F7-40DC-8CF1-16A76D4EB85D}" srcOrd="5" destOrd="0" presId="urn:microsoft.com/office/officeart/2008/layout/LinedList"/>
    <dgm:cxn modelId="{7B8B1BC5-7E93-45FF-9E10-992094D73E99}" type="presParOf" srcId="{E8CE49B6-41F7-40DC-8CF1-16A76D4EB85D}" destId="{09BEE5E1-8A4D-4B47-9F9B-DF2DA8E338D0}" srcOrd="0" destOrd="0" presId="urn:microsoft.com/office/officeart/2008/layout/LinedList"/>
    <dgm:cxn modelId="{348E68DE-C51D-4BA5-B4BC-02BA4D6CF8E2}" type="presParOf" srcId="{E8CE49B6-41F7-40DC-8CF1-16A76D4EB85D}" destId="{8DFFF456-4801-4CDA-9B90-CA3B06D7F2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00B6F1-456E-4F73-8A0E-9B771E26E62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E281CA5-225B-4E95-9AA2-87141CB6095A}">
      <dgm:prSet/>
      <dgm:spPr/>
      <dgm:t>
        <a:bodyPr/>
        <a:lstStyle/>
        <a:p>
          <a:r>
            <a:rPr lang="es-MX" b="1"/>
            <a:t>Optimizar recursos:</a:t>
          </a:r>
          <a:r>
            <a:rPr lang="es-MX"/>
            <a:t> Mantener a la CPU trabajando el 100% del tiempo.</a:t>
          </a:r>
          <a:endParaRPr lang="en-US"/>
        </a:p>
      </dgm:t>
    </dgm:pt>
    <dgm:pt modelId="{938CB921-1F61-4610-ACC4-9E7F7B6704F4}" type="parTrans" cxnId="{5D9DC533-B783-43FB-B99F-D94BC13373F7}">
      <dgm:prSet/>
      <dgm:spPr/>
      <dgm:t>
        <a:bodyPr/>
        <a:lstStyle/>
        <a:p>
          <a:endParaRPr lang="en-US"/>
        </a:p>
      </dgm:t>
    </dgm:pt>
    <dgm:pt modelId="{2BBACED5-D324-4414-A64F-5867AFD16757}" type="sibTrans" cxnId="{5D9DC533-B783-43FB-B99F-D94BC13373F7}">
      <dgm:prSet/>
      <dgm:spPr/>
      <dgm:t>
        <a:bodyPr/>
        <a:lstStyle/>
        <a:p>
          <a:endParaRPr lang="en-US"/>
        </a:p>
      </dgm:t>
    </dgm:pt>
    <dgm:pt modelId="{D379D545-107E-418D-902E-E1FE6CF37FE5}">
      <dgm:prSet/>
      <dgm:spPr/>
      <dgm:t>
        <a:bodyPr/>
        <a:lstStyle/>
        <a:p>
          <a:r>
            <a:rPr lang="es-MX" b="1" dirty="0"/>
            <a:t>Terminar rápido (Tiempo de retorno):</a:t>
          </a:r>
          <a:r>
            <a:rPr lang="es-MX" dirty="0"/>
            <a:t> Lograr que el tiempo desde que inicia un programa hasta que termina sea el mínimo posible. </a:t>
          </a:r>
          <a:endParaRPr lang="en-US" dirty="0"/>
        </a:p>
      </dgm:t>
    </dgm:pt>
    <dgm:pt modelId="{3B8056A0-794C-48A0-9CD9-34AE4698D706}" type="parTrans" cxnId="{17F95A9C-629A-4025-A906-B7EBD4745D84}">
      <dgm:prSet/>
      <dgm:spPr/>
      <dgm:t>
        <a:bodyPr/>
        <a:lstStyle/>
        <a:p>
          <a:endParaRPr lang="en-US"/>
        </a:p>
      </dgm:t>
    </dgm:pt>
    <dgm:pt modelId="{1B74D68D-AE77-471B-9CDA-7E5F87C6560B}" type="sibTrans" cxnId="{17F95A9C-629A-4025-A906-B7EBD4745D84}">
      <dgm:prSet/>
      <dgm:spPr/>
      <dgm:t>
        <a:bodyPr/>
        <a:lstStyle/>
        <a:p>
          <a:endParaRPr lang="en-US"/>
        </a:p>
      </dgm:t>
    </dgm:pt>
    <dgm:pt modelId="{00160049-83D6-4229-8D15-A89BD6071A07}">
      <dgm:prSet/>
      <dgm:spPr/>
      <dgm:t>
        <a:bodyPr/>
        <a:lstStyle/>
        <a:p>
          <a:r>
            <a:rPr lang="es-MX" b="1"/>
            <a:t>Interactividad (Tiempo de respuesta):</a:t>
          </a:r>
          <a:r>
            <a:rPr lang="es-MX"/>
            <a:t> Garantizar que el sistema reaccione rápidamente a las acciones del usuario (como clics o tecleos). </a:t>
          </a:r>
          <a:endParaRPr lang="en-US"/>
        </a:p>
      </dgm:t>
    </dgm:pt>
    <dgm:pt modelId="{C373C4D5-ABEC-45C5-B222-AB79F3224F02}" type="parTrans" cxnId="{D85269D0-E5DF-4648-ADD2-107B07577E9F}">
      <dgm:prSet/>
      <dgm:spPr/>
      <dgm:t>
        <a:bodyPr/>
        <a:lstStyle/>
        <a:p>
          <a:endParaRPr lang="en-US"/>
        </a:p>
      </dgm:t>
    </dgm:pt>
    <dgm:pt modelId="{2EF33C7E-D50B-4AB6-9ADF-26681C480017}" type="sibTrans" cxnId="{D85269D0-E5DF-4648-ADD2-107B07577E9F}">
      <dgm:prSet/>
      <dgm:spPr/>
      <dgm:t>
        <a:bodyPr/>
        <a:lstStyle/>
        <a:p>
          <a:endParaRPr lang="en-US"/>
        </a:p>
      </dgm:t>
    </dgm:pt>
    <dgm:pt modelId="{EE2954F1-C454-43F9-BC48-BADF5F0D59FF}" type="pres">
      <dgm:prSet presAssocID="{2800B6F1-456E-4F73-8A0E-9B771E26E629}" presName="vert0" presStyleCnt="0">
        <dgm:presLayoutVars>
          <dgm:dir/>
          <dgm:animOne val="branch"/>
          <dgm:animLvl val="lvl"/>
        </dgm:presLayoutVars>
      </dgm:prSet>
      <dgm:spPr/>
    </dgm:pt>
    <dgm:pt modelId="{7A8D1323-E875-42F6-9173-339DDF64A7E6}" type="pres">
      <dgm:prSet presAssocID="{9E281CA5-225B-4E95-9AA2-87141CB6095A}" presName="thickLine" presStyleLbl="alignNode1" presStyleIdx="0" presStyleCnt="3"/>
      <dgm:spPr/>
    </dgm:pt>
    <dgm:pt modelId="{152DE017-F0F0-408F-9973-6158435204A2}" type="pres">
      <dgm:prSet presAssocID="{9E281CA5-225B-4E95-9AA2-87141CB6095A}" presName="horz1" presStyleCnt="0"/>
      <dgm:spPr/>
    </dgm:pt>
    <dgm:pt modelId="{8D9C5807-453C-4356-B86A-27FB323951B7}" type="pres">
      <dgm:prSet presAssocID="{9E281CA5-225B-4E95-9AA2-87141CB6095A}" presName="tx1" presStyleLbl="revTx" presStyleIdx="0" presStyleCnt="3"/>
      <dgm:spPr/>
    </dgm:pt>
    <dgm:pt modelId="{A7FF6F1F-ABC8-4348-B4AC-A04C1424CF71}" type="pres">
      <dgm:prSet presAssocID="{9E281CA5-225B-4E95-9AA2-87141CB6095A}" presName="vert1" presStyleCnt="0"/>
      <dgm:spPr/>
    </dgm:pt>
    <dgm:pt modelId="{39AD9CF7-0264-48CC-A8E7-A5277A640ECB}" type="pres">
      <dgm:prSet presAssocID="{D379D545-107E-418D-902E-E1FE6CF37FE5}" presName="thickLine" presStyleLbl="alignNode1" presStyleIdx="1" presStyleCnt="3"/>
      <dgm:spPr/>
    </dgm:pt>
    <dgm:pt modelId="{ECB712F8-F0FA-4CA4-8B14-111ADFC857A2}" type="pres">
      <dgm:prSet presAssocID="{D379D545-107E-418D-902E-E1FE6CF37FE5}" presName="horz1" presStyleCnt="0"/>
      <dgm:spPr/>
    </dgm:pt>
    <dgm:pt modelId="{1D6E3EFC-D388-4B6A-85DC-0CC45DB52C99}" type="pres">
      <dgm:prSet presAssocID="{D379D545-107E-418D-902E-E1FE6CF37FE5}" presName="tx1" presStyleLbl="revTx" presStyleIdx="1" presStyleCnt="3"/>
      <dgm:spPr/>
    </dgm:pt>
    <dgm:pt modelId="{F7D18970-0AD7-411A-B424-D4FD02765F62}" type="pres">
      <dgm:prSet presAssocID="{D379D545-107E-418D-902E-E1FE6CF37FE5}" presName="vert1" presStyleCnt="0"/>
      <dgm:spPr/>
    </dgm:pt>
    <dgm:pt modelId="{3F7A48ED-2432-4B37-8B3B-89C20B61ACDF}" type="pres">
      <dgm:prSet presAssocID="{00160049-83D6-4229-8D15-A89BD6071A07}" presName="thickLine" presStyleLbl="alignNode1" presStyleIdx="2" presStyleCnt="3"/>
      <dgm:spPr/>
    </dgm:pt>
    <dgm:pt modelId="{1207F14C-9F18-4157-8D34-116E77CBFECF}" type="pres">
      <dgm:prSet presAssocID="{00160049-83D6-4229-8D15-A89BD6071A07}" presName="horz1" presStyleCnt="0"/>
      <dgm:spPr/>
    </dgm:pt>
    <dgm:pt modelId="{F1032CB6-B132-4B31-824C-892FD2395CE5}" type="pres">
      <dgm:prSet presAssocID="{00160049-83D6-4229-8D15-A89BD6071A07}" presName="tx1" presStyleLbl="revTx" presStyleIdx="2" presStyleCnt="3"/>
      <dgm:spPr/>
    </dgm:pt>
    <dgm:pt modelId="{C502DCB1-3818-432A-A108-AA29F08F97F9}" type="pres">
      <dgm:prSet presAssocID="{00160049-83D6-4229-8D15-A89BD6071A07}" presName="vert1" presStyleCnt="0"/>
      <dgm:spPr/>
    </dgm:pt>
  </dgm:ptLst>
  <dgm:cxnLst>
    <dgm:cxn modelId="{5D9DC533-B783-43FB-B99F-D94BC13373F7}" srcId="{2800B6F1-456E-4F73-8A0E-9B771E26E629}" destId="{9E281CA5-225B-4E95-9AA2-87141CB6095A}" srcOrd="0" destOrd="0" parTransId="{938CB921-1F61-4610-ACC4-9E7F7B6704F4}" sibTransId="{2BBACED5-D324-4414-A64F-5867AFD16757}"/>
    <dgm:cxn modelId="{7A01E934-B59E-40CC-B7F2-5C18F0BEE8B5}" type="presOf" srcId="{2800B6F1-456E-4F73-8A0E-9B771E26E629}" destId="{EE2954F1-C454-43F9-BC48-BADF5F0D59FF}" srcOrd="0" destOrd="0" presId="urn:microsoft.com/office/officeart/2008/layout/LinedList"/>
    <dgm:cxn modelId="{D76E6272-4ECA-49DD-BD6F-6B51DBE4B4ED}" type="presOf" srcId="{00160049-83D6-4229-8D15-A89BD6071A07}" destId="{F1032CB6-B132-4B31-824C-892FD2395CE5}" srcOrd="0" destOrd="0" presId="urn:microsoft.com/office/officeart/2008/layout/LinedList"/>
    <dgm:cxn modelId="{17F95A9C-629A-4025-A906-B7EBD4745D84}" srcId="{2800B6F1-456E-4F73-8A0E-9B771E26E629}" destId="{D379D545-107E-418D-902E-E1FE6CF37FE5}" srcOrd="1" destOrd="0" parTransId="{3B8056A0-794C-48A0-9CD9-34AE4698D706}" sibTransId="{1B74D68D-AE77-471B-9CDA-7E5F87C6560B}"/>
    <dgm:cxn modelId="{FD5A83B9-4979-45CE-88A4-6FD9D29DE416}" type="presOf" srcId="{9E281CA5-225B-4E95-9AA2-87141CB6095A}" destId="{8D9C5807-453C-4356-B86A-27FB323951B7}" srcOrd="0" destOrd="0" presId="urn:microsoft.com/office/officeart/2008/layout/LinedList"/>
    <dgm:cxn modelId="{CEC7B1B9-0438-4D4F-9227-B400EBD1459D}" type="presOf" srcId="{D379D545-107E-418D-902E-E1FE6CF37FE5}" destId="{1D6E3EFC-D388-4B6A-85DC-0CC45DB52C99}" srcOrd="0" destOrd="0" presId="urn:microsoft.com/office/officeart/2008/layout/LinedList"/>
    <dgm:cxn modelId="{D85269D0-E5DF-4648-ADD2-107B07577E9F}" srcId="{2800B6F1-456E-4F73-8A0E-9B771E26E629}" destId="{00160049-83D6-4229-8D15-A89BD6071A07}" srcOrd="2" destOrd="0" parTransId="{C373C4D5-ABEC-45C5-B222-AB79F3224F02}" sibTransId="{2EF33C7E-D50B-4AB6-9ADF-26681C480017}"/>
    <dgm:cxn modelId="{A918BBF2-5225-4ABD-854B-D9B3AB490579}" type="presParOf" srcId="{EE2954F1-C454-43F9-BC48-BADF5F0D59FF}" destId="{7A8D1323-E875-42F6-9173-339DDF64A7E6}" srcOrd="0" destOrd="0" presId="urn:microsoft.com/office/officeart/2008/layout/LinedList"/>
    <dgm:cxn modelId="{B0BC3165-B11C-40F9-9392-B0D5275FEB6C}" type="presParOf" srcId="{EE2954F1-C454-43F9-BC48-BADF5F0D59FF}" destId="{152DE017-F0F0-408F-9973-6158435204A2}" srcOrd="1" destOrd="0" presId="urn:microsoft.com/office/officeart/2008/layout/LinedList"/>
    <dgm:cxn modelId="{1D0EAB1E-067B-42E0-A36C-FDB7A664D7F9}" type="presParOf" srcId="{152DE017-F0F0-408F-9973-6158435204A2}" destId="{8D9C5807-453C-4356-B86A-27FB323951B7}" srcOrd="0" destOrd="0" presId="urn:microsoft.com/office/officeart/2008/layout/LinedList"/>
    <dgm:cxn modelId="{48234732-FD38-4FCA-8E24-A0258718E367}" type="presParOf" srcId="{152DE017-F0F0-408F-9973-6158435204A2}" destId="{A7FF6F1F-ABC8-4348-B4AC-A04C1424CF71}" srcOrd="1" destOrd="0" presId="urn:microsoft.com/office/officeart/2008/layout/LinedList"/>
    <dgm:cxn modelId="{827EDCEC-CB04-416F-9D7D-B76C25D62969}" type="presParOf" srcId="{EE2954F1-C454-43F9-BC48-BADF5F0D59FF}" destId="{39AD9CF7-0264-48CC-A8E7-A5277A640ECB}" srcOrd="2" destOrd="0" presId="urn:microsoft.com/office/officeart/2008/layout/LinedList"/>
    <dgm:cxn modelId="{478707A6-2D79-4D82-A41A-89ED1FC9259A}" type="presParOf" srcId="{EE2954F1-C454-43F9-BC48-BADF5F0D59FF}" destId="{ECB712F8-F0FA-4CA4-8B14-111ADFC857A2}" srcOrd="3" destOrd="0" presId="urn:microsoft.com/office/officeart/2008/layout/LinedList"/>
    <dgm:cxn modelId="{30AC864A-B710-4971-9D60-2CCA67F629F9}" type="presParOf" srcId="{ECB712F8-F0FA-4CA4-8B14-111ADFC857A2}" destId="{1D6E3EFC-D388-4B6A-85DC-0CC45DB52C99}" srcOrd="0" destOrd="0" presId="urn:microsoft.com/office/officeart/2008/layout/LinedList"/>
    <dgm:cxn modelId="{3B4C9FAC-2CC5-485A-8393-07B9EB5259F1}" type="presParOf" srcId="{ECB712F8-F0FA-4CA4-8B14-111ADFC857A2}" destId="{F7D18970-0AD7-411A-B424-D4FD02765F62}" srcOrd="1" destOrd="0" presId="urn:microsoft.com/office/officeart/2008/layout/LinedList"/>
    <dgm:cxn modelId="{67680ACA-AF16-4C18-BFE5-EF5DB88C9785}" type="presParOf" srcId="{EE2954F1-C454-43F9-BC48-BADF5F0D59FF}" destId="{3F7A48ED-2432-4B37-8B3B-89C20B61ACDF}" srcOrd="4" destOrd="0" presId="urn:microsoft.com/office/officeart/2008/layout/LinedList"/>
    <dgm:cxn modelId="{33BC7A87-431A-4A6D-9088-C2A3723940A3}" type="presParOf" srcId="{EE2954F1-C454-43F9-BC48-BADF5F0D59FF}" destId="{1207F14C-9F18-4157-8D34-116E77CBFECF}" srcOrd="5" destOrd="0" presId="urn:microsoft.com/office/officeart/2008/layout/LinedList"/>
    <dgm:cxn modelId="{7870885F-2F3D-4E76-A95B-E95E59E79401}" type="presParOf" srcId="{1207F14C-9F18-4157-8D34-116E77CBFECF}" destId="{F1032CB6-B132-4B31-824C-892FD2395CE5}" srcOrd="0" destOrd="0" presId="urn:microsoft.com/office/officeart/2008/layout/LinedList"/>
    <dgm:cxn modelId="{50D62DA7-0467-4F60-A3D8-9660AEA7939C}" type="presParOf" srcId="{1207F14C-9F18-4157-8D34-116E77CBFECF}" destId="{C502DCB1-3818-432A-A108-AA29F08F97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37AD5-B392-4C07-BBBA-E3F6B0D3DC03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16CD4-041F-4BA4-8DA7-0E556697B412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/>
            <a:t>Es el proceso mediante el cual el Sistema Operativo decide </a:t>
          </a:r>
          <a:r>
            <a:rPr lang="es-MX" sz="2700" b="1" kern="1200"/>
            <a:t>qué programa o tarea utilizará la CPU</a:t>
          </a:r>
          <a:r>
            <a:rPr lang="es-MX" sz="2700" kern="1200"/>
            <a:t> en un momento exacto.</a:t>
          </a:r>
          <a:endParaRPr lang="en-US" sz="2700" kern="1200"/>
        </a:p>
      </dsp:txBody>
      <dsp:txXfrm>
        <a:off x="0" y="2703"/>
        <a:ext cx="6900512" cy="1843578"/>
      </dsp:txXfrm>
    </dsp:sp>
    <dsp:sp modelId="{F76E41E9-CC4D-4F3A-B87F-84ED6165F134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81655-388E-4D2A-BD66-49F2633A6D34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/>
            <a:t>La sección encargada de tomar estas decisiones se llama </a:t>
          </a:r>
          <a:r>
            <a:rPr lang="es-MX" sz="2700" b="1" kern="1200"/>
            <a:t>Planificador (Scheduler)</a:t>
          </a:r>
          <a:r>
            <a:rPr lang="es-MX" sz="2700" kern="1200"/>
            <a:t>. </a:t>
          </a:r>
          <a:endParaRPr lang="en-US" sz="2700" kern="1200"/>
        </a:p>
      </dsp:txBody>
      <dsp:txXfrm>
        <a:off x="0" y="1846281"/>
        <a:ext cx="6900512" cy="1843578"/>
      </dsp:txXfrm>
    </dsp:sp>
    <dsp:sp modelId="{4D8C0BDF-E73C-4745-8BA5-043EEEE6044B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EE5E1-8A4D-4B47-9F9B-DF2DA8E338D0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/>
            <a:t>Dado que un núcleo de la CPU hace una sola cosa a la vez, el planificador cambia rápidamente entre programas para dar la ilusión de que todo funciona al mismo tiempo. </a:t>
          </a:r>
          <a:endParaRPr lang="en-US" sz="2700" kern="1200"/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D1323-E875-42F6-9173-339DDF64A7E6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C5807-453C-4356-B86A-27FB323951B7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b="1" kern="1200"/>
            <a:t>Optimizar recursos:</a:t>
          </a:r>
          <a:r>
            <a:rPr lang="es-MX" sz="2900" kern="1200"/>
            <a:t> Mantener a la CPU trabajando el 100% del tiempo.</a:t>
          </a:r>
          <a:endParaRPr lang="en-US" sz="2900" kern="1200"/>
        </a:p>
      </dsp:txBody>
      <dsp:txXfrm>
        <a:off x="0" y="2703"/>
        <a:ext cx="6900512" cy="1843578"/>
      </dsp:txXfrm>
    </dsp:sp>
    <dsp:sp modelId="{39AD9CF7-0264-48CC-A8E7-A5277A640ECB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E3EFC-D388-4B6A-85DC-0CC45DB52C99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b="1" kern="1200" dirty="0"/>
            <a:t>Terminar rápido (Tiempo de retorno):</a:t>
          </a:r>
          <a:r>
            <a:rPr lang="es-MX" sz="2900" kern="1200" dirty="0"/>
            <a:t> Lograr que el tiempo desde que inicia un programa hasta que termina sea el mínimo posible. </a:t>
          </a:r>
          <a:endParaRPr lang="en-US" sz="2900" kern="1200" dirty="0"/>
        </a:p>
      </dsp:txBody>
      <dsp:txXfrm>
        <a:off x="0" y="1846281"/>
        <a:ext cx="6900512" cy="1843578"/>
      </dsp:txXfrm>
    </dsp:sp>
    <dsp:sp modelId="{3F7A48ED-2432-4B37-8B3B-89C20B61ACDF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32CB6-B132-4B31-824C-892FD2395CE5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b="1" kern="1200"/>
            <a:t>Interactividad (Tiempo de respuesta):</a:t>
          </a:r>
          <a:r>
            <a:rPr lang="es-MX" sz="2900" kern="1200"/>
            <a:t> Garantizar que el sistema reaccione rápidamente a las acciones del usuario (como clics o tecleos). </a:t>
          </a:r>
          <a:endParaRPr lang="en-US" sz="2900" kern="120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06C4C-2E02-4B79-A772-FA6D967B1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D2A9EC-BF39-487B-A64B-EF412744C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CEBB6-4B99-4812-885E-89761A9E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E991EF-C49A-4CDF-9585-21ADDCF4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1A59B5-C01F-479E-9FD5-7D2BFC56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391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5ABF5-7A9A-4B19-A391-9AD6B5EB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F53AC8-5C25-4B18-9B06-6723D660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C1A6D-F0AA-42AD-8FEF-953F5927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E7918-D477-42B1-9B58-0AB6B64A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FDD495-951C-4257-84DC-E07A7026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339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DC185-4247-4587-80EE-5463ACC3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CBCD6A-0349-485F-8F1F-ECC324675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573E17-9350-48E2-AAAF-1D913919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82D32-A70D-4AA4-B777-E86DF35C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2BB388-B72D-4395-B1BD-3C9D22FC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562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A6E9F-8D58-4233-9105-9857790E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2D65C9-A67B-4648-AE7E-178C5B183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21D4D-3CFE-4584-9B4B-B275C09F2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8C9AAF-9FD0-4D82-ADF9-7EE9A6EB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2D0FFD-1267-4462-90FB-F7EE1B01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C51119-2E9A-466F-A90C-F2D652D0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916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0C718-1515-4765-AC14-FE5BE636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B1E0D8-659A-4F1D-851A-2C5ADDAD0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A3A65A-01E5-4FE3-918C-2B2610903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95104E-ACF6-4FFD-895F-58A00CDAD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D308-47F9-4D4E-AD12-257563926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064137-86A5-4C74-ACE5-D485F403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CF77769-6E90-4946-88F6-172D9227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A591E4-525D-4EA2-B335-9C8C1A81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815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7E84-8137-4083-95FD-49720BD5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C767B9-1D94-44E4-8584-EB9A7739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A32F48-E337-4849-A0DB-E39E798E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649F23-2CF4-4281-AE64-71C37F56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40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FEFD0C-E4A7-4856-B800-97D964C9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3A59F6-6560-4BDB-87DB-634DCCEC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C6CB69-8C41-4761-8D6E-36F43446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767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FCBED-A45C-4AAB-BFE9-283BB40C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54DA41-11E9-45D3-AE0E-2B72A790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27E629-D041-42A2-B756-D856EAF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E436FD-8E75-4E56-ACFF-D8D567B3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EFBAB7-7387-45E1-856B-D95CCE7E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F70A52-E750-4F8C-AAD7-2956420C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434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6FD9E-0E69-46F8-BA8C-0648A3E80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BF989-5573-43CD-BAF4-740E3BA2D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855FEF-DFE6-4807-B7B8-714605090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5280F1-F48C-4D2B-98D3-71ABE94C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076DB6-C3DB-4203-A7EF-B52996C7A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161934-C91B-436C-8D54-B8A86FDB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801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FBD10-2F97-4C60-AE11-E471F772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7B40D-EDC5-4613-8402-E2519B5E7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D7F91F-FDEF-4544-A7BE-BD9F06C5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C1773-557C-4FB4-A61F-B46E14E9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6B365C-BB7D-447D-AD0C-015CF7FA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78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96A370-87A4-498E-9ABD-878CD824A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03B8D9-F310-4A02-B8AE-40A80990D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478027-35D7-4C52-AC0D-50CA893E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BCF820-BD04-4804-9B27-EF080B81D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801124-FBE1-4DF9-9DA3-2E18D468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558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709C4-79A5-42D5-827E-A6CC3386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8857EF-EE98-474B-A2D2-332AE262B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BDC7E4-4814-46DC-88AF-938830124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D5EE5-7E0E-4B3F-A6B2-D7E422E9AE2D}" type="datetimeFigureOut">
              <a:rPr lang="es-AR" smtClean="0"/>
              <a:t>4/5/2026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A69697-36AF-4CE2-847F-394FE3113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6C338-6C57-4D78-9653-68E69B322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C6DAA-372B-421C-A474-285099F673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402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03662D-B0E0-4D57-A152-48E0C8D86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s-AR" sz="7200"/>
              <a:t>SCHEDULER</a:t>
            </a:r>
            <a:br>
              <a:rPr lang="es-AR" sz="7200"/>
            </a:br>
            <a:r>
              <a:rPr lang="es-AR" sz="7200"/>
              <a:t>(PLANIFICADOR)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65D567-86B9-43C0-87DC-2AE781B3D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 fontScale="92500" lnSpcReduction="20000"/>
          </a:bodyPr>
          <a:lstStyle/>
          <a:p>
            <a:r>
              <a:rPr lang="es-AR" dirty="0"/>
              <a:t>Técnicas Digitales 3</a:t>
            </a:r>
            <a:br>
              <a:rPr lang="es-AR" dirty="0"/>
            </a:br>
            <a:r>
              <a:rPr lang="es-AR" dirty="0"/>
              <a:t>Agustín Lucero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79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0B4892-3805-426B-9787-B9D49B8B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AR" sz="5400"/>
              <a:t>¿En qué se basa?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6C57C92-083D-CF67-2672-EDB30E52A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39511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610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D77420-17E5-42A5-BA64-29912EC0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AR" sz="5000" dirty="0"/>
              <a:t>¿</a:t>
            </a:r>
            <a:r>
              <a:rPr lang="es-AR" sz="5000"/>
              <a:t>Cuáles</a:t>
            </a:r>
            <a:r>
              <a:rPr lang="es-AR" sz="5000" dirty="0"/>
              <a:t> son sus objetivos principales?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17C5ABB-636E-63A2-C387-89D61A156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64230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037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FCA9C-86E2-46E2-A7F2-10C33201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</a:rPr>
              <a:t>Suposiciones sobre la Carga de Trabajo </a:t>
            </a:r>
            <a:endParaRPr lang="es-A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8CB18CE-B91B-44E6-BE5D-BC7F6ABFB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0179" y="591344"/>
                <a:ext cx="7458664" cy="5585619"/>
              </a:xfrm>
            </p:spPr>
            <p:txBody>
              <a:bodyPr anchor="ctr"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MX" sz="2400" b="1" dirty="0"/>
                  <a:t>Duración uniforme:</a:t>
                </a:r>
                <a:r>
                  <a:rPr lang="es-MX" sz="2400" dirty="0"/>
                  <a:t> Cada trabajo se ejecuta durante la misma cantidad de tiempo.</a:t>
                </a:r>
                <a:endParaRPr lang="es-AR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sz="2400" b="1" dirty="0"/>
                  <a:t>Llegada simultánea:</a:t>
                </a:r>
                <a:r>
                  <a:rPr lang="es-MX" sz="2400" dirty="0"/>
                  <a:t> Todos los trabajos llegan al sistema exactamente al mismo tiempo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</m:sub>
                    </m:sSub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MX" sz="2400" dirty="0"/>
                  <a:t>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sz="2400" b="1" dirty="0"/>
                  <a:t>Ejecución completa:</a:t>
                </a:r>
                <a:r>
                  <a:rPr lang="es-MX" sz="2400" dirty="0"/>
                  <a:t> Una vez que un trabajo comienza, no se interrumpe y corre hasta terminar.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sz="2400" b="1" dirty="0"/>
                  <a:t>Uso exclusivo de CPU:</a:t>
                </a:r>
                <a:r>
                  <a:rPr lang="es-MX" sz="2400" dirty="0"/>
                  <a:t> Los trabajos no realizan operaciones de Entrada/Salida (I/O); solo consumen ciclos del procesador.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sz="2400" b="1" dirty="0"/>
                  <a:t>Omnisciencia:</a:t>
                </a:r>
                <a:r>
                  <a:rPr lang="es-MX" sz="2400" dirty="0"/>
                  <a:t> El planificador conoce de antemano cuánto tiempo exacto va a tardar cada trabajo en completarse. </a:t>
                </a:r>
                <a:br>
                  <a:rPr lang="es-MX" sz="2400" dirty="0"/>
                </a:br>
                <a:endParaRPr lang="es-AR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8CB18CE-B91B-44E6-BE5D-BC7F6ABFB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0179" y="591344"/>
                <a:ext cx="7458664" cy="5585619"/>
              </a:xfrm>
              <a:blipFill>
                <a:blip r:embed="rId2"/>
                <a:stretch>
                  <a:fillRect l="-1307" r="-1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6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90421A-B435-4066-BDAD-D4053D96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AR" sz="3100" dirty="0">
                <a:solidFill>
                  <a:srgbClr val="FFFFFF"/>
                </a:solidFill>
              </a:rPr>
              <a:t>Métricas de Planificación </a:t>
            </a:r>
            <a:br>
              <a:rPr lang="es-AR" sz="3100" dirty="0">
                <a:solidFill>
                  <a:srgbClr val="FFFFFF"/>
                </a:solidFill>
              </a:rPr>
            </a:br>
            <a:r>
              <a:rPr lang="es-AR" sz="3100" dirty="0">
                <a:solidFill>
                  <a:srgbClr val="FFFFFF"/>
                </a:solidFill>
              </a:rPr>
              <a:t>(indicadores </a:t>
            </a:r>
            <a:r>
              <a:rPr lang="es-MX" sz="3100" dirty="0">
                <a:solidFill>
                  <a:srgbClr val="FFFFFF"/>
                </a:solidFill>
              </a:rPr>
              <a:t>para evaluar rendimiento de un planificador de CPU.</a:t>
            </a:r>
            <a:r>
              <a:rPr lang="es-AR" sz="31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569C0C-5738-405A-9016-46C500E22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63519" y="654741"/>
                <a:ext cx="7370316" cy="5548517"/>
              </a:xfrm>
            </p:spPr>
            <p:txBody>
              <a:bodyPr anchor="ctr"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AR" b="1" dirty="0"/>
                  <a:t>Tiempo de Retorno </a:t>
                </a:r>
                <a:r>
                  <a:rPr lang="es-AR" dirty="0"/>
                  <a:t>(</a:t>
                </a:r>
                <a:r>
                  <a:rPr lang="es-AR" i="1" dirty="0" err="1"/>
                  <a:t>Turnaround</a:t>
                </a:r>
                <a:r>
                  <a:rPr lang="es-AR" i="1" dirty="0"/>
                  <a:t> Time</a:t>
                </a:r>
                <a:r>
                  <a:rPr lang="es-AR" dirty="0"/>
                  <a:t>)</a:t>
                </a:r>
              </a:p>
              <a:p>
                <a:pPr marL="0" indent="0">
                  <a:buNone/>
                </a:pPr>
                <a:br>
                  <a:rPr lang="es-MX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𝑟𝑒𝑡𝑜𝑟𝑛𝑜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𝑓𝑖𝑛𝑎𝑙𝑖𝑧𝑎𝑐𝑖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𝑙𝑙𝑒𝑔𝑎𝑑𝑎</m:t>
                          </m:r>
                        </m:sub>
                      </m:sSub>
                    </m:oMath>
                  </m:oMathPara>
                </a14:m>
                <a:br>
                  <a:rPr lang="es-AR" b="0" dirty="0"/>
                </a:br>
                <a:br>
                  <a:rPr lang="es-AR" b="0" dirty="0"/>
                </a:br>
                <a:r>
                  <a:rPr lang="es-MX" b="1" dirty="0"/>
                  <a:t>Objetivo:</a:t>
                </a:r>
                <a:r>
                  <a:rPr lang="es-MX" dirty="0"/>
                  <a:t> Minimizar este tiempo para que las tareas se completen lo más rápido posible.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s-MX" b="1" dirty="0"/>
                  <a:t>Tiempo de Respuesta </a:t>
                </a:r>
                <a:r>
                  <a:rPr lang="es-MX" dirty="0"/>
                  <a:t>(</a:t>
                </a:r>
                <a:r>
                  <a:rPr lang="es-MX" i="1" dirty="0"/>
                  <a:t>Response Time</a:t>
                </a:r>
                <a:r>
                  <a:rPr lang="es-MX" dirty="0"/>
                  <a:t>)</a:t>
                </a:r>
              </a:p>
              <a:p>
                <a:pPr marL="0" indent="0">
                  <a:buNone/>
                </a:pPr>
                <a:br>
                  <a:rPr lang="es-MX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𝑟𝑒𝑠𝑝𝑢𝑒𝑠𝑡𝑎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𝑝𝑟𝑖𝑚𝑒𝑟𝑎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𝑒𝑗𝑒𝑐𝑢𝑐𝑖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𝑙𝑙𝑒𝑔𝑎𝑑𝑎</m:t>
                          </m:r>
                        </m:sub>
                      </m:sSub>
                    </m:oMath>
                  </m:oMathPara>
                </a14:m>
                <a:endParaRPr lang="es-AR" b="0" dirty="0"/>
              </a:p>
              <a:p>
                <a:pPr marL="0" indent="0">
                  <a:buNone/>
                </a:pPr>
                <a:br>
                  <a:rPr lang="es-AR" b="0" dirty="0"/>
                </a:br>
                <a:r>
                  <a:rPr lang="es-AR" b="1" dirty="0"/>
                  <a:t>Objetivo</a:t>
                </a:r>
                <a:r>
                  <a:rPr lang="es-AR" dirty="0"/>
                  <a:t>: </a:t>
                </a:r>
                <a:r>
                  <a:rPr lang="es-MX" dirty="0"/>
                  <a:t>Mide cuánto tarda el sistema en empezar a atender a un proceso desde el momento en que este llega a la fila, mientras menor sea, mejor.</a:t>
                </a:r>
                <a:endParaRPr lang="es-AR" b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569C0C-5738-405A-9016-46C500E22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3519" y="654741"/>
                <a:ext cx="7370316" cy="5548517"/>
              </a:xfrm>
              <a:blipFill>
                <a:blip r:embed="rId2"/>
                <a:stretch>
                  <a:fillRect l="-1737" t="-1647" b="-20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26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82A716-A578-45AF-8088-E4E20F73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AR">
                <a:solidFill>
                  <a:srgbClr val="FFFFFF"/>
                </a:solidFill>
              </a:rPr>
              <a:t>Métricas de Planificación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ABBD44-3201-4175-B396-512D45094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s-AR" b="1" dirty="0"/>
              <a:t>Equidad</a:t>
            </a:r>
            <a:r>
              <a:rPr lang="es-AR" dirty="0"/>
              <a:t> (</a:t>
            </a:r>
            <a:r>
              <a:rPr lang="es-AR" i="1" dirty="0" err="1"/>
              <a:t>Fairness</a:t>
            </a:r>
            <a:r>
              <a:rPr lang="es-AR" dirty="0"/>
              <a:t>)</a:t>
            </a:r>
            <a:br>
              <a:rPr lang="es-AR" dirty="0">
                <a:ea typeface="Calibri"/>
                <a:cs typeface="Calibri"/>
              </a:rPr>
            </a:br>
            <a:br>
              <a:rPr lang="es-AR" dirty="0"/>
            </a:br>
            <a:r>
              <a:rPr lang="es-MX" b="1" dirty="0"/>
              <a:t>Objetivo: </a:t>
            </a:r>
            <a:r>
              <a:rPr lang="es-MX" dirty="0"/>
              <a:t>Mide qué tan balanceado es el reparto de la CPU entre todos los procesos, evitando que deje a algunos procesos esperando mucho tiempo mientras atiende a los más cortos. </a:t>
            </a:r>
            <a:endParaRPr lang="es-MX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s-AR" b="1" dirty="0"/>
              <a:t>Rendimiento </a:t>
            </a:r>
            <a:r>
              <a:rPr lang="es-AR" dirty="0"/>
              <a:t>(</a:t>
            </a:r>
            <a:r>
              <a:rPr lang="es-AR" i="1" dirty="0" err="1"/>
              <a:t>Throughput</a:t>
            </a:r>
            <a:r>
              <a:rPr lang="es-AR" dirty="0"/>
              <a:t>)</a:t>
            </a:r>
            <a:br>
              <a:rPr lang="es-AR" dirty="0">
                <a:ea typeface="Calibri"/>
                <a:cs typeface="Calibri"/>
              </a:rPr>
            </a:br>
            <a:br>
              <a:rPr lang="es-MX" dirty="0"/>
            </a:br>
            <a:r>
              <a:rPr lang="es-MX" b="1" dirty="0"/>
              <a:t>Objetivo: </a:t>
            </a:r>
            <a:r>
              <a:rPr lang="es-MX" dirty="0"/>
              <a:t>Es la capacidad de completar la mayor cantidad de tareas en el menor tiempo posible. </a:t>
            </a:r>
            <a:endParaRPr lang="es-AR" dirty="0"/>
          </a:p>
          <a:p>
            <a:pPr marL="514350" indent="-514350">
              <a:buFont typeface="+mj-lt"/>
              <a:buAutoNum type="arabicPeriod" startAt="3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0446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6964E2-0DBA-48C5-83A4-F0D37875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AR" sz="5400" dirty="0"/>
              <a:t>Tipos de algoritmo de planificación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0BDEBB-11E7-482B-BD70-16157A807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/>
              <a:t>FIFO (First In, First Out)</a:t>
            </a:r>
            <a:endParaRPr lang="en-US" sz="2000" b="1" dirty="0">
              <a:ea typeface="Calibri"/>
              <a:cs typeface="Calibri"/>
            </a:endParaRPr>
          </a:p>
          <a:p>
            <a:pPr lvl="1"/>
            <a:r>
              <a:rPr lang="es-MX" sz="1600" b="1" dirty="0"/>
              <a:t>Lógica</a:t>
            </a:r>
            <a:r>
              <a:rPr lang="es-MX" sz="1600" dirty="0"/>
              <a:t>: Los procesos se ejecutan estrictamente en el orden en que llegan a la fila de "listos".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s-MX" sz="1600" b="1" dirty="0"/>
              <a:t>Simplicidad</a:t>
            </a:r>
            <a:r>
              <a:rPr lang="es-MX" sz="1600" dirty="0"/>
              <a:t>: Es muy fácil de entender y de implementar mediante una cola de datos.</a:t>
            </a:r>
            <a:endParaRPr lang="es-MX" sz="1600" dirty="0">
              <a:ea typeface="Calibri"/>
              <a:cs typeface="Calibri"/>
            </a:endParaRPr>
          </a:p>
          <a:p>
            <a:pPr lvl="1"/>
            <a:r>
              <a:rPr lang="es-MX" sz="1600" b="1" dirty="0"/>
              <a:t>Categoría</a:t>
            </a:r>
            <a:r>
              <a:rPr lang="es-MX" sz="1600" dirty="0"/>
              <a:t>: Se suele asociar con sistemas de procesamiento por lotes (</a:t>
            </a:r>
            <a:r>
              <a:rPr lang="es-MX" sz="1600" i="1" dirty="0" err="1"/>
              <a:t>Batch</a:t>
            </a:r>
            <a:r>
              <a:rPr lang="es-MX" sz="1600" dirty="0"/>
              <a:t>), donde no hay interacción constante con un usuario.</a:t>
            </a:r>
            <a:endParaRPr lang="es-MX" sz="1600" dirty="0">
              <a:ea typeface="Calibri"/>
              <a:cs typeface="Calibri"/>
            </a:endParaRPr>
          </a:p>
          <a:p>
            <a:pPr lvl="1"/>
            <a:endParaRPr lang="es-MX" sz="1600" dirty="0">
              <a:ea typeface="Calibri"/>
              <a:cs typeface="Calibri"/>
            </a:endParaRPr>
          </a:p>
          <a:p>
            <a:pPr lvl="1"/>
            <a:endParaRPr lang="es-MX" sz="16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s-MX" sz="1600" dirty="0">
              <a:ea typeface="Calibri"/>
              <a:cs typeface="Calibri"/>
            </a:endParaRPr>
          </a:p>
          <a:p>
            <a:pPr lvl="1"/>
            <a:r>
              <a:rPr lang="es-MX" sz="1600" b="1" dirty="0"/>
              <a:t>El Problema Principal: </a:t>
            </a:r>
            <a:r>
              <a:rPr lang="es-MX" sz="1600" dirty="0"/>
              <a:t>El "</a:t>
            </a:r>
            <a:r>
              <a:rPr lang="es-MX" sz="1600" b="1" dirty="0"/>
              <a:t>Efecto Convoy</a:t>
            </a:r>
            <a:r>
              <a:rPr lang="es-MX" sz="1600" dirty="0"/>
              <a:t>“: cuando un proceso muy largo y pesado ocupa la CPU, obliga a una serie de procesos cortos y rápidos a esperar en fila detrás de él.</a:t>
            </a:r>
            <a:endParaRPr lang="es-MX" sz="1600" dirty="0">
              <a:ea typeface="Calibri"/>
              <a:cs typeface="Calibri"/>
            </a:endParaRPr>
          </a:p>
          <a:p>
            <a:pPr lvl="1"/>
            <a:endParaRPr lang="es-MX" sz="15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1B8B6F9-32CC-48C0-BB99-3924E9A59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36" y="4859260"/>
            <a:ext cx="4286358" cy="17263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92B345-DB9F-4CB6-A0A1-88ECA730B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852" y="3052627"/>
            <a:ext cx="4017699" cy="161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3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A0812C-8EB7-45E4-B8BF-ED6D0D69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AR" sz="4600"/>
              <a:t>Tipos de algoritmo de planificación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33FE8-A032-40C4-B2C9-8D94EB2F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AR" sz="2000" b="1" dirty="0" err="1"/>
              <a:t>Shortest</a:t>
            </a:r>
            <a:r>
              <a:rPr lang="es-AR" sz="2000" b="1" dirty="0"/>
              <a:t> Job </a:t>
            </a:r>
            <a:r>
              <a:rPr lang="es-AR" sz="2000" b="1" dirty="0" err="1"/>
              <a:t>First</a:t>
            </a:r>
            <a:r>
              <a:rPr lang="es-AR" sz="2000" b="1" dirty="0"/>
              <a:t> (SJF)</a:t>
            </a:r>
            <a:endParaRPr lang="en-US" sz="3200" dirty="0"/>
          </a:p>
          <a:p>
            <a:pPr lvl="1"/>
            <a:r>
              <a:rPr lang="es-MX" sz="1500" b="1" dirty="0"/>
              <a:t>Lógica de prioridad</a:t>
            </a:r>
            <a:r>
              <a:rPr lang="es-MX" sz="1500" dirty="0"/>
              <a:t>: El planificador ordena los procesos por su tiempo de ejecución (</a:t>
            </a:r>
            <a:r>
              <a:rPr lang="es-MX" sz="1500" i="1" dirty="0" err="1"/>
              <a:t>runtime</a:t>
            </a:r>
            <a:r>
              <a:rPr lang="es-MX" sz="1500" dirty="0"/>
              <a:t>) de menor a mayor. </a:t>
            </a:r>
            <a:endParaRPr lang="es-MX" sz="1500" dirty="0">
              <a:ea typeface="Calibri"/>
              <a:cs typeface="Calibri"/>
            </a:endParaRPr>
          </a:p>
          <a:p>
            <a:pPr lvl="1"/>
            <a:r>
              <a:rPr lang="es-MX" sz="1500" b="1" dirty="0"/>
              <a:t>Optimización</a:t>
            </a:r>
            <a:r>
              <a:rPr lang="es-MX" sz="1500" dirty="0"/>
              <a:t>: Es un algoritmo </a:t>
            </a:r>
            <a:r>
              <a:rPr lang="es-MX" sz="1500" b="1" dirty="0"/>
              <a:t>óptimo</a:t>
            </a:r>
            <a:r>
              <a:rPr lang="es-MX" sz="1500" dirty="0"/>
              <a:t> para minimizar el tiempo de retorno promedio, siempre que todos los trabajos lleguen al mismo tiempo.</a:t>
            </a:r>
          </a:p>
          <a:p>
            <a:pPr lvl="1"/>
            <a:r>
              <a:rPr lang="es-MX" sz="1500" b="1" dirty="0"/>
              <a:t>Uso común</a:t>
            </a:r>
            <a:r>
              <a:rPr lang="es-MX" sz="1500" dirty="0"/>
              <a:t>: Se utiliza frecuentemente en tareas repetitivas donde se puede predecir con precisión el tiempo que tardará el proceso. </a:t>
            </a:r>
          </a:p>
          <a:p>
            <a:r>
              <a:rPr lang="es-MX" sz="1500" b="1" dirty="0"/>
              <a:t>Ventajas: La solución al Efecto </a:t>
            </a:r>
            <a:r>
              <a:rPr lang="es-MX" sz="1500" b="1" dirty="0" err="1"/>
              <a:t>Convoy</a:t>
            </a:r>
            <a:r>
              <a:rPr lang="es-MX" sz="1500" b="1" dirty="0"/>
              <a:t> </a:t>
            </a:r>
            <a:r>
              <a:rPr lang="es-MX" sz="1500" dirty="0"/>
              <a:t>pero solo funciona perfectamente </a:t>
            </a:r>
            <a:r>
              <a:rPr lang="es-MX" sz="1500" b="1" i="1" dirty="0"/>
              <a:t>si todos están listos al principio</a:t>
            </a:r>
            <a:r>
              <a:rPr lang="es-MX" sz="1500" dirty="0"/>
              <a:t>, siendo un problema las llegadas tardías.</a:t>
            </a:r>
            <a:endParaRPr lang="es-MX" sz="1500" b="1" dirty="0"/>
          </a:p>
          <a:p>
            <a:endParaRPr lang="es-AR" sz="1500" dirty="0"/>
          </a:p>
          <a:p>
            <a:pPr lvl="1"/>
            <a:endParaRPr lang="es-AR" sz="15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A63D23-EEC3-4D3F-99C9-D2AFD043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656839"/>
            <a:ext cx="5458968" cy="207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6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DEF3A1-FCC1-4AE5-834D-DE6D8558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AR" sz="4600"/>
              <a:t>Tipos de algoritmo de planificación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5299B6-EA25-4187-B327-F9A19C41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AR" sz="2000" b="1" dirty="0" err="1"/>
              <a:t>Shortest</a:t>
            </a:r>
            <a:r>
              <a:rPr lang="es-AR" sz="2000" b="1" dirty="0"/>
              <a:t> Time-</a:t>
            </a:r>
            <a:r>
              <a:rPr lang="es-AR" sz="2000" b="1" dirty="0" err="1"/>
              <a:t>to</a:t>
            </a:r>
            <a:r>
              <a:rPr lang="es-AR" sz="2000" b="1" dirty="0"/>
              <a:t>-</a:t>
            </a:r>
            <a:r>
              <a:rPr lang="es-AR" sz="2000" b="1" dirty="0" err="1"/>
              <a:t>Completion</a:t>
            </a:r>
            <a:r>
              <a:rPr lang="es-AR" sz="2000" b="1" dirty="0"/>
              <a:t> </a:t>
            </a:r>
            <a:r>
              <a:rPr lang="es-AR" sz="2000" b="1" dirty="0" err="1"/>
              <a:t>First</a:t>
            </a:r>
            <a:r>
              <a:rPr lang="es-AR" sz="2000" b="1" dirty="0"/>
              <a:t> (STCF)</a:t>
            </a:r>
            <a:endParaRPr lang="en-US" sz="3200" dirty="0"/>
          </a:p>
          <a:p>
            <a:pPr lvl="1"/>
            <a:r>
              <a:rPr lang="es-MX" sz="1400" b="1" dirty="0"/>
              <a:t>Definición</a:t>
            </a:r>
            <a:r>
              <a:rPr lang="es-MX" sz="1400" dirty="0"/>
              <a:t>: A diferencia de los anteriores, este planificador </a:t>
            </a:r>
            <a:r>
              <a:rPr lang="es-MX" sz="1400" b="1" dirty="0"/>
              <a:t>sí puede interrumpir</a:t>
            </a:r>
            <a:r>
              <a:rPr lang="es-MX" sz="1400" dirty="0"/>
              <a:t> un proceso que se está ejecutando.</a:t>
            </a:r>
            <a:endParaRPr lang="es-AR" sz="1400" dirty="0"/>
          </a:p>
          <a:p>
            <a:pPr lvl="1"/>
            <a:r>
              <a:rPr lang="es-MX" sz="1400" b="1" dirty="0"/>
              <a:t>Funcionamiento</a:t>
            </a:r>
            <a:r>
              <a:rPr lang="es-MX" sz="1400" dirty="0"/>
              <a:t>: Cada vez que un nuevo trabajo entra al sistema, el planificador evalúa a todos: el que se está ejecutando actualmente y los nuevos. </a:t>
            </a:r>
            <a:endParaRPr lang="es-AR" sz="1400" dirty="0"/>
          </a:p>
          <a:p>
            <a:pPr lvl="1"/>
            <a:r>
              <a:rPr lang="es-MX" sz="1400" b="1" dirty="0"/>
              <a:t>Decisión</a:t>
            </a:r>
            <a:r>
              <a:rPr lang="es-MX" sz="1400" dirty="0"/>
              <a:t>: Elige siempre el que tenga el </a:t>
            </a:r>
            <a:r>
              <a:rPr lang="es-MX" sz="1400" b="1" dirty="0"/>
              <a:t>menor tiempo restante</a:t>
            </a:r>
            <a:r>
              <a:rPr lang="es-MX" sz="1400" dirty="0"/>
              <a:t> para terminar. Si el nuevo proceso es más corto que lo que le falta al actual, detiene el actual y arranca el nuevo. </a:t>
            </a:r>
            <a:endParaRPr lang="es-AR" sz="1400" dirty="0"/>
          </a:p>
          <a:p>
            <a:r>
              <a:rPr lang="es-MX" sz="1400" b="1" dirty="0"/>
              <a:t>El "Efecto Secundario“: Postergación de tareas largas</a:t>
            </a:r>
            <a:r>
              <a:rPr lang="es-MX" sz="1400" dirty="0"/>
              <a:t>: Como siempre prioriza lo más rápido, las tareas muy pesadas o largas tienden a acumularse y quedar para el final de la cola, esperando a que no haya nada más corto que hacer.</a:t>
            </a:r>
          </a:p>
          <a:p>
            <a:pPr lvl="1"/>
            <a:endParaRPr lang="es-AR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0EA32F-004C-4402-8C9D-FF8EE025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191" y="2406108"/>
            <a:ext cx="6423694" cy="270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1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BF39A3-914C-4063-87C5-46FDEFE6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AR" sz="5400">
                <a:ea typeface="Calibri Light"/>
                <a:cs typeface="Calibri Light"/>
              </a:rPr>
              <a:t>Tipos de algoritmo de planificación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AAEC0E-C934-4FD6-932D-80691D954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017813" cy="41191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s-AR" sz="2400" b="1" dirty="0">
                <a:latin typeface="Calibri Light"/>
                <a:ea typeface="Calibri Light"/>
                <a:cs typeface="Calibri Light"/>
              </a:rPr>
              <a:t>Round Robin</a:t>
            </a:r>
            <a:endParaRPr lang="es-MX" sz="2400" b="1" dirty="0">
              <a:ea typeface="Calibri"/>
              <a:cs typeface="Calibri"/>
            </a:endParaRPr>
          </a:p>
          <a:p>
            <a:pPr lvl="1"/>
            <a:r>
              <a:rPr lang="es-MX" sz="1700" b="1" dirty="0"/>
              <a:t>Lógica</a:t>
            </a:r>
            <a:r>
              <a:rPr lang="es-MX" sz="1700" dirty="0"/>
              <a:t>: Ejecuta cada tarea durante un periodo muy corto llamado porción de tiempo, cuanto de planificación o time </a:t>
            </a:r>
            <a:r>
              <a:rPr lang="es-MX" sz="1700" dirty="0" err="1"/>
              <a:t>slice</a:t>
            </a:r>
            <a:r>
              <a:rPr lang="es-MX" sz="1700" dirty="0"/>
              <a:t>. </a:t>
            </a:r>
            <a:endParaRPr lang="es-MX" sz="1700" dirty="0">
              <a:ea typeface="Calibri"/>
              <a:cs typeface="Calibri"/>
            </a:endParaRPr>
          </a:p>
          <a:p>
            <a:pPr lvl="1"/>
            <a:r>
              <a:rPr lang="es-MX" sz="1700" b="1" dirty="0"/>
              <a:t>Funcionamiento</a:t>
            </a:r>
            <a:r>
              <a:rPr lang="es-MX" sz="1700" dirty="0"/>
              <a:t>: El planificador toma el primer proceso de la cola, lo deja usar la CPU por un "cuanto" de tiempo y, si el proceso no ha terminado, lo expulsa y lo manda al final de la fila para atender al siguiente. </a:t>
            </a:r>
            <a:endParaRPr lang="es-MX" sz="1700" dirty="0">
              <a:ea typeface="Calibri"/>
              <a:cs typeface="Calibri"/>
            </a:endParaRPr>
          </a:p>
          <a:p>
            <a:pPr lvl="1"/>
            <a:r>
              <a:rPr lang="es-MX" sz="1700" b="1" dirty="0"/>
              <a:t>Ventajas</a:t>
            </a:r>
            <a:r>
              <a:rPr lang="es-MX" sz="1700" dirty="0"/>
              <a:t>:</a:t>
            </a:r>
            <a:endParaRPr lang="es-MX" sz="1700" dirty="0">
              <a:ea typeface="Calibri" panose="020F0502020204030204"/>
              <a:cs typeface="Calibri" panose="020F0502020204030204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s-MX" sz="1700" dirty="0"/>
              <a:t>Si llegan varios procesos a la vez, todos empezarán a ejecutarse casi instantáneamente en pequeñas ráfagas. </a:t>
            </a:r>
            <a:endParaRPr lang="es-MX" sz="1700" dirty="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s-MX" sz="1700" b="1" dirty="0"/>
              <a:t>Sensación de fluidez</a:t>
            </a:r>
            <a:r>
              <a:rPr lang="es-MX" sz="1700" dirty="0"/>
              <a:t>: Evita que un proceso pesado bloquee el sistema, permitiendo que las tareas ligeras (como mover el mouse o escribir) se atiendan rápido. </a:t>
            </a:r>
            <a:br>
              <a:rPr lang="es-MX" sz="1700" dirty="0"/>
            </a:br>
            <a:endParaRPr lang="es-AR" sz="17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17427-6A15-E47F-A3B9-2857CC2B9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203" y="2779338"/>
            <a:ext cx="51244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7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CFAF0C-FA6C-1925-022D-D12BBBAF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AR" sz="5400" b="1">
                <a:ea typeface="Calibri Light"/>
                <a:cs typeface="Calibri Light"/>
              </a:rPr>
              <a:t>Round Robin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3F3B67-737F-4712-8359-6DA43FA3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s-AR" sz="2200" dirty="0"/>
              <a:t>Desventajas:</a:t>
            </a:r>
          </a:p>
          <a:p>
            <a:pPr lvl="1"/>
            <a:r>
              <a:rPr lang="es-AR" sz="2200" b="1" dirty="0"/>
              <a:t>Mal Tiempo de Retorno</a:t>
            </a:r>
            <a:r>
              <a:rPr lang="es-AR" sz="2200" dirty="0"/>
              <a:t>: </a:t>
            </a:r>
            <a:r>
              <a:rPr lang="es-MX" sz="2200" dirty="0"/>
              <a:t>"estira" la duración de todos los procesos al detenerlos una y otra vez.</a:t>
            </a:r>
          </a:p>
          <a:p>
            <a:pPr lvl="1"/>
            <a:r>
              <a:rPr lang="es-MX" sz="2200" dirty="0"/>
              <a:t>Si el cuanto es </a:t>
            </a:r>
            <a:r>
              <a:rPr lang="es-MX" sz="2200" b="1" dirty="0"/>
              <a:t>muy corto</a:t>
            </a:r>
            <a:r>
              <a:rPr lang="es-MX" sz="2200" dirty="0"/>
              <a:t>: el sistema desperdicia mucha energía en el </a:t>
            </a:r>
            <a:r>
              <a:rPr lang="es-MX" sz="2200" b="1" dirty="0"/>
              <a:t>cambio de contexto</a:t>
            </a:r>
            <a:r>
              <a:rPr lang="es-MX" sz="2200" dirty="0"/>
              <a:t> (guardar y cargar datos de cada programa).</a:t>
            </a:r>
          </a:p>
          <a:p>
            <a:pPr lvl="2"/>
            <a:r>
              <a:rPr lang="es-MX" b="1" dirty="0"/>
              <a:t>Costo de Cambio de Contexto</a:t>
            </a:r>
            <a:r>
              <a:rPr lang="es-MX" dirty="0"/>
              <a:t>: Cambiar de un proceso a otro no es gratis; la CPU debe limpiar cachés, tablas de memoria (TLB) y otros registros, lo que genera un costo de rendimiento.</a:t>
            </a:r>
            <a:endParaRPr lang="es-MX" sz="1800" dirty="0"/>
          </a:p>
          <a:p>
            <a:pPr lvl="1"/>
            <a:r>
              <a:rPr lang="es-MX" sz="2200" dirty="0"/>
              <a:t>Si el cuanto es </a:t>
            </a:r>
            <a:r>
              <a:rPr lang="es-MX" sz="2200" b="1" dirty="0"/>
              <a:t>muy largo</a:t>
            </a:r>
            <a:r>
              <a:rPr lang="es-MX" sz="2200" dirty="0"/>
              <a:t>: El sistema se vuelve poco responsivo y empieza a comportarse como un FIFO. </a:t>
            </a:r>
          </a:p>
          <a:p>
            <a:pPr marL="914400" lvl="2" indent="0">
              <a:buNone/>
            </a:pPr>
            <a:br>
              <a:rPr lang="es-MX" sz="1800" dirty="0"/>
            </a:b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21281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A4E877-0189-43AE-9786-BCDC8DD1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AR" sz="5400" dirty="0"/>
              <a:t>Incorporado E/S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51BD7-2585-4017-B725-4A92F568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s-MX" sz="1900" dirty="0"/>
              <a:t>Cuando un programa pide datos al disco, no puede seguir usando la CPU hasta que los datos lleguen; en ese momento, el proceso se encuentra en estado </a:t>
            </a:r>
            <a:r>
              <a:rPr lang="es-MX" sz="1900" b="1" dirty="0"/>
              <a:t>bloqueado</a:t>
            </a:r>
            <a:r>
              <a:rPr lang="es-MX" sz="1900" dirty="0"/>
              <a:t>.</a:t>
            </a:r>
          </a:p>
          <a:p>
            <a:r>
              <a:rPr lang="es-MX" sz="1900" dirty="0"/>
              <a:t>Lógica: Mientras el "Proceso A" está bloqueado esperando al disco, el planificador le entrega la CPU al "Proceso B".</a:t>
            </a:r>
          </a:p>
          <a:p>
            <a:r>
              <a:rPr lang="es-MX" sz="1900" dirty="0"/>
              <a:t>permite que el sistema operativo mantenga la CPU siempre ocupada, lo que mejora la </a:t>
            </a:r>
            <a:r>
              <a:rPr lang="es-MX" sz="1900" b="1" dirty="0"/>
              <a:t>productividad </a:t>
            </a:r>
            <a:r>
              <a:rPr lang="es-MX" sz="1900" dirty="0"/>
              <a:t>general del sistema.</a:t>
            </a:r>
          </a:p>
          <a:p>
            <a:endParaRPr lang="es-AR" sz="1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8A9BB7-7F7B-4A25-A0F2-5094D743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883756"/>
            <a:ext cx="5458968" cy="509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6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6CEAE5-CFFE-4327-BAE6-D30A625F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latin typeface="+mj-lt"/>
                <a:ea typeface="+mj-ea"/>
                <a:cs typeface="+mj-cs"/>
              </a:rPr>
              <a:t>¡</a:t>
            </a:r>
            <a:r>
              <a:rPr lang="en-US" sz="7200" kern="1200" dirty="0" err="1">
                <a:latin typeface="+mj-lt"/>
                <a:ea typeface="+mj-ea"/>
                <a:cs typeface="+mj-cs"/>
              </a:rPr>
              <a:t>Muchas</a:t>
            </a:r>
            <a:r>
              <a:rPr lang="en-US" sz="7200" kern="1200" dirty="0">
                <a:latin typeface="+mj-lt"/>
                <a:ea typeface="+mj-ea"/>
                <a:cs typeface="+mj-cs"/>
              </a:rPr>
              <a:t> gracias!</a:t>
            </a:r>
            <a:endParaRPr lang="en-US" sz="7200" kern="1200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945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1092</Words>
  <Application>Microsoft Office PowerPoint</Application>
  <PresentationFormat>Panorámica</PresentationFormat>
  <Paragraphs>65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Tema de Office</vt:lpstr>
      <vt:lpstr>SCHEDULER (PLANIFICADOR)</vt:lpstr>
      <vt:lpstr>¿En qué se basa?</vt:lpstr>
      <vt:lpstr>¿Cuáles son sus objetivos principales?</vt:lpstr>
      <vt:lpstr>Suposiciones sobre la Carga de Trabajo </vt:lpstr>
      <vt:lpstr>Métricas de Planificación  (indicadores para evaluar rendimiento de un planificador de CPU.)</vt:lpstr>
      <vt:lpstr>Métricas de Planificación</vt:lpstr>
      <vt:lpstr>Tipos de algoritmo de planificación</vt:lpstr>
      <vt:lpstr>Tipos de algoritmo de planificación</vt:lpstr>
      <vt:lpstr>Tipos de algoritmo de planificación</vt:lpstr>
      <vt:lpstr>Tipos de algoritmo de planificación</vt:lpstr>
      <vt:lpstr>Round Robin</vt:lpstr>
      <vt:lpstr>Incorporado E/S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SCHEDULER (PLANIFICADOR)</dc:title>
  <dc:creator>Agustin Lucero</dc:creator>
  <cp:lastModifiedBy>Agustin Lucero</cp:lastModifiedBy>
  <cp:revision>112</cp:revision>
  <dcterms:created xsi:type="dcterms:W3CDTF">2026-05-01T02:26:21Z</dcterms:created>
  <dcterms:modified xsi:type="dcterms:W3CDTF">2026-05-04T04:27:15Z</dcterms:modified>
</cp:coreProperties>
</file>