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1"/>
  </p:sldMasterIdLst>
  <p:notesMasterIdLst>
    <p:notesMasterId r:id="rId34"/>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3"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7" d="100"/>
          <a:sy n="67" d="100"/>
        </p:scale>
        <p:origin x="85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8DFE82-47FD-45E8-994A-87D366CB6EF4}" type="datetimeFigureOut">
              <a:rPr lang="es-AR" smtClean="0"/>
              <a:t>1/4/2025</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4D8323-90F9-4C81-8990-7A1FE7D32678}" type="slidenum">
              <a:rPr lang="es-AR" smtClean="0"/>
              <a:t>‹Nº›</a:t>
            </a:fld>
            <a:endParaRPr lang="es-AR"/>
          </a:p>
        </p:txBody>
      </p:sp>
    </p:spTree>
    <p:extLst>
      <p:ext uri="{BB962C8B-B14F-4D97-AF65-F5344CB8AC3E}">
        <p14:creationId xmlns:p14="http://schemas.microsoft.com/office/powerpoint/2010/main" val="2180983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dirty="0">
                <a:solidFill>
                  <a:srgbClr val="000000"/>
                </a:solidFill>
                <a:effectLst/>
                <a:latin typeface="Arial" panose="020B0604020202020204" pitchFamily="34" charset="0"/>
              </a:rPr>
              <a:t>- O_CREATE y O_EXCL y ya existe la cola entonces error.</a:t>
            </a:r>
            <a:r>
              <a:rPr lang="es-AR" sz="1200" b="0" i="0" u="none" strike="noStrike" dirty="0">
                <a:solidFill>
                  <a:srgbClr val="000000"/>
                </a:solidFill>
                <a:effectLst/>
                <a:latin typeface="Arial" panose="020B0604020202020204" pitchFamily="34" charset="0"/>
              </a:rPr>
              <a:t> - </a:t>
            </a:r>
            <a:r>
              <a:rPr lang="es-ES" sz="1200" b="0" i="0" u="none" strike="noStrike" dirty="0">
                <a:solidFill>
                  <a:srgbClr val="000000"/>
                </a:solidFill>
                <a:effectLst/>
                <a:latin typeface="Arial" panose="020B0604020202020204" pitchFamily="34" charset="0"/>
              </a:rPr>
              <a:t>Depende del nombre si es que estamos creando o abriendo. –Estamos abriendo para solo leer y/o escribir?</a:t>
            </a:r>
          </a:p>
        </p:txBody>
      </p:sp>
      <p:sp>
        <p:nvSpPr>
          <p:cNvPr id="4" name="Marcador de número de diapositiva 3"/>
          <p:cNvSpPr>
            <a:spLocks noGrp="1"/>
          </p:cNvSpPr>
          <p:nvPr>
            <p:ph type="sldNum" sz="quarter" idx="5"/>
          </p:nvPr>
        </p:nvSpPr>
        <p:spPr/>
        <p:txBody>
          <a:bodyPr/>
          <a:lstStyle/>
          <a:p>
            <a:fld id="{394D8323-90F9-4C81-8990-7A1FE7D32678}" type="slidenum">
              <a:rPr lang="es-AR" smtClean="0"/>
              <a:t>5</a:t>
            </a:fld>
            <a:endParaRPr lang="es-AR"/>
          </a:p>
        </p:txBody>
      </p:sp>
    </p:spTree>
    <p:extLst>
      <p:ext uri="{BB962C8B-B14F-4D97-AF65-F5344CB8AC3E}">
        <p14:creationId xmlns:p14="http://schemas.microsoft.com/office/powerpoint/2010/main" val="3292564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Con O_NONBLOCK activado entonces si un proceso se pone a esperar a este le salta de forma directa un </a:t>
            </a:r>
            <a:r>
              <a:rPr lang="es-ES" dirty="0" err="1"/>
              <a:t>mesaje</a:t>
            </a:r>
            <a:r>
              <a:rPr lang="es-ES" dirty="0"/>
              <a:t> de error.</a:t>
            </a:r>
            <a:endParaRPr lang="es-AR" dirty="0"/>
          </a:p>
        </p:txBody>
      </p:sp>
      <p:sp>
        <p:nvSpPr>
          <p:cNvPr id="4" name="Marcador de número de diapositiva 3"/>
          <p:cNvSpPr>
            <a:spLocks noGrp="1"/>
          </p:cNvSpPr>
          <p:nvPr>
            <p:ph type="sldNum" sz="quarter" idx="5"/>
          </p:nvPr>
        </p:nvSpPr>
        <p:spPr/>
        <p:txBody>
          <a:bodyPr/>
          <a:lstStyle/>
          <a:p>
            <a:fld id="{394D8323-90F9-4C81-8990-7A1FE7D32678}" type="slidenum">
              <a:rPr lang="es-AR" smtClean="0"/>
              <a:t>6</a:t>
            </a:fld>
            <a:endParaRPr lang="es-AR"/>
          </a:p>
        </p:txBody>
      </p:sp>
    </p:spTree>
    <p:extLst>
      <p:ext uri="{BB962C8B-B14F-4D97-AF65-F5344CB8AC3E}">
        <p14:creationId xmlns:p14="http://schemas.microsoft.com/office/powerpoint/2010/main" val="3003901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800" b="0" i="0" u="sng" dirty="0">
                <a:solidFill>
                  <a:srgbClr val="000000"/>
                </a:solidFill>
                <a:effectLst/>
                <a:latin typeface="Arial" panose="020B0604020202020204" pitchFamily="34" charset="0"/>
              </a:rPr>
              <a:t>Para leer de una cola (</a:t>
            </a:r>
            <a:r>
              <a:rPr lang="es-ES" sz="1800" b="0" i="0" u="sng" dirty="0" err="1">
                <a:solidFill>
                  <a:srgbClr val="000000"/>
                </a:solidFill>
                <a:effectLst/>
                <a:latin typeface="Arial" panose="020B0604020202020204" pitchFamily="34" charset="0"/>
              </a:rPr>
              <a:t>mq_receive</a:t>
            </a:r>
            <a:r>
              <a:rPr lang="es-ES" sz="1800" b="0" i="0" u="sng" dirty="0">
                <a:solidFill>
                  <a:srgbClr val="000000"/>
                </a:solidFill>
                <a:effectLst/>
                <a:latin typeface="Arial" panose="020B0604020202020204" pitchFamily="34" charset="0"/>
              </a:rPr>
              <a:t>()), se debe conceder permiso de lectura a la clase de usuario correspondiente</a:t>
            </a:r>
            <a:endParaRPr lang="es-AR" dirty="0"/>
          </a:p>
        </p:txBody>
      </p:sp>
      <p:sp>
        <p:nvSpPr>
          <p:cNvPr id="4" name="Marcador de número de diapositiva 3"/>
          <p:cNvSpPr>
            <a:spLocks noGrp="1"/>
          </p:cNvSpPr>
          <p:nvPr>
            <p:ph type="sldNum" sz="quarter" idx="5"/>
          </p:nvPr>
        </p:nvSpPr>
        <p:spPr/>
        <p:txBody>
          <a:bodyPr/>
          <a:lstStyle/>
          <a:p>
            <a:fld id="{394D8323-90F9-4C81-8990-7A1FE7D32678}" type="slidenum">
              <a:rPr lang="es-AR" smtClean="0"/>
              <a:t>7</a:t>
            </a:fld>
            <a:endParaRPr lang="es-AR"/>
          </a:p>
        </p:txBody>
      </p:sp>
    </p:spTree>
    <p:extLst>
      <p:ext uri="{BB962C8B-B14F-4D97-AF65-F5344CB8AC3E}">
        <p14:creationId xmlns:p14="http://schemas.microsoft.com/office/powerpoint/2010/main" val="1741125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Juntos, estos dos valores permiten al </a:t>
            </a:r>
            <a:r>
              <a:rPr lang="es-ES" dirty="0" err="1"/>
              <a:t>kernel</a:t>
            </a:r>
            <a:r>
              <a:rPr lang="es-ES" dirty="0"/>
              <a:t> determinar la cantidad máxima de memoria que puede requerir esta cola de mensajes. </a:t>
            </a:r>
            <a:endParaRPr lang="es-AR" dirty="0"/>
          </a:p>
        </p:txBody>
      </p:sp>
      <p:sp>
        <p:nvSpPr>
          <p:cNvPr id="4" name="Marcador de número de diapositiva 3"/>
          <p:cNvSpPr>
            <a:spLocks noGrp="1"/>
          </p:cNvSpPr>
          <p:nvPr>
            <p:ph type="sldNum" sz="quarter" idx="5"/>
          </p:nvPr>
        </p:nvSpPr>
        <p:spPr/>
        <p:txBody>
          <a:bodyPr/>
          <a:lstStyle/>
          <a:p>
            <a:fld id="{394D8323-90F9-4C81-8990-7A1FE7D32678}" type="slidenum">
              <a:rPr lang="es-AR" smtClean="0"/>
              <a:t>9</a:t>
            </a:fld>
            <a:endParaRPr lang="es-AR"/>
          </a:p>
        </p:txBody>
      </p:sp>
    </p:spTree>
    <p:extLst>
      <p:ext uri="{BB962C8B-B14F-4D97-AF65-F5344CB8AC3E}">
        <p14:creationId xmlns:p14="http://schemas.microsoft.com/office/powerpoint/2010/main" val="3987638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ES" b="0" dirty="0">
              <a:effectLst/>
              <a:highlight>
                <a:srgbClr val="FF0000"/>
              </a:highlight>
            </a:endParaRPr>
          </a:p>
        </p:txBody>
      </p:sp>
      <p:sp>
        <p:nvSpPr>
          <p:cNvPr id="4" name="Marcador de número de diapositiva 3"/>
          <p:cNvSpPr>
            <a:spLocks noGrp="1"/>
          </p:cNvSpPr>
          <p:nvPr>
            <p:ph type="sldNum" sz="quarter" idx="5"/>
          </p:nvPr>
        </p:nvSpPr>
        <p:spPr/>
        <p:txBody>
          <a:bodyPr/>
          <a:lstStyle/>
          <a:p>
            <a:fld id="{394D8323-90F9-4C81-8990-7A1FE7D32678}" type="slidenum">
              <a:rPr lang="es-AR" smtClean="0"/>
              <a:t>12</a:t>
            </a:fld>
            <a:endParaRPr lang="es-AR"/>
          </a:p>
        </p:txBody>
      </p:sp>
    </p:spTree>
    <p:extLst>
      <p:ext uri="{BB962C8B-B14F-4D97-AF65-F5344CB8AC3E}">
        <p14:creationId xmlns:p14="http://schemas.microsoft.com/office/powerpoint/2010/main" val="2812889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800" b="0" i="0" u="sng" dirty="0">
                <a:solidFill>
                  <a:srgbClr val="000000"/>
                </a:solidFill>
                <a:effectLst/>
                <a:latin typeface="Arial" panose="020B0604020202020204" pitchFamily="34" charset="0"/>
              </a:rPr>
              <a:t>Es decir que el descriptor de la cola de mensajes se cierra sin importar si otro proceso está esperando por una notificación. Para que otro proceso pueda usar la cola de </a:t>
            </a:r>
            <a:r>
              <a:rPr lang="es-ES" sz="1800" b="0" i="0" u="sng" dirty="0" err="1">
                <a:solidFill>
                  <a:srgbClr val="000000"/>
                </a:solidFill>
                <a:effectLst/>
                <a:latin typeface="Arial" panose="020B0604020202020204" pitchFamily="34" charset="0"/>
              </a:rPr>
              <a:t>msg</a:t>
            </a:r>
            <a:endParaRPr lang="es-AR" dirty="0"/>
          </a:p>
        </p:txBody>
      </p:sp>
      <p:sp>
        <p:nvSpPr>
          <p:cNvPr id="4" name="Marcador de número de diapositiva 3"/>
          <p:cNvSpPr>
            <a:spLocks noGrp="1"/>
          </p:cNvSpPr>
          <p:nvPr>
            <p:ph type="sldNum" sz="quarter" idx="5"/>
          </p:nvPr>
        </p:nvSpPr>
        <p:spPr/>
        <p:txBody>
          <a:bodyPr/>
          <a:lstStyle/>
          <a:p>
            <a:fld id="{394D8323-90F9-4C81-8990-7A1FE7D32678}" type="slidenum">
              <a:rPr lang="es-AR" smtClean="0"/>
              <a:t>15</a:t>
            </a:fld>
            <a:endParaRPr lang="es-AR"/>
          </a:p>
        </p:txBody>
      </p:sp>
    </p:spTree>
    <p:extLst>
      <p:ext uri="{BB962C8B-B14F-4D97-AF65-F5344CB8AC3E}">
        <p14:creationId xmlns:p14="http://schemas.microsoft.com/office/powerpoint/2010/main" val="9135722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800" b="0" i="0" u="sng" strike="noStrike" dirty="0">
                <a:solidFill>
                  <a:srgbClr val="000000"/>
                </a:solidFill>
                <a:effectLst/>
                <a:latin typeface="Arial" panose="020B0604020202020204" pitchFamily="34" charset="0"/>
              </a:rPr>
              <a:t>Para anunciar su límite superior para las prioridades de mensajes, se puede definiendo el MQ_PRIO_MAX constante o mediante el retorno de </a:t>
            </a:r>
            <a:r>
              <a:rPr lang="es-ES" sz="1800" b="0" i="0" u="sng" strike="noStrike" dirty="0" err="1">
                <a:solidFill>
                  <a:srgbClr val="000000"/>
                </a:solidFill>
                <a:effectLst/>
                <a:latin typeface="Arial" panose="020B0604020202020204" pitchFamily="34" charset="0"/>
              </a:rPr>
              <a:t>sysconf</a:t>
            </a:r>
            <a:r>
              <a:rPr lang="es-ES" sz="1800" b="0" i="0" u="sng" strike="noStrike" dirty="0">
                <a:solidFill>
                  <a:srgbClr val="000000"/>
                </a:solidFill>
                <a:effectLst/>
                <a:latin typeface="Arial" panose="020B0604020202020204" pitchFamily="34" charset="0"/>
              </a:rPr>
              <a:t>(SC_MQ_PRIO_MAX)</a:t>
            </a:r>
            <a:endParaRPr lang="es-ES" sz="1800" b="0" i="0" u="none" strike="noStrike" dirty="0">
              <a:solidFill>
                <a:srgbClr val="000000"/>
              </a:solidFill>
              <a:effectLst/>
              <a:latin typeface="Arial" panose="020B0604020202020204" pitchFamily="34" charset="0"/>
            </a:endParaRPr>
          </a:p>
        </p:txBody>
      </p:sp>
      <p:sp>
        <p:nvSpPr>
          <p:cNvPr id="4" name="Marcador de número de diapositiva 3"/>
          <p:cNvSpPr>
            <a:spLocks noGrp="1"/>
          </p:cNvSpPr>
          <p:nvPr>
            <p:ph type="sldNum" sz="quarter" idx="5"/>
          </p:nvPr>
        </p:nvSpPr>
        <p:spPr/>
        <p:txBody>
          <a:bodyPr/>
          <a:lstStyle/>
          <a:p>
            <a:fld id="{394D8323-90F9-4C81-8990-7A1FE7D32678}" type="slidenum">
              <a:rPr lang="es-AR" smtClean="0"/>
              <a:t>18</a:t>
            </a:fld>
            <a:endParaRPr lang="es-AR"/>
          </a:p>
        </p:txBody>
      </p:sp>
    </p:spTree>
    <p:extLst>
      <p:ext uri="{BB962C8B-B14F-4D97-AF65-F5344CB8AC3E}">
        <p14:creationId xmlns:p14="http://schemas.microsoft.com/office/powerpoint/2010/main" val="7861789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buNone/>
            </a:pPr>
            <a:r>
              <a:rPr lang="es-ES" sz="1800" b="0" i="0" u="none" strike="noStrike" dirty="0">
                <a:solidFill>
                  <a:srgbClr val="000000"/>
                </a:solidFill>
                <a:effectLst/>
                <a:latin typeface="Arial" panose="020B0604020202020204" pitchFamily="34" charset="0"/>
              </a:rPr>
              <a:t>Si la cola de mensajes está actualmente vacía, entonces </a:t>
            </a:r>
            <a:r>
              <a:rPr lang="es-ES" sz="1800" b="0" i="0" u="none" strike="noStrike" dirty="0" err="1">
                <a:solidFill>
                  <a:srgbClr val="000000"/>
                </a:solidFill>
                <a:effectLst/>
                <a:latin typeface="Arial" panose="020B0604020202020204" pitchFamily="34" charset="0"/>
              </a:rPr>
              <a:t>mq_receive</a:t>
            </a:r>
            <a:r>
              <a:rPr lang="es-ES" sz="1800" b="0" i="0" u="none" strike="noStrike" dirty="0">
                <a:solidFill>
                  <a:srgbClr val="000000"/>
                </a:solidFill>
                <a:effectLst/>
                <a:latin typeface="Arial" panose="020B0604020202020204" pitchFamily="34" charset="0"/>
              </a:rPr>
              <a:t>() se bloquea hasta que un mensaje esté disponible, o, si el indicador O_NONBLOCK está en vigor, falla inmediatamente con el error EAGAIN.</a:t>
            </a:r>
            <a:endParaRPr lang="es-ES" b="0" dirty="0">
              <a:effectLst/>
            </a:endParaRPr>
          </a:p>
        </p:txBody>
      </p:sp>
      <p:sp>
        <p:nvSpPr>
          <p:cNvPr id="4" name="Marcador de número de diapositiva 3"/>
          <p:cNvSpPr>
            <a:spLocks noGrp="1"/>
          </p:cNvSpPr>
          <p:nvPr>
            <p:ph type="sldNum" sz="quarter" idx="5"/>
          </p:nvPr>
        </p:nvSpPr>
        <p:spPr/>
        <p:txBody>
          <a:bodyPr/>
          <a:lstStyle/>
          <a:p>
            <a:fld id="{394D8323-90F9-4C81-8990-7A1FE7D32678}" type="slidenum">
              <a:rPr lang="es-AR" smtClean="0"/>
              <a:t>21</a:t>
            </a:fld>
            <a:endParaRPr lang="es-AR"/>
          </a:p>
        </p:txBody>
      </p:sp>
    </p:spTree>
    <p:extLst>
      <p:ext uri="{BB962C8B-B14F-4D97-AF65-F5344CB8AC3E}">
        <p14:creationId xmlns:p14="http://schemas.microsoft.com/office/powerpoint/2010/main" val="28131034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0" i="0" dirty="0">
                <a:effectLst/>
                <a:latin typeface="D-DINExp"/>
              </a:rPr>
              <a:t>la notificación síncrona implica que el proceso espera una respuesta inmediata, mientras que la asíncrona permite al sistema continuar otras tareas sin esperar. En la notificación asíncrona, la señal se entrega y se captura en la siguiente ejecución programada.</a:t>
            </a:r>
            <a:endParaRPr lang="es-AR" dirty="0"/>
          </a:p>
        </p:txBody>
      </p:sp>
      <p:sp>
        <p:nvSpPr>
          <p:cNvPr id="4" name="Marcador de número de diapositiva 3"/>
          <p:cNvSpPr>
            <a:spLocks noGrp="1"/>
          </p:cNvSpPr>
          <p:nvPr>
            <p:ph type="sldNum" sz="quarter" idx="5"/>
          </p:nvPr>
        </p:nvSpPr>
        <p:spPr/>
        <p:txBody>
          <a:bodyPr/>
          <a:lstStyle/>
          <a:p>
            <a:fld id="{394D8323-90F9-4C81-8990-7A1FE7D32678}" type="slidenum">
              <a:rPr lang="es-AR" smtClean="0"/>
              <a:t>24</a:t>
            </a:fld>
            <a:endParaRPr lang="es-AR"/>
          </a:p>
        </p:txBody>
      </p:sp>
    </p:spTree>
    <p:extLst>
      <p:ext uri="{BB962C8B-B14F-4D97-AF65-F5344CB8AC3E}">
        <p14:creationId xmlns:p14="http://schemas.microsoft.com/office/powerpoint/2010/main" val="15454529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THREAD=HILO</a:t>
            </a:r>
            <a:endParaRPr lang="es-AR" dirty="0"/>
          </a:p>
        </p:txBody>
      </p:sp>
      <p:sp>
        <p:nvSpPr>
          <p:cNvPr id="4" name="Marcador de número de diapositiva 3"/>
          <p:cNvSpPr>
            <a:spLocks noGrp="1"/>
          </p:cNvSpPr>
          <p:nvPr>
            <p:ph type="sldNum" sz="quarter" idx="5"/>
          </p:nvPr>
        </p:nvSpPr>
        <p:spPr/>
        <p:txBody>
          <a:bodyPr/>
          <a:lstStyle/>
          <a:p>
            <a:fld id="{394D8323-90F9-4C81-8990-7A1FE7D32678}" type="slidenum">
              <a:rPr lang="es-AR" smtClean="0"/>
              <a:t>27</a:t>
            </a:fld>
            <a:endParaRPr lang="es-AR"/>
          </a:p>
        </p:txBody>
      </p:sp>
    </p:spTree>
    <p:extLst>
      <p:ext uri="{BB962C8B-B14F-4D97-AF65-F5344CB8AC3E}">
        <p14:creationId xmlns:p14="http://schemas.microsoft.com/office/powerpoint/2010/main" val="310251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D69555-EE48-4B19-812B-4E1068DBF976}"/>
              </a:ext>
            </a:extLst>
          </p:cNvPr>
          <p:cNvSpPr/>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57">
            <a:extLst>
              <a:ext uri="{FF2B5EF4-FFF2-40B4-BE49-F238E27FC236}">
                <a16:creationId xmlns:a16="http://schemas.microsoft.com/office/drawing/2014/main" id="{57AEB73D-F521-4B19-820F-12DB6BCC8406}"/>
              </a:ext>
            </a:extLst>
          </p:cNvPr>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sp>
        <p:nvSpPr>
          <p:cNvPr id="2" name="Title 1"/>
          <p:cNvSpPr>
            <a:spLocks noGrp="1"/>
          </p:cNvSpPr>
          <p:nvPr>
            <p:ph type="ctrTitle"/>
          </p:nvPr>
        </p:nvSpPr>
        <p:spPr>
          <a:xfrm>
            <a:off x="855388" y="863068"/>
            <a:ext cx="6007691" cy="4985916"/>
          </a:xfrm>
        </p:spPr>
        <p:txBody>
          <a:bodyPr anchor="ctr">
            <a:noAutofit/>
          </a:bodyPr>
          <a:lstStyle>
            <a:lvl1pPr algn="l">
              <a:lnSpc>
                <a:spcPct val="125000"/>
              </a:lnSpc>
              <a:defRPr sz="6000" b="0" cap="all" spc="150" baseline="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197352" y="863068"/>
            <a:ext cx="3351729" cy="5120069"/>
          </a:xfrm>
        </p:spPr>
        <p:txBody>
          <a:bodyPr anchor="ctr">
            <a:normAutofit/>
          </a:bodyPr>
          <a:lstStyle>
            <a:lvl1pPr marL="0" indent="0" algn="l">
              <a:lnSpc>
                <a:spcPct val="150000"/>
              </a:lnSpc>
              <a:buNone/>
              <a:defRPr sz="2400" b="0" cap="none"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Rectangle 6">
            <a:extLst>
              <a:ext uri="{FF2B5EF4-FFF2-40B4-BE49-F238E27FC236}">
                <a16:creationId xmlns:a16="http://schemas.microsoft.com/office/drawing/2014/main" id="{6B72EEBA-3A5D-41CE-8465-A45A0F65674E}"/>
              </a:ext>
            </a:extLst>
          </p:cNvPr>
          <p:cNvSpPr/>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ate Placeholder 12">
            <a:extLst>
              <a:ext uri="{FF2B5EF4-FFF2-40B4-BE49-F238E27FC236}">
                <a16:creationId xmlns:a16="http://schemas.microsoft.com/office/drawing/2014/main" id="{79F4CF2F-CDFA-4A37-837C-819D5238EAB4}"/>
              </a:ext>
            </a:extLst>
          </p:cNvPr>
          <p:cNvSpPr>
            <a:spLocks noGrp="1"/>
          </p:cNvSpPr>
          <p:nvPr>
            <p:ph type="dt" sz="half" idx="10"/>
          </p:nvPr>
        </p:nvSpPr>
        <p:spPr>
          <a:xfrm>
            <a:off x="8197353" y="6309360"/>
            <a:ext cx="2151134" cy="457200"/>
          </a:xfrm>
        </p:spPr>
        <p:txBody>
          <a:bodyPr/>
          <a:lstStyle/>
          <a:p>
            <a:pPr algn="l"/>
            <a:fld id="{0DCFB061-4267-4D9F-8017-6F550D3068DF}" type="datetime1">
              <a:rPr lang="en-US" smtClean="0"/>
              <a:t>4/1/2025</a:t>
            </a:fld>
            <a:endParaRPr lang="en-US" dirty="0"/>
          </a:p>
        </p:txBody>
      </p:sp>
      <p:sp>
        <p:nvSpPr>
          <p:cNvPr id="15" name="Footer Placeholder 14">
            <a:extLst>
              <a:ext uri="{FF2B5EF4-FFF2-40B4-BE49-F238E27FC236}">
                <a16:creationId xmlns:a16="http://schemas.microsoft.com/office/drawing/2014/main" id="{CFECE62A-61A4-407D-8F0B-D459CD977C75}"/>
              </a:ext>
            </a:extLst>
          </p:cNvPr>
          <p:cNvSpPr>
            <a:spLocks noGrp="1"/>
          </p:cNvSpPr>
          <p:nvPr>
            <p:ph type="ftr" sz="quarter" idx="11"/>
          </p:nvPr>
        </p:nvSpPr>
        <p:spPr>
          <a:xfrm>
            <a:off x="855388" y="6309360"/>
            <a:ext cx="6007691" cy="457200"/>
          </a:xfrm>
        </p:spPr>
        <p:txBody>
          <a:bodyPr/>
          <a:lstStyle>
            <a:lvl1pPr algn="r">
              <a:defRPr/>
            </a:lvl1pPr>
          </a:lstStyle>
          <a:p>
            <a:pPr algn="l"/>
            <a:endParaRPr lang="en-US" dirty="0"/>
          </a:p>
        </p:txBody>
      </p:sp>
      <p:sp>
        <p:nvSpPr>
          <p:cNvPr id="27" name="Slide Number Placeholder 26">
            <a:extLst>
              <a:ext uri="{FF2B5EF4-FFF2-40B4-BE49-F238E27FC236}">
                <a16:creationId xmlns:a16="http://schemas.microsoft.com/office/drawing/2014/main" id="{99FE60A9-FE2A-451F-9244-60FCE7FE9AD7}"/>
              </a:ext>
            </a:extLst>
          </p:cNvPr>
          <p:cNvSpPr>
            <a:spLocks noGrp="1"/>
          </p:cNvSpPr>
          <p:nvPr>
            <p:ph type="sldNum" sz="quarter" idx="12"/>
          </p:nvPr>
        </p:nvSpPr>
        <p:spPr/>
        <p:txBody>
          <a:bodyPr/>
          <a:lstStyle/>
          <a:p>
            <a:fld id="{FAEF9944-A4F6-4C59-AEBD-678D6480B8EA}" type="slidenum">
              <a:rPr lang="en-US" smtClean="0"/>
              <a:pPr/>
              <a:t>‹Nº›</a:t>
            </a:fld>
            <a:endParaRPr lang="en-US" dirty="0"/>
          </a:p>
        </p:txBody>
      </p:sp>
    </p:spTree>
    <p:extLst>
      <p:ext uri="{BB962C8B-B14F-4D97-AF65-F5344CB8AC3E}">
        <p14:creationId xmlns:p14="http://schemas.microsoft.com/office/powerpoint/2010/main" val="2686554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4/1/2025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‹Nº›</a:t>
            </a:fld>
            <a:endParaRPr lang="en-US" dirty="0"/>
          </a:p>
        </p:txBody>
      </p:sp>
    </p:spTree>
    <p:extLst>
      <p:ext uri="{BB962C8B-B14F-4D97-AF65-F5344CB8AC3E}">
        <p14:creationId xmlns:p14="http://schemas.microsoft.com/office/powerpoint/2010/main" val="3647400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FD12B6-57DE-4B63-A723-500B050FB7DD}"/>
              </a:ext>
            </a:extLst>
          </p:cNvPr>
          <p:cNvSpPr/>
          <p:nvPr/>
        </p:nvSpPr>
        <p:spPr>
          <a:xfrm>
            <a:off x="0" y="4215384"/>
            <a:ext cx="12192000" cy="2642616"/>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5316" y="1406284"/>
            <a:ext cx="10593694" cy="2597841"/>
          </a:xfrm>
        </p:spPr>
        <p:txBody>
          <a:bodyPr anchor="b">
            <a:normAutofit/>
          </a:bodyPr>
          <a:lstStyle>
            <a:lvl1pPr algn="ctr">
              <a:lnSpc>
                <a:spcPct val="125000"/>
              </a:lnSpc>
              <a:defRPr sz="4400" baseline="0">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818312" y="4527856"/>
            <a:ext cx="6559018" cy="1570245"/>
          </a:xfrm>
        </p:spPr>
        <p:txBody>
          <a:bodyPr anchor="t">
            <a:normAutofit/>
          </a:bodyPr>
          <a:lstStyle>
            <a:lvl1pPr marL="0" indent="0" algn="ctr">
              <a:lnSpc>
                <a:spcPct val="130000"/>
              </a:lnSpc>
              <a:spcBef>
                <a:spcPts val="0"/>
              </a:spcBef>
              <a:buNone/>
              <a:defRPr sz="2400" b="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5F1E2E75-4758-4930-8024-39287C962987}"/>
              </a:ext>
            </a:extLst>
          </p:cNvPr>
          <p:cNvSpPr>
            <a:spLocks noGrp="1"/>
          </p:cNvSpPr>
          <p:nvPr>
            <p:ph type="dt" sz="half" idx="10"/>
          </p:nvPr>
        </p:nvSpPr>
        <p:spPr/>
        <p:txBody>
          <a:bodyPr/>
          <a:lstStyle/>
          <a:p>
            <a:fld id="{29CABC0C-B6DF-45E9-B954-11C99AA62C3E}" type="datetime1">
              <a:rPr lang="en-US" smtClean="0"/>
              <a:t>4/1/2025</a:t>
            </a:fld>
            <a:endParaRPr lang="en-US" dirty="0"/>
          </a:p>
        </p:txBody>
      </p:sp>
      <p:sp>
        <p:nvSpPr>
          <p:cNvPr id="8" name="Footer Placeholder 7">
            <a:extLst>
              <a:ext uri="{FF2B5EF4-FFF2-40B4-BE49-F238E27FC236}">
                <a16:creationId xmlns:a16="http://schemas.microsoft.com/office/drawing/2014/main" id="{488B9949-402C-42C2-9A94-16590FC0C592}"/>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39D83F6-DAF4-4876-AA41-F246EC970F7D}"/>
              </a:ext>
            </a:extLst>
          </p:cNvPr>
          <p:cNvSpPr>
            <a:spLocks noGrp="1"/>
          </p:cNvSpPr>
          <p:nvPr>
            <p:ph type="sldNum" sz="quarter" idx="12"/>
          </p:nvPr>
        </p:nvSpPr>
        <p:spPr/>
        <p:txBody>
          <a:bodyPr/>
          <a:lstStyle/>
          <a:p>
            <a:fld id="{FAEF9944-A4F6-4C59-AEBD-678D6480B8EA}" type="slidenum">
              <a:rPr lang="en-US" smtClean="0"/>
              <a:pPr/>
              <a:t>‹Nº›</a:t>
            </a:fld>
            <a:endParaRPr lang="en-US" dirty="0"/>
          </a:p>
        </p:txBody>
      </p:sp>
      <p:sp>
        <p:nvSpPr>
          <p:cNvPr id="11" name="Rectangle 10">
            <a:extLst>
              <a:ext uri="{FF2B5EF4-FFF2-40B4-BE49-F238E27FC236}">
                <a16:creationId xmlns:a16="http://schemas.microsoft.com/office/drawing/2014/main" id="{91613A19-DDA2-44F6-9ED4-F87771C684B8}"/>
              </a:ext>
            </a:extLst>
          </p:cNvPr>
          <p:cNvSpPr/>
          <p:nvPr/>
        </p:nvSpPr>
        <p:spPr>
          <a:xfrm>
            <a:off x="0" y="4215384"/>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8972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hasCustomPrompt="1"/>
          </p:nvPr>
        </p:nvSpPr>
        <p:spPr>
          <a:xfrm>
            <a:off x="5376670" y="705114"/>
            <a:ext cx="6172412" cy="2403846"/>
          </a:xfrm>
        </p:spPr>
        <p:txBody>
          <a:bodyPr anchor="b"/>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376670" y="3749040"/>
            <a:ext cx="6172411" cy="2346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AB71B9-2624-4F21-93EE-35A78B1A0DAD}" type="datetime1">
              <a:rPr lang="en-US" smtClean="0"/>
              <a:t>4/1/2025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dirty="0"/>
              <a:t>‹Nº›</a:t>
            </a:fld>
            <a:endParaRPr lang="en-US" dirty="0"/>
          </a:p>
        </p:txBody>
      </p:sp>
      <p:sp>
        <p:nvSpPr>
          <p:cNvPr id="10" name="Rectangle 9">
            <a:extLst>
              <a:ext uri="{FF2B5EF4-FFF2-40B4-BE49-F238E27FC236}">
                <a16:creationId xmlns:a16="http://schemas.microsoft.com/office/drawing/2014/main" id="{5CE6B9B5-A5D1-4099-B52B-78F39AB0AFCB}"/>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22320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76667" y="658999"/>
            <a:ext cx="6166422" cy="457200"/>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76668" y="1116199"/>
            <a:ext cx="6166422" cy="20621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376668" y="3623098"/>
            <a:ext cx="6166421" cy="457200"/>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5376670" y="4102370"/>
            <a:ext cx="6166419" cy="2066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D37C2A-BE2E-4840-A907-3254E2916C96}" type="datetime1">
              <a:rPr lang="en-US" smtClean="0"/>
              <a:t>4/1/2025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AEF9944-A4F6-4C59-AEBD-678D6480B8EA}" type="slidenum">
              <a:rPr lang="en-US" dirty="0"/>
              <a:t>‹Nº›</a:t>
            </a:fld>
            <a:endParaRPr lang="en-US" dirty="0"/>
          </a:p>
        </p:txBody>
      </p:sp>
      <p:sp>
        <p:nvSpPr>
          <p:cNvPr id="10" name="Title 9">
            <a:extLst>
              <a:ext uri="{FF2B5EF4-FFF2-40B4-BE49-F238E27FC236}">
                <a16:creationId xmlns:a16="http://schemas.microsoft.com/office/drawing/2014/main" id="{D26B370B-8381-431F-9492-0EA1205113EE}"/>
              </a:ext>
            </a:extLst>
          </p:cNvPr>
          <p:cNvSpPr>
            <a:spLocks noGrp="1"/>
          </p:cNvSpPr>
          <p:nvPr>
            <p:ph type="title"/>
          </p:nvPr>
        </p:nvSpPr>
        <p:spPr/>
        <p:txBody>
          <a:bodyPr/>
          <a:lstStyle/>
          <a:p>
            <a:r>
              <a:rPr lang="en-US"/>
              <a:t>Click to edit Master title style</a:t>
            </a:r>
          </a:p>
        </p:txBody>
      </p:sp>
      <p:sp>
        <p:nvSpPr>
          <p:cNvPr id="12" name="Rectangle 11">
            <a:extLst>
              <a:ext uri="{FF2B5EF4-FFF2-40B4-BE49-F238E27FC236}">
                <a16:creationId xmlns:a16="http://schemas.microsoft.com/office/drawing/2014/main" id="{DCA89085-2231-4A9C-B23C-B199A9DD26C5}"/>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8269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5CD215-1C45-48A0-8534-39FFE8A7C95A}" type="datetime1">
              <a:rPr lang="en-US" smtClean="0"/>
              <a:t>4/1/2025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AEF9944-A4F6-4C59-AEBD-678D6480B8EA}" type="slidenum">
              <a:rPr lang="en-US" dirty="0"/>
              <a:t>‹Nº›</a:t>
            </a:fld>
            <a:endParaRPr lang="en-US" dirty="0"/>
          </a:p>
        </p:txBody>
      </p:sp>
    </p:spTree>
    <p:extLst>
      <p:ext uri="{BB962C8B-B14F-4D97-AF65-F5344CB8AC3E}">
        <p14:creationId xmlns:p14="http://schemas.microsoft.com/office/powerpoint/2010/main" val="1870082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4/1/2025</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‹Nº›</a:t>
            </a:fld>
            <a:endParaRPr lang="en-US" dirty="0"/>
          </a:p>
        </p:txBody>
      </p:sp>
    </p:spTree>
    <p:extLst>
      <p:ext uri="{BB962C8B-B14F-4D97-AF65-F5344CB8AC3E}">
        <p14:creationId xmlns:p14="http://schemas.microsoft.com/office/powerpoint/2010/main" val="157784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CA29BA-0143-49FF-8608-DB1623D99537}"/>
              </a:ext>
            </a:extLst>
          </p:cNvPr>
          <p:cNvSpPr/>
          <p:nvPr/>
        </p:nvSpPr>
        <p:spPr>
          <a:xfrm>
            <a:off x="0" y="0"/>
            <a:ext cx="8248592"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53015" y="640079"/>
            <a:ext cx="2796066" cy="2551751"/>
          </a:xfrm>
        </p:spPr>
        <p:txBody>
          <a:bodyPr anchor="b">
            <a:normAutofit/>
          </a:bodyPr>
          <a:lstStyle>
            <a:lvl1pPr algn="l">
              <a:lnSpc>
                <a:spcPct val="135000"/>
              </a:lnSpc>
              <a:defRPr sz="3200"/>
            </a:lvl1pPr>
          </a:lstStyle>
          <a:p>
            <a:r>
              <a:rPr lang="en-US"/>
              <a:t>Click to edit Master title style</a:t>
            </a:r>
            <a:endParaRPr lang="en-US" dirty="0"/>
          </a:p>
        </p:txBody>
      </p:sp>
      <p:sp>
        <p:nvSpPr>
          <p:cNvPr id="3" name="Content Placeholder 2"/>
          <p:cNvSpPr>
            <a:spLocks noGrp="1"/>
          </p:cNvSpPr>
          <p:nvPr>
            <p:ph idx="1"/>
          </p:nvPr>
        </p:nvSpPr>
        <p:spPr>
          <a:xfrm>
            <a:off x="638818" y="640078"/>
            <a:ext cx="6969693" cy="5455921"/>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hasCustomPrompt="1"/>
          </p:nvPr>
        </p:nvSpPr>
        <p:spPr>
          <a:xfrm>
            <a:off x="8753015" y="3223803"/>
            <a:ext cx="2796066" cy="2872197"/>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3010CF18-370D-4E80-AE4C-396FFDFCAE5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9">
            <a:extLst>
              <a:ext uri="{FF2B5EF4-FFF2-40B4-BE49-F238E27FC236}">
                <a16:creationId xmlns:a16="http://schemas.microsoft.com/office/drawing/2014/main" id="{C5EBFE9C-5A22-4462-9C51-E00C03F55C3D}"/>
              </a:ext>
            </a:extLst>
          </p:cNvPr>
          <p:cNvSpPr>
            <a:spLocks noGrp="1"/>
          </p:cNvSpPr>
          <p:nvPr>
            <p:ph type="dt" sz="half" idx="10"/>
          </p:nvPr>
        </p:nvSpPr>
        <p:spPr>
          <a:xfrm>
            <a:off x="8753015" y="6309360"/>
            <a:ext cx="1734207" cy="457200"/>
          </a:xfrm>
        </p:spPr>
        <p:txBody>
          <a:bodyPr/>
          <a:lstStyle>
            <a:lvl1pPr algn="l">
              <a:defRPr/>
            </a:lvl1pPr>
          </a:lstStyle>
          <a:p>
            <a:fld id="{61A2E4C8-2960-4ADD-862C-4D9643CB15AC}" type="datetime1">
              <a:rPr lang="en-US" smtClean="0"/>
              <a:t>4/1/2025</a:t>
            </a:fld>
            <a:endParaRPr lang="en-US" dirty="0"/>
          </a:p>
        </p:txBody>
      </p:sp>
      <p:sp>
        <p:nvSpPr>
          <p:cNvPr id="11" name="Footer Placeholder 10">
            <a:extLst>
              <a:ext uri="{FF2B5EF4-FFF2-40B4-BE49-F238E27FC236}">
                <a16:creationId xmlns:a16="http://schemas.microsoft.com/office/drawing/2014/main" id="{2EBBFF2E-AA66-4B76-9139-CB000B5A45D5}"/>
              </a:ext>
            </a:extLst>
          </p:cNvPr>
          <p:cNvSpPr>
            <a:spLocks noGrp="1"/>
          </p:cNvSpPr>
          <p:nvPr>
            <p:ph type="ftr" sz="quarter" idx="11"/>
          </p:nvPr>
        </p:nvSpPr>
        <p:spPr>
          <a:xfrm>
            <a:off x="638818" y="6309360"/>
            <a:ext cx="6993867" cy="457200"/>
          </a:xfrm>
        </p:spPr>
        <p:txBody>
          <a:bodyPr/>
          <a:lstStyle/>
          <a:p>
            <a:endParaRPr lang="en-US" dirty="0"/>
          </a:p>
        </p:txBody>
      </p:sp>
      <p:sp>
        <p:nvSpPr>
          <p:cNvPr id="12" name="Slide Number Placeholder 11">
            <a:extLst>
              <a:ext uri="{FF2B5EF4-FFF2-40B4-BE49-F238E27FC236}">
                <a16:creationId xmlns:a16="http://schemas.microsoft.com/office/drawing/2014/main" id="{A44F64C4-BF20-4F6B-B650-57C71C828A68}"/>
              </a:ext>
            </a:extLst>
          </p:cNvPr>
          <p:cNvSpPr>
            <a:spLocks noGrp="1"/>
          </p:cNvSpPr>
          <p:nvPr>
            <p:ph type="sldNum" sz="quarter" idx="12"/>
          </p:nvPr>
        </p:nvSpPr>
        <p:spPr/>
        <p:txBody>
          <a:bodyPr/>
          <a:lstStyle/>
          <a:p>
            <a:fld id="{FAEF9944-A4F6-4C59-AEBD-678D6480B8EA}" type="slidenum">
              <a:rPr lang="en-US" smtClean="0"/>
              <a:pPr/>
              <a:t>‹Nº›</a:t>
            </a:fld>
            <a:endParaRPr lang="en-US" dirty="0"/>
          </a:p>
        </p:txBody>
      </p:sp>
    </p:spTree>
    <p:extLst>
      <p:ext uri="{BB962C8B-B14F-4D97-AF65-F5344CB8AC3E}">
        <p14:creationId xmlns:p14="http://schemas.microsoft.com/office/powerpoint/2010/main" val="2567309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34996" y="640079"/>
            <a:ext cx="2714085" cy="2695903"/>
          </a:xfrm>
        </p:spPr>
        <p:txBody>
          <a:bodyPr anchor="b">
            <a:noAutofit/>
          </a:bodyPr>
          <a:lstStyle>
            <a:lvl1pPr algn="l">
              <a:lnSpc>
                <a:spcPct val="104000"/>
              </a:lnSpc>
              <a:defRPr sz="3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248592"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hasCustomPrompt="1"/>
          </p:nvPr>
        </p:nvSpPr>
        <p:spPr>
          <a:xfrm>
            <a:off x="8834996" y="3429000"/>
            <a:ext cx="2714085" cy="2508026"/>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90949BC8-9ABF-49F6-851C-5DB0B86CA70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04E1EE21-E3FA-4D43-B224-C664959637B0}"/>
              </a:ext>
            </a:extLst>
          </p:cNvPr>
          <p:cNvSpPr>
            <a:spLocks noGrp="1"/>
          </p:cNvSpPr>
          <p:nvPr>
            <p:ph type="dt" sz="half" idx="10"/>
          </p:nvPr>
        </p:nvSpPr>
        <p:spPr>
          <a:xfrm>
            <a:off x="8834997" y="6309360"/>
            <a:ext cx="1645920" cy="457200"/>
          </a:xfrm>
        </p:spPr>
        <p:txBody>
          <a:bodyPr/>
          <a:lstStyle/>
          <a:p>
            <a:fld id="{48BDEA15-09CD-4275-A8E0-385C965F48B0}" type="datetime1">
              <a:rPr lang="en-US" smtClean="0"/>
              <a:t>4/1/2025</a:t>
            </a:fld>
            <a:endParaRPr lang="en-US" dirty="0"/>
          </a:p>
        </p:txBody>
      </p:sp>
      <p:sp>
        <p:nvSpPr>
          <p:cNvPr id="7" name="Slide Number Placeholder 6">
            <a:extLst>
              <a:ext uri="{FF2B5EF4-FFF2-40B4-BE49-F238E27FC236}">
                <a16:creationId xmlns:a16="http://schemas.microsoft.com/office/drawing/2014/main" id="{A32D7F83-8993-4ED4-9F02-663CC085052F}"/>
              </a:ext>
            </a:extLst>
          </p:cNvPr>
          <p:cNvSpPr>
            <a:spLocks noGrp="1"/>
          </p:cNvSpPr>
          <p:nvPr>
            <p:ph type="sldNum" sz="quarter" idx="12"/>
          </p:nvPr>
        </p:nvSpPr>
        <p:spPr/>
        <p:txBody>
          <a:bodyPr/>
          <a:lstStyle/>
          <a:p>
            <a:fld id="{FAEF9944-A4F6-4C59-AEBD-678D6480B8EA}" type="slidenum">
              <a:rPr lang="en-US" smtClean="0"/>
              <a:pPr/>
              <a:t>‹Nº›</a:t>
            </a:fld>
            <a:endParaRPr lang="en-US" dirty="0"/>
          </a:p>
        </p:txBody>
      </p:sp>
      <p:sp>
        <p:nvSpPr>
          <p:cNvPr id="6" name="Footer Placeholder 5">
            <a:extLst>
              <a:ext uri="{FF2B5EF4-FFF2-40B4-BE49-F238E27FC236}">
                <a16:creationId xmlns:a16="http://schemas.microsoft.com/office/drawing/2014/main" id="{8E3678B7-E511-4CE1-BEE5-89E959B9BFD6}"/>
              </a:ext>
            </a:extLst>
          </p:cNvPr>
          <p:cNvSpPr>
            <a:spLocks noGrp="1"/>
          </p:cNvSpPr>
          <p:nvPr>
            <p:ph type="ftr" sz="quarter" idx="11"/>
          </p:nvPr>
        </p:nvSpPr>
        <p:spPr>
          <a:xfrm>
            <a:off x="640080" y="6309360"/>
            <a:ext cx="4946592" cy="457200"/>
          </a:xfrm>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US" dirty="0"/>
          </a:p>
        </p:txBody>
      </p:sp>
    </p:spTree>
    <p:extLst>
      <p:ext uri="{BB962C8B-B14F-4D97-AF65-F5344CB8AC3E}">
        <p14:creationId xmlns:p14="http://schemas.microsoft.com/office/powerpoint/2010/main" val="4124260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41BC61-5547-4A60-8DA1-6699760D9972}" type="datetime1">
              <a:rPr lang="en-US" smtClean="0"/>
              <a:t>4/1/2025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‹Nº›</a:t>
            </a:fld>
            <a:endParaRPr lang="en-US" dirty="0"/>
          </a:p>
        </p:txBody>
      </p:sp>
    </p:spTree>
    <p:extLst>
      <p:ext uri="{BB962C8B-B14F-4D97-AF65-F5344CB8AC3E}">
        <p14:creationId xmlns:p14="http://schemas.microsoft.com/office/powerpoint/2010/main" val="3466985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24B9D1C6-60D0-4CD1-8F31-F912522EB041}" type="datetime1">
              <a:rPr lang="en-US" smtClean="0"/>
              <a:t>4/1/2025</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dirty="0"/>
              <a:pPr/>
              <a:t>‹Nº›</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0467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86F82F-1B47-46ED-8EAE-53EF71E59E9A}"/>
              </a:ext>
            </a:extLst>
          </p:cNvPr>
          <p:cNvSpPr/>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42918" y="705113"/>
            <a:ext cx="3411973" cy="5197498"/>
          </a:xfrm>
          <a:prstGeom prst="rect">
            <a:avLst/>
          </a:prstGeom>
        </p:spPr>
        <p:txBody>
          <a:bodyPr vert="horz" lIns="109728" tIns="109728" rIns="109728" bIns="9144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76671" y="705113"/>
            <a:ext cx="6172412" cy="5197497"/>
          </a:xfrm>
          <a:prstGeom prst="rect">
            <a:avLst/>
          </a:prstGeom>
        </p:spPr>
        <p:txBody>
          <a:bodyPr vert="horz" lIns="109728" tIns="109728" rIns="109728" bIns="9144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2917" y="6309360"/>
            <a:ext cx="3411973"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fld id="{4AF8082C-0922-4249-A612-B415F5231620}" type="datetime1">
              <a:rPr lang="en-US" smtClean="0"/>
              <a:t>4/1/2025</a:t>
            </a:fld>
            <a:endParaRPr lang="en-US" dirty="0"/>
          </a:p>
        </p:txBody>
      </p:sp>
      <p:sp>
        <p:nvSpPr>
          <p:cNvPr id="5" name="Footer Placeholder 4"/>
          <p:cNvSpPr>
            <a:spLocks noGrp="1"/>
          </p:cNvSpPr>
          <p:nvPr>
            <p:ph type="ftr" sz="quarter" idx="3"/>
          </p:nvPr>
        </p:nvSpPr>
        <p:spPr>
          <a:xfrm>
            <a:off x="5376670" y="6309360"/>
            <a:ext cx="4946592"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10569202" y="6309360"/>
            <a:ext cx="979879" cy="457200"/>
          </a:xfrm>
          <a:prstGeom prst="rect">
            <a:avLst/>
          </a:prstGeom>
        </p:spPr>
        <p:txBody>
          <a:bodyPr vert="horz" lIns="109728" tIns="109728" rIns="109728" bIns="91440" rtlCol="0" anchor="b"/>
          <a:lstStyle>
            <a:lvl1pPr algn="r">
              <a:defRPr sz="1600" b="1" spc="150" baseline="0">
                <a:solidFill>
                  <a:schemeClr val="tx1">
                    <a:lumMod val="75000"/>
                    <a:lumOff val="25000"/>
                  </a:schemeClr>
                </a:solidFill>
                <a:latin typeface="+mj-lt"/>
              </a:defRPr>
            </a:lvl1pPr>
          </a:lstStyle>
          <a:p>
            <a:fld id="{FAEF9944-A4F6-4C59-AEBD-678D6480B8EA}" type="slidenum">
              <a:rPr lang="en-US" smtClean="0"/>
              <a:pPr/>
              <a:t>‹Nº›</a:t>
            </a:fld>
            <a:endParaRPr lang="en-US" dirty="0"/>
          </a:p>
        </p:txBody>
      </p:sp>
      <p:sp>
        <p:nvSpPr>
          <p:cNvPr id="21" name="Rectangle 20">
            <a:extLst>
              <a:ext uri="{FF2B5EF4-FFF2-40B4-BE49-F238E27FC236}">
                <a16:creationId xmlns:a16="http://schemas.microsoft.com/office/drawing/2014/main" id="{EF1BAF6F-6275-4646-9C59-331B29B9550F}"/>
              </a:ext>
            </a:extLst>
          </p:cNvPr>
          <p:cNvSpPr/>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359377"/>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17" r:id="rId6"/>
    <p:sldLayoutId id="2147483713" r:id="rId7"/>
    <p:sldLayoutId id="2147483714" r:id="rId8"/>
    <p:sldLayoutId id="2147483715" r:id="rId9"/>
    <p:sldLayoutId id="2147483716" r:id="rId10"/>
    <p:sldLayoutId id="2147483718" r:id="rId11"/>
  </p:sldLayoutIdLst>
  <p:hf sldNum="0" hdr="0" ftr="0" dt="0"/>
  <p:txStyles>
    <p:title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CA22F210-7186-4074-94C5-FAD2C2EB15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7ED93057-B056-4D1D-B0DA-F1619DAAF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825689"/>
            <a:ext cx="6795928"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5AD1C2A-291B-5D55-1D80-341E09C23A3B}"/>
              </a:ext>
            </a:extLst>
          </p:cNvPr>
          <p:cNvSpPr>
            <a:spLocks noGrp="1"/>
          </p:cNvSpPr>
          <p:nvPr>
            <p:ph type="ctrTitle"/>
          </p:nvPr>
        </p:nvSpPr>
        <p:spPr>
          <a:xfrm>
            <a:off x="1190784" y="1036079"/>
            <a:ext cx="5605146" cy="2173433"/>
          </a:xfrm>
        </p:spPr>
        <p:txBody>
          <a:bodyPr>
            <a:normAutofit/>
          </a:bodyPr>
          <a:lstStyle/>
          <a:p>
            <a:pPr>
              <a:lnSpc>
                <a:spcPct val="150000"/>
              </a:lnSpc>
            </a:pPr>
            <a:r>
              <a:rPr lang="es-ES" sz="3200" b="1" dirty="0">
                <a:solidFill>
                  <a:schemeClr val="bg1"/>
                </a:solidFill>
              </a:rPr>
              <a:t>COLA DE MENSAJES EN LINUX</a:t>
            </a:r>
            <a:endParaRPr lang="es-AR" sz="3200" b="1" dirty="0">
              <a:solidFill>
                <a:schemeClr val="bg1"/>
              </a:solidFill>
            </a:endParaRPr>
          </a:p>
        </p:txBody>
      </p:sp>
      <p:sp>
        <p:nvSpPr>
          <p:cNvPr id="3" name="Subtítulo 2">
            <a:extLst>
              <a:ext uri="{FF2B5EF4-FFF2-40B4-BE49-F238E27FC236}">
                <a16:creationId xmlns:a16="http://schemas.microsoft.com/office/drawing/2014/main" id="{542BE9BF-A55F-1CAF-C6B9-E79D71CE7B7B}"/>
              </a:ext>
            </a:extLst>
          </p:cNvPr>
          <p:cNvSpPr>
            <a:spLocks noGrp="1"/>
          </p:cNvSpPr>
          <p:nvPr>
            <p:ph type="subTitle" idx="1"/>
          </p:nvPr>
        </p:nvSpPr>
        <p:spPr>
          <a:xfrm>
            <a:off x="1635104" y="3751119"/>
            <a:ext cx="4797502" cy="1606163"/>
          </a:xfrm>
        </p:spPr>
        <p:txBody>
          <a:bodyPr anchor="t">
            <a:normAutofit/>
          </a:bodyPr>
          <a:lstStyle/>
          <a:p>
            <a:pPr>
              <a:lnSpc>
                <a:spcPct val="140000"/>
              </a:lnSpc>
            </a:pPr>
            <a:r>
              <a:rPr lang="es-ES" sz="1300">
                <a:solidFill>
                  <a:schemeClr val="tx1">
                    <a:lumMod val="75000"/>
                    <a:lumOff val="25000"/>
                  </a:schemeClr>
                </a:solidFill>
              </a:rPr>
              <a:t>ALUMNO: BRUNO FEDERICO SOSA SVACHCA</a:t>
            </a:r>
          </a:p>
          <a:p>
            <a:pPr>
              <a:lnSpc>
                <a:spcPct val="140000"/>
              </a:lnSpc>
            </a:pPr>
            <a:r>
              <a:rPr lang="es-ES" sz="1300">
                <a:solidFill>
                  <a:schemeClr val="tx1">
                    <a:lumMod val="75000"/>
                    <a:lumOff val="25000"/>
                  </a:schemeClr>
                </a:solidFill>
              </a:rPr>
              <a:t>CURSO: 5R5</a:t>
            </a:r>
          </a:p>
          <a:p>
            <a:pPr>
              <a:lnSpc>
                <a:spcPct val="140000"/>
              </a:lnSpc>
            </a:pPr>
            <a:r>
              <a:rPr lang="es-ES" sz="1300">
                <a:solidFill>
                  <a:schemeClr val="tx1">
                    <a:lumMod val="75000"/>
                    <a:lumOff val="25000"/>
                  </a:schemeClr>
                </a:solidFill>
              </a:rPr>
              <a:t>AÑO: 2025</a:t>
            </a:r>
            <a:endParaRPr lang="es-AR" sz="1300">
              <a:solidFill>
                <a:schemeClr val="tx1">
                  <a:lumMod val="75000"/>
                  <a:lumOff val="25000"/>
                </a:schemeClr>
              </a:solidFill>
            </a:endParaRPr>
          </a:p>
        </p:txBody>
      </p:sp>
      <p:sp>
        <p:nvSpPr>
          <p:cNvPr id="22" name="Rectangle 21">
            <a:extLst>
              <a:ext uri="{FF2B5EF4-FFF2-40B4-BE49-F238E27FC236}">
                <a16:creationId xmlns:a16="http://schemas.microsoft.com/office/drawing/2014/main" id="{F5B41592-BC5E-4AE2-8CA7-91C73FD8F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889697"/>
            <a:ext cx="1070775" cy="2466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B574A3D-9991-4D4A-91DF-0D0DE47DB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5A56255-4961-41E1-887B-7319F23C90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uadros de diálogo en 3D">
            <a:extLst>
              <a:ext uri="{FF2B5EF4-FFF2-40B4-BE49-F238E27FC236}">
                <a16:creationId xmlns:a16="http://schemas.microsoft.com/office/drawing/2014/main" id="{680329EC-0F6E-4008-5A89-F4C6213FE507}"/>
              </a:ext>
            </a:extLst>
          </p:cNvPr>
          <p:cNvPicPr>
            <a:picLocks noChangeAspect="1"/>
          </p:cNvPicPr>
          <p:nvPr/>
        </p:nvPicPr>
        <p:blipFill>
          <a:blip r:embed="rId2"/>
          <a:srcRect l="17126" r="18149" b="2"/>
          <a:stretch/>
        </p:blipFill>
        <p:spPr>
          <a:xfrm>
            <a:off x="6859936" y="-2"/>
            <a:ext cx="5332064" cy="6858002"/>
          </a:xfrm>
          <a:prstGeom prst="rect">
            <a:avLst/>
          </a:prstGeom>
        </p:spPr>
      </p:pic>
    </p:spTree>
    <p:extLst>
      <p:ext uri="{BB962C8B-B14F-4D97-AF65-F5344CB8AC3E}">
        <p14:creationId xmlns:p14="http://schemas.microsoft.com/office/powerpoint/2010/main" val="857128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9405E2-1A96-4DBA-A9DC-4C2A1B421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CF4857D-F003-4CA1-82AB-00900B100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26072" cy="18040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uadros de diálogo verdes">
            <a:extLst>
              <a:ext uri="{FF2B5EF4-FFF2-40B4-BE49-F238E27FC236}">
                <a16:creationId xmlns:a16="http://schemas.microsoft.com/office/drawing/2014/main" id="{1C192075-2077-EAFF-322F-DB8659708B00}"/>
              </a:ext>
            </a:extLst>
          </p:cNvPr>
          <p:cNvPicPr>
            <a:picLocks noChangeAspect="1"/>
          </p:cNvPicPr>
          <p:nvPr/>
        </p:nvPicPr>
        <p:blipFill>
          <a:blip r:embed="rId2"/>
          <a:srcRect l="4426" r="10250" b="-4"/>
          <a:stretch/>
        </p:blipFill>
        <p:spPr>
          <a:xfrm>
            <a:off x="20" y="1804072"/>
            <a:ext cx="4458058" cy="4349801"/>
          </a:xfrm>
          <a:prstGeom prst="rect">
            <a:avLst/>
          </a:prstGeom>
        </p:spPr>
      </p:pic>
      <p:sp>
        <p:nvSpPr>
          <p:cNvPr id="13" name="Rectangle 12">
            <a:extLst>
              <a:ext uri="{FF2B5EF4-FFF2-40B4-BE49-F238E27FC236}">
                <a16:creationId xmlns:a16="http://schemas.microsoft.com/office/drawing/2014/main" id="{79855050-A75B-4DD0-9B56-8B1C7722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26076" y="0"/>
            <a:ext cx="7765922" cy="616761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432B832-42A6-D7AC-D6B3-BADE1636A84A}"/>
              </a:ext>
            </a:extLst>
          </p:cNvPr>
          <p:cNvSpPr>
            <a:spLocks noGrp="1"/>
          </p:cNvSpPr>
          <p:nvPr>
            <p:ph type="title"/>
          </p:nvPr>
        </p:nvSpPr>
        <p:spPr>
          <a:xfrm>
            <a:off x="4794634" y="332450"/>
            <a:ext cx="6754447" cy="1471622"/>
          </a:xfrm>
        </p:spPr>
        <p:txBody>
          <a:bodyPr anchor="b">
            <a:normAutofit/>
          </a:bodyPr>
          <a:lstStyle/>
          <a:p>
            <a:r>
              <a:rPr lang="es-ES" dirty="0"/>
              <a:t>VISIÓN GENERAL</a:t>
            </a:r>
            <a:endParaRPr lang="es-AR" dirty="0"/>
          </a:p>
        </p:txBody>
      </p:sp>
      <p:sp>
        <p:nvSpPr>
          <p:cNvPr id="15" name="Rectangle 14">
            <a:extLst>
              <a:ext uri="{FF2B5EF4-FFF2-40B4-BE49-F238E27FC236}">
                <a16:creationId xmlns:a16="http://schemas.microsoft.com/office/drawing/2014/main" id="{5E6738EB-6FF0-4AF9-8462-57F4494B8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753806"/>
            <a:ext cx="4425696"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37C9B36-E140-DDAA-F839-1059C8C1DD87}"/>
              </a:ext>
            </a:extLst>
          </p:cNvPr>
          <p:cNvSpPr>
            <a:spLocks noGrp="1"/>
          </p:cNvSpPr>
          <p:nvPr>
            <p:ph idx="1"/>
          </p:nvPr>
        </p:nvSpPr>
        <p:spPr>
          <a:xfrm>
            <a:off x="4794637" y="1940001"/>
            <a:ext cx="6754446" cy="3834594"/>
          </a:xfrm>
        </p:spPr>
        <p:txBody>
          <a:bodyPr anchor="t">
            <a:normAutofit/>
          </a:bodyPr>
          <a:lstStyle/>
          <a:p>
            <a:pPr rtl="0">
              <a:buNone/>
            </a:pPr>
            <a:r>
              <a:rPr lang="es-ES" sz="1700" b="0" i="0" u="none" strike="noStrike" dirty="0">
                <a:effectLst/>
                <a:latin typeface="Arial" panose="020B0604020202020204" pitchFamily="34" charset="0"/>
              </a:rPr>
              <a:t>En </a:t>
            </a:r>
            <a:r>
              <a:rPr lang="es-ES" sz="1700" b="0" i="0" u="none" strike="noStrike" dirty="0" err="1">
                <a:effectLst/>
                <a:latin typeface="Arial" panose="020B0604020202020204" pitchFamily="34" charset="0"/>
              </a:rPr>
              <a:t>linux</a:t>
            </a:r>
            <a:r>
              <a:rPr lang="es-ES" sz="1700" b="0" i="0" u="none" strike="noStrike" dirty="0">
                <a:effectLst/>
                <a:latin typeface="Arial" panose="020B0604020202020204" pitchFamily="34" charset="0"/>
              </a:rPr>
              <a:t> las colas de mensajes se llaman colas de mensajes </a:t>
            </a:r>
            <a:r>
              <a:rPr lang="es-ES" sz="1700" b="0" dirty="0">
                <a:latin typeface="Arial" panose="020B0604020202020204" pitchFamily="34" charset="0"/>
              </a:rPr>
              <a:t>POSIX</a:t>
            </a:r>
            <a:r>
              <a:rPr lang="es-ES" sz="1700" b="0" i="0" u="none" strike="noStrike" dirty="0">
                <a:effectLst/>
                <a:latin typeface="Arial" panose="020B0604020202020204" pitchFamily="34" charset="0"/>
              </a:rPr>
              <a:t> y permiten a los procesos </a:t>
            </a:r>
            <a:r>
              <a:rPr lang="es-ES" sz="1700" i="0" u="none" strike="noStrike" dirty="0">
                <a:effectLst/>
                <a:latin typeface="Arial" panose="020B0604020202020204" pitchFamily="34" charset="0"/>
              </a:rPr>
              <a:t>intercambiar</a:t>
            </a:r>
            <a:r>
              <a:rPr lang="es-ES" sz="1700" b="0" i="0" u="none" strike="noStrike" dirty="0">
                <a:effectLst/>
                <a:latin typeface="Arial" panose="020B0604020202020204" pitchFamily="34" charset="0"/>
              </a:rPr>
              <a:t> datos en forma de mensajes.</a:t>
            </a:r>
            <a:endParaRPr lang="es-ES" sz="1700" b="0" dirty="0">
              <a:effectLst/>
            </a:endParaRPr>
          </a:p>
          <a:p>
            <a:pPr rtl="0">
              <a:buNone/>
            </a:pPr>
            <a:br>
              <a:rPr lang="es-ES" sz="1700" dirty="0"/>
            </a:br>
            <a:r>
              <a:rPr lang="es-ES" sz="1700" b="0" i="0" u="none" strike="noStrike" dirty="0">
                <a:effectLst/>
                <a:latin typeface="Arial" panose="020B0604020202020204" pitchFamily="34" charset="0"/>
              </a:rPr>
              <a:t>Cada mensaje tiene una </a:t>
            </a:r>
            <a:r>
              <a:rPr lang="es-ES" sz="1700" i="0" u="none" strike="noStrike" dirty="0">
                <a:effectLst/>
                <a:latin typeface="Arial" panose="020B0604020202020204" pitchFamily="34" charset="0"/>
              </a:rPr>
              <a:t>prioridad</a:t>
            </a:r>
            <a:r>
              <a:rPr lang="es-ES" sz="1700" b="0" i="0" u="none" strike="noStrike" dirty="0">
                <a:effectLst/>
                <a:latin typeface="Arial" panose="020B0604020202020204" pitchFamily="34" charset="0"/>
              </a:rPr>
              <a:t> entera asociada, y los mensajes se ponen en cola y, por lo tanto, se reciben en orden de prioridad. También se pueden crear </a:t>
            </a:r>
            <a:r>
              <a:rPr lang="es-ES" sz="1700" i="0" u="none" strike="noStrike" dirty="0">
                <a:effectLst/>
                <a:latin typeface="Arial" panose="020B0604020202020204" pitchFamily="34" charset="0"/>
              </a:rPr>
              <a:t>notificaciones</a:t>
            </a:r>
            <a:r>
              <a:rPr lang="es-ES" sz="1700" b="0" i="0" u="none" strike="noStrike" dirty="0">
                <a:effectLst/>
                <a:latin typeface="Arial" panose="020B0604020202020204" pitchFamily="34" charset="0"/>
              </a:rPr>
              <a:t> para avisar que una cola de mensajes dejó de estar vacía, similar a las interrupciones.</a:t>
            </a:r>
            <a:endParaRPr lang="es-ES" sz="1700" b="0" dirty="0">
              <a:effectLst/>
            </a:endParaRPr>
          </a:p>
        </p:txBody>
      </p:sp>
      <p:sp>
        <p:nvSpPr>
          <p:cNvPr id="17" name="Rectangle 16">
            <a:extLst>
              <a:ext uri="{FF2B5EF4-FFF2-40B4-BE49-F238E27FC236}">
                <a16:creationId xmlns:a16="http://schemas.microsoft.com/office/drawing/2014/main" id="{DB791336-FCAA-4174-9303-B3F374861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49" y="6167615"/>
            <a:ext cx="12192001"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A212158-300D-44D0-9CCE-472C3F669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0942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88521F4-D44A-42C5-9BDB-5CA255540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4070"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6322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9405E2-1A96-4DBA-A9DC-4C2A1B421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186DD79-F4CA-4DD7-9C78-AC180665FA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495508"/>
            <a:ext cx="4426072" cy="436806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27F7C4A-D4ED-DDBF-A6D9-BE09090A4553}"/>
              </a:ext>
            </a:extLst>
          </p:cNvPr>
          <p:cNvSpPr>
            <a:spLocks noGrp="1"/>
          </p:cNvSpPr>
          <p:nvPr>
            <p:ph type="title"/>
          </p:nvPr>
        </p:nvSpPr>
        <p:spPr>
          <a:xfrm>
            <a:off x="642918" y="1952825"/>
            <a:ext cx="3411973" cy="3635693"/>
          </a:xfrm>
        </p:spPr>
        <p:txBody>
          <a:bodyPr>
            <a:normAutofit/>
          </a:bodyPr>
          <a:lstStyle/>
          <a:p>
            <a:r>
              <a:rPr lang="es-AR" sz="3100" dirty="0">
                <a:solidFill>
                  <a:schemeClr val="bg1"/>
                </a:solidFill>
              </a:rPr>
              <a:t>FUNCIONES PRINCIPALES</a:t>
            </a:r>
          </a:p>
        </p:txBody>
      </p:sp>
      <p:sp>
        <p:nvSpPr>
          <p:cNvPr id="12" name="Rectangle 11">
            <a:extLst>
              <a:ext uri="{FF2B5EF4-FFF2-40B4-BE49-F238E27FC236}">
                <a16:creationId xmlns:a16="http://schemas.microsoft.com/office/drawing/2014/main" id="{BCF4857D-F003-4CA1-82AB-00900B100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4426072" cy="1514475"/>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9855050-A75B-4DD0-9B56-8B1C7722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26076" y="1514475"/>
            <a:ext cx="7765922" cy="4356996"/>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E6738EB-6FF0-4AF9-8462-57F4494B8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1501324"/>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B791336-FCAA-4174-9303-B3F374861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51" y="5863306"/>
            <a:ext cx="12192001" cy="994694"/>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A212158-300D-44D0-9CCE-472C3F669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580746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88521F4-D44A-42C5-9BDB-5CA255540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4070"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E97949B-9172-B83C-1F2B-C59C2EC07DA8}"/>
              </a:ext>
            </a:extLst>
          </p:cNvPr>
          <p:cNvSpPr>
            <a:spLocks noGrp="1"/>
          </p:cNvSpPr>
          <p:nvPr>
            <p:ph idx="1"/>
          </p:nvPr>
        </p:nvSpPr>
        <p:spPr>
          <a:xfrm>
            <a:off x="5117909" y="1952825"/>
            <a:ext cx="6431173" cy="3635693"/>
          </a:xfrm>
        </p:spPr>
        <p:txBody>
          <a:bodyPr>
            <a:normAutofit lnSpcReduction="10000"/>
          </a:bodyPr>
          <a:lstStyle/>
          <a:p>
            <a:pPr marL="285750" indent="-285750" rtl="0" fontAlgn="base">
              <a:lnSpc>
                <a:spcPct val="130000"/>
              </a:lnSpc>
              <a:buFont typeface="Arial" panose="020B0604020202020204" pitchFamily="34" charset="0"/>
              <a:buChar char="•"/>
            </a:pPr>
            <a:r>
              <a:rPr lang="es-ES" sz="1700" b="0" i="0" u="none" strike="noStrike" dirty="0">
                <a:effectLst/>
                <a:latin typeface="Arial" panose="020B0604020202020204" pitchFamily="34" charset="0"/>
              </a:rPr>
              <a:t>“</a:t>
            </a:r>
            <a:r>
              <a:rPr lang="es-ES" sz="1700" b="0" i="0" u="none" strike="noStrike" dirty="0" err="1">
                <a:effectLst/>
                <a:latin typeface="Arial" panose="020B0604020202020204" pitchFamily="34" charset="0"/>
              </a:rPr>
              <a:t>mq_open</a:t>
            </a:r>
            <a:r>
              <a:rPr lang="es-ES" sz="1700" b="0" i="0" u="none" strike="noStrike" dirty="0">
                <a:effectLst/>
                <a:latin typeface="Arial" panose="020B0604020202020204" pitchFamily="34" charset="0"/>
              </a:rPr>
              <a:t>()” /* </a:t>
            </a:r>
            <a:r>
              <a:rPr lang="es-ES" sz="1700" i="0" u="none" strike="noStrike" dirty="0">
                <a:effectLst/>
                <a:latin typeface="Arial" panose="020B0604020202020204" pitchFamily="34" charset="0"/>
              </a:rPr>
              <a:t>crea</a:t>
            </a:r>
            <a:r>
              <a:rPr lang="es-ES" sz="1700" b="0" i="0" u="none" strike="noStrike" dirty="0">
                <a:effectLst/>
                <a:latin typeface="Arial" panose="020B0604020202020204" pitchFamily="34" charset="0"/>
              </a:rPr>
              <a:t> una cola de mensajes nueva o </a:t>
            </a:r>
            <a:r>
              <a:rPr lang="es-ES" sz="1700" i="0" u="none" strike="noStrike" dirty="0">
                <a:effectLst/>
                <a:latin typeface="Arial" panose="020B0604020202020204" pitchFamily="34" charset="0"/>
              </a:rPr>
              <a:t>abre</a:t>
            </a:r>
            <a:r>
              <a:rPr lang="es-ES" sz="1700" b="0" i="0" u="none" strike="noStrike" dirty="0">
                <a:effectLst/>
                <a:latin typeface="Arial" panose="020B0604020202020204" pitchFamily="34" charset="0"/>
              </a:rPr>
              <a:t> una existente. */</a:t>
            </a:r>
          </a:p>
          <a:p>
            <a:pPr marL="285750" indent="-285750" rtl="0" fontAlgn="base">
              <a:lnSpc>
                <a:spcPct val="130000"/>
              </a:lnSpc>
              <a:buFont typeface="Arial" panose="020B0604020202020204" pitchFamily="34" charset="0"/>
              <a:buChar char="•"/>
            </a:pPr>
            <a:r>
              <a:rPr lang="es-ES" sz="1700" b="0" i="0" u="none" strike="noStrike" dirty="0">
                <a:effectLst/>
                <a:latin typeface="Arial" panose="020B0604020202020204" pitchFamily="34" charset="0"/>
              </a:rPr>
              <a:t>“</a:t>
            </a:r>
            <a:r>
              <a:rPr lang="es-ES" sz="1700" b="0" i="0" u="none" strike="noStrike" dirty="0" err="1">
                <a:effectLst/>
                <a:latin typeface="Arial" panose="020B0604020202020204" pitchFamily="34" charset="0"/>
              </a:rPr>
              <a:t>mq_send</a:t>
            </a:r>
            <a:r>
              <a:rPr lang="es-ES" sz="1700" b="0" i="0" u="none" strike="noStrike" dirty="0">
                <a:effectLst/>
                <a:latin typeface="Arial" panose="020B0604020202020204" pitchFamily="34" charset="0"/>
              </a:rPr>
              <a:t>()” /* </a:t>
            </a:r>
            <a:r>
              <a:rPr lang="es-ES" sz="1700" i="0" u="none" strike="noStrike" dirty="0">
                <a:effectLst/>
                <a:latin typeface="Arial" panose="020B0604020202020204" pitchFamily="34" charset="0"/>
              </a:rPr>
              <a:t>escribe</a:t>
            </a:r>
            <a:r>
              <a:rPr lang="es-ES" sz="1700" b="0" i="0" u="none" strike="noStrike" dirty="0">
                <a:effectLst/>
                <a:latin typeface="Arial" panose="020B0604020202020204" pitchFamily="34" charset="0"/>
              </a:rPr>
              <a:t> un mensaje en la cola. */</a:t>
            </a:r>
          </a:p>
          <a:p>
            <a:pPr marL="285750" indent="-285750" rtl="0" fontAlgn="base">
              <a:lnSpc>
                <a:spcPct val="130000"/>
              </a:lnSpc>
              <a:buFont typeface="Arial" panose="020B0604020202020204" pitchFamily="34" charset="0"/>
              <a:buChar char="•"/>
            </a:pPr>
            <a:r>
              <a:rPr lang="es-ES" sz="1700" b="0" i="0" u="none" strike="noStrike" dirty="0">
                <a:effectLst/>
                <a:latin typeface="Arial" panose="020B0604020202020204" pitchFamily="34" charset="0"/>
              </a:rPr>
              <a:t>“</a:t>
            </a:r>
            <a:r>
              <a:rPr lang="es-ES" sz="1700" b="0" i="0" u="none" strike="noStrike" dirty="0" err="1">
                <a:effectLst/>
                <a:latin typeface="Arial" panose="020B0604020202020204" pitchFamily="34" charset="0"/>
              </a:rPr>
              <a:t>mq_receive</a:t>
            </a:r>
            <a:r>
              <a:rPr lang="es-ES" sz="1700" b="0" i="0" u="none" strike="noStrike" dirty="0">
                <a:effectLst/>
                <a:latin typeface="Arial" panose="020B0604020202020204" pitchFamily="34" charset="0"/>
              </a:rPr>
              <a:t>()” /* </a:t>
            </a:r>
            <a:r>
              <a:rPr lang="es-ES" sz="1700" i="0" u="none" strike="noStrike" dirty="0">
                <a:effectLst/>
                <a:latin typeface="Arial" panose="020B0604020202020204" pitchFamily="34" charset="0"/>
              </a:rPr>
              <a:t>lee</a:t>
            </a:r>
            <a:r>
              <a:rPr lang="es-ES" sz="1700" b="0" i="0" u="none" strike="noStrike" dirty="0">
                <a:effectLst/>
                <a:latin typeface="Arial" panose="020B0604020202020204" pitchFamily="34" charset="0"/>
              </a:rPr>
              <a:t> un mensaje desde la cola. */</a:t>
            </a:r>
          </a:p>
          <a:p>
            <a:pPr marL="285750" indent="-285750" rtl="0" fontAlgn="base">
              <a:lnSpc>
                <a:spcPct val="130000"/>
              </a:lnSpc>
              <a:buFont typeface="Arial" panose="020B0604020202020204" pitchFamily="34" charset="0"/>
              <a:buChar char="•"/>
            </a:pPr>
            <a:r>
              <a:rPr lang="es-ES" sz="1700" b="0" i="0" u="none" strike="noStrike" dirty="0">
                <a:effectLst/>
                <a:latin typeface="Arial" panose="020B0604020202020204" pitchFamily="34" charset="0"/>
              </a:rPr>
              <a:t>“</a:t>
            </a:r>
            <a:r>
              <a:rPr lang="es-ES" sz="1700" b="0" i="0" u="none" strike="noStrike" dirty="0" err="1">
                <a:effectLst/>
                <a:latin typeface="Arial" panose="020B0604020202020204" pitchFamily="34" charset="0"/>
              </a:rPr>
              <a:t>mq_close</a:t>
            </a:r>
            <a:r>
              <a:rPr lang="es-ES" sz="1700" b="0" i="0" u="none" strike="noStrike" dirty="0">
                <a:effectLst/>
                <a:latin typeface="Arial" panose="020B0604020202020204" pitchFamily="34" charset="0"/>
              </a:rPr>
              <a:t>()” /* </a:t>
            </a:r>
            <a:r>
              <a:rPr lang="es-ES" sz="1700" i="0" u="none" strike="noStrike" dirty="0">
                <a:effectLst/>
                <a:latin typeface="Arial" panose="020B0604020202020204" pitchFamily="34" charset="0"/>
              </a:rPr>
              <a:t>cierra</a:t>
            </a:r>
            <a:r>
              <a:rPr lang="es-ES" sz="1700" b="0" i="0" u="none" strike="noStrike" dirty="0">
                <a:effectLst/>
                <a:latin typeface="Arial" panose="020B0604020202020204" pitchFamily="34" charset="0"/>
              </a:rPr>
              <a:t> una cola de mensajes que un proceso abrió previamente. */</a:t>
            </a:r>
          </a:p>
          <a:p>
            <a:pPr marL="285750" indent="-285750" rtl="0" fontAlgn="base">
              <a:lnSpc>
                <a:spcPct val="130000"/>
              </a:lnSpc>
              <a:buFont typeface="Arial" panose="020B0604020202020204" pitchFamily="34" charset="0"/>
              <a:buChar char="•"/>
            </a:pPr>
            <a:r>
              <a:rPr lang="es-ES" sz="1700" b="0" i="0" u="none" strike="noStrike" dirty="0">
                <a:effectLst/>
                <a:latin typeface="Arial" panose="020B0604020202020204" pitchFamily="34" charset="0"/>
              </a:rPr>
              <a:t>“</a:t>
            </a:r>
            <a:r>
              <a:rPr lang="es-ES" sz="1700" b="0" i="0" u="none" strike="noStrike" dirty="0" err="1">
                <a:effectLst/>
                <a:latin typeface="Arial" panose="020B0604020202020204" pitchFamily="34" charset="0"/>
              </a:rPr>
              <a:t>mq_unlink</a:t>
            </a:r>
            <a:r>
              <a:rPr lang="es-ES" sz="1700" b="0" i="0" u="none" strike="noStrike" dirty="0">
                <a:effectLst/>
                <a:latin typeface="Arial" panose="020B0604020202020204" pitchFamily="34" charset="0"/>
              </a:rPr>
              <a:t>()” /* </a:t>
            </a:r>
            <a:r>
              <a:rPr lang="es-ES" sz="1700" i="0" u="none" strike="noStrike" dirty="0">
                <a:effectLst/>
                <a:latin typeface="Arial" panose="020B0604020202020204" pitchFamily="34" charset="0"/>
              </a:rPr>
              <a:t>elimina</a:t>
            </a:r>
            <a:r>
              <a:rPr lang="es-ES" sz="1700" b="0" i="0" u="none" strike="noStrike" dirty="0">
                <a:effectLst/>
                <a:latin typeface="Arial" panose="020B0604020202020204" pitchFamily="34" charset="0"/>
              </a:rPr>
              <a:t> un nombre de cola de mensajes y marca la cola para su eliminación cuando todos los procesos la han cerrado. */</a:t>
            </a:r>
          </a:p>
          <a:p>
            <a:pPr>
              <a:lnSpc>
                <a:spcPct val="130000"/>
              </a:lnSpc>
            </a:pPr>
            <a:endParaRPr lang="es-AR" sz="1500" dirty="0"/>
          </a:p>
        </p:txBody>
      </p:sp>
    </p:spTree>
    <p:extLst>
      <p:ext uri="{BB962C8B-B14F-4D97-AF65-F5344CB8AC3E}">
        <p14:creationId xmlns:p14="http://schemas.microsoft.com/office/powerpoint/2010/main" val="2315041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9405E2-1A96-4DBA-A9DC-4C2A1B421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932FF329-3A87-4F66-BA01-91CD63C81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4420926" cy="68381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Recipientes plásticos en colores brillantes">
            <a:extLst>
              <a:ext uri="{FF2B5EF4-FFF2-40B4-BE49-F238E27FC236}">
                <a16:creationId xmlns:a16="http://schemas.microsoft.com/office/drawing/2014/main" id="{82F09F65-2F4B-8FC7-5A15-540670EE7E0D}"/>
              </a:ext>
            </a:extLst>
          </p:cNvPr>
          <p:cNvPicPr>
            <a:picLocks noChangeAspect="1"/>
          </p:cNvPicPr>
          <p:nvPr/>
        </p:nvPicPr>
        <p:blipFill>
          <a:blip r:embed="rId2"/>
          <a:srcRect l="21171" r="23617"/>
          <a:stretch/>
        </p:blipFill>
        <p:spPr>
          <a:xfrm>
            <a:off x="20" y="719747"/>
            <a:ext cx="4458058" cy="5389675"/>
          </a:xfrm>
          <a:prstGeom prst="rect">
            <a:avLst/>
          </a:prstGeom>
        </p:spPr>
      </p:pic>
      <p:sp>
        <p:nvSpPr>
          <p:cNvPr id="13" name="Rectangle 12">
            <a:extLst>
              <a:ext uri="{FF2B5EF4-FFF2-40B4-BE49-F238E27FC236}">
                <a16:creationId xmlns:a16="http://schemas.microsoft.com/office/drawing/2014/main" id="{BCF4857D-F003-4CA1-82AB-00900B100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146359"/>
            <a:ext cx="4426072" cy="71164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9855050-A75B-4DD0-9B56-8B1C7722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26076" y="748578"/>
            <a:ext cx="7765922" cy="541903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C4EBBA-4915-8B6A-2D6B-B9EDA4BF3660}"/>
              </a:ext>
            </a:extLst>
          </p:cNvPr>
          <p:cNvSpPr>
            <a:spLocks noGrp="1"/>
          </p:cNvSpPr>
          <p:nvPr>
            <p:ph type="title"/>
          </p:nvPr>
        </p:nvSpPr>
        <p:spPr>
          <a:xfrm>
            <a:off x="4919472" y="1056362"/>
            <a:ext cx="6627226" cy="1154102"/>
          </a:xfrm>
        </p:spPr>
        <p:txBody>
          <a:bodyPr>
            <a:normAutofit/>
          </a:bodyPr>
          <a:lstStyle/>
          <a:p>
            <a:r>
              <a:rPr lang="es-ES" dirty="0"/>
              <a:t>CARACTERÍSTICAS</a:t>
            </a:r>
            <a:endParaRPr lang="es-AR" dirty="0"/>
          </a:p>
        </p:txBody>
      </p:sp>
      <p:sp>
        <p:nvSpPr>
          <p:cNvPr id="17" name="Rectangle 16">
            <a:extLst>
              <a:ext uri="{FF2B5EF4-FFF2-40B4-BE49-F238E27FC236}">
                <a16:creationId xmlns:a16="http://schemas.microsoft.com/office/drawing/2014/main" id="{5E6738EB-6FF0-4AF9-8462-57F4494B8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8774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DA61900-3FD1-776A-F1A5-529EABF0C093}"/>
              </a:ext>
            </a:extLst>
          </p:cNvPr>
          <p:cNvSpPr>
            <a:spLocks noGrp="1"/>
          </p:cNvSpPr>
          <p:nvPr>
            <p:ph idx="1"/>
          </p:nvPr>
        </p:nvSpPr>
        <p:spPr>
          <a:xfrm>
            <a:off x="4921857" y="2268655"/>
            <a:ext cx="6627226" cy="3834953"/>
          </a:xfrm>
        </p:spPr>
        <p:txBody>
          <a:bodyPr anchor="t">
            <a:normAutofit fontScale="85000" lnSpcReduction="20000"/>
          </a:bodyPr>
          <a:lstStyle/>
          <a:p>
            <a:pPr marL="285750" indent="-285750" rtl="0" fontAlgn="base">
              <a:lnSpc>
                <a:spcPct val="130000"/>
              </a:lnSpc>
              <a:buFont typeface="Arial" panose="020B0604020202020204" pitchFamily="34" charset="0"/>
              <a:buChar char="•"/>
            </a:pPr>
            <a:r>
              <a:rPr lang="es-ES" sz="2000" b="0" i="0" u="none" strike="noStrike" dirty="0">
                <a:effectLst/>
                <a:latin typeface="Arial" panose="020B0604020202020204" pitchFamily="34" charset="0"/>
              </a:rPr>
              <a:t>Cada cola de mensajes tiene un conjunto asociado de </a:t>
            </a:r>
            <a:r>
              <a:rPr lang="es-ES" sz="2000" i="0" u="none" strike="noStrike" dirty="0">
                <a:effectLst/>
                <a:latin typeface="Arial" panose="020B0604020202020204" pitchFamily="34" charset="0"/>
              </a:rPr>
              <a:t>atributos</a:t>
            </a:r>
            <a:r>
              <a:rPr lang="es-ES" sz="2000" b="0" i="0" u="none" strike="noStrike" dirty="0">
                <a:effectLst/>
                <a:latin typeface="Arial" panose="020B0604020202020204" pitchFamily="34" charset="0"/>
              </a:rPr>
              <a:t>. Algunos de estos atributos se pueden establecer cuando se crea o se abre la cola mediante </a:t>
            </a:r>
            <a:r>
              <a:rPr lang="es-ES" sz="2000" b="0" i="0" u="none" strike="noStrike" dirty="0" err="1">
                <a:effectLst/>
                <a:latin typeface="Arial" panose="020B0604020202020204" pitchFamily="34" charset="0"/>
              </a:rPr>
              <a:t>mq_open</a:t>
            </a:r>
            <a:r>
              <a:rPr lang="es-ES" sz="2000" b="0" i="0" u="none" strike="noStrike" dirty="0">
                <a:effectLst/>
                <a:latin typeface="Arial" panose="020B0604020202020204" pitchFamily="34" charset="0"/>
              </a:rPr>
              <a:t>(). Se proporcionan dos funciones para </a:t>
            </a:r>
            <a:r>
              <a:rPr lang="es-ES" sz="2000" i="0" u="none" strike="noStrike" dirty="0">
                <a:effectLst/>
                <a:latin typeface="Arial" panose="020B0604020202020204" pitchFamily="34" charset="0"/>
              </a:rPr>
              <a:t>recuperar</a:t>
            </a:r>
            <a:r>
              <a:rPr lang="es-ES" sz="2000" b="0" i="0" u="none" strike="noStrike" dirty="0">
                <a:effectLst/>
                <a:latin typeface="Arial" panose="020B0604020202020204" pitchFamily="34" charset="0"/>
              </a:rPr>
              <a:t> y </a:t>
            </a:r>
            <a:r>
              <a:rPr lang="es-ES" sz="2000" i="0" u="none" strike="noStrike" dirty="0">
                <a:effectLst/>
                <a:latin typeface="Arial" panose="020B0604020202020204" pitchFamily="34" charset="0"/>
              </a:rPr>
              <a:t>cambiar</a:t>
            </a:r>
            <a:r>
              <a:rPr lang="es-ES" sz="2000" b="0" i="0" u="none" strike="noStrike" dirty="0">
                <a:effectLst/>
                <a:latin typeface="Arial" panose="020B0604020202020204" pitchFamily="34" charset="0"/>
              </a:rPr>
              <a:t> los atributos de la cola: “</a:t>
            </a:r>
            <a:r>
              <a:rPr lang="es-ES" sz="2000" b="0" i="0" u="none" strike="noStrike" dirty="0" err="1">
                <a:effectLst/>
                <a:latin typeface="Arial" panose="020B0604020202020204" pitchFamily="34" charset="0"/>
              </a:rPr>
              <a:t>mq_getattr</a:t>
            </a:r>
            <a:r>
              <a:rPr lang="es-ES" sz="2000" b="0" i="0" u="none" strike="noStrike" dirty="0">
                <a:effectLst/>
                <a:latin typeface="Arial" panose="020B0604020202020204" pitchFamily="34" charset="0"/>
              </a:rPr>
              <a:t>()” and “</a:t>
            </a:r>
            <a:r>
              <a:rPr lang="es-ES" sz="2000" b="0" i="0" u="none" strike="noStrike" dirty="0" err="1">
                <a:effectLst/>
                <a:latin typeface="Arial" panose="020B0604020202020204" pitchFamily="34" charset="0"/>
              </a:rPr>
              <a:t>mq_setattr</a:t>
            </a:r>
            <a:r>
              <a:rPr lang="es-ES" sz="2000" b="0" i="0" u="none" strike="noStrike" dirty="0">
                <a:effectLst/>
                <a:latin typeface="Arial" panose="020B0604020202020204" pitchFamily="34" charset="0"/>
              </a:rPr>
              <a:t>()”.</a:t>
            </a:r>
          </a:p>
          <a:p>
            <a:pPr marL="285750" indent="-285750" rtl="0" fontAlgn="base">
              <a:lnSpc>
                <a:spcPct val="130000"/>
              </a:lnSpc>
              <a:buFont typeface="Arial" panose="020B0604020202020204" pitchFamily="34" charset="0"/>
              <a:buChar char="•"/>
            </a:pPr>
            <a:r>
              <a:rPr lang="es-ES" sz="2000" b="0" i="0" u="none" strike="noStrike" dirty="0">
                <a:effectLst/>
                <a:latin typeface="Arial" panose="020B0604020202020204" pitchFamily="34" charset="0"/>
              </a:rPr>
              <a:t>La función </a:t>
            </a:r>
            <a:r>
              <a:rPr lang="es-ES" sz="2000" b="0" i="0" u="none" strike="noStrike" dirty="0" err="1">
                <a:effectLst/>
                <a:latin typeface="Arial" panose="020B0604020202020204" pitchFamily="34" charset="0"/>
              </a:rPr>
              <a:t>mq_notify</a:t>
            </a:r>
            <a:r>
              <a:rPr lang="es-ES" sz="2000" b="0" i="0" u="none" strike="noStrike" dirty="0">
                <a:effectLst/>
                <a:latin typeface="Arial" panose="020B0604020202020204" pitchFamily="34" charset="0"/>
              </a:rPr>
              <a:t>() permite que un proceso se registre para la </a:t>
            </a:r>
            <a:r>
              <a:rPr lang="es-ES" sz="2000" i="0" u="none" strike="noStrike" dirty="0">
                <a:effectLst/>
                <a:latin typeface="Arial" panose="020B0604020202020204" pitchFamily="34" charset="0"/>
              </a:rPr>
              <a:t>notificación</a:t>
            </a:r>
            <a:r>
              <a:rPr lang="es-ES" sz="2000" b="0" i="0" u="none" strike="noStrike" dirty="0">
                <a:effectLst/>
                <a:latin typeface="Arial" panose="020B0604020202020204" pitchFamily="34" charset="0"/>
              </a:rPr>
              <a:t> de mensajes de una cola. Después de registrarse, el proceso es notificado de la disponibilidad de un mensaje mediante la entrega de una señal o mediante la invocación de una función en un hilo separado.</a:t>
            </a:r>
          </a:p>
          <a:p>
            <a:pPr>
              <a:lnSpc>
                <a:spcPct val="130000"/>
              </a:lnSpc>
            </a:pPr>
            <a:endParaRPr lang="es-AR" sz="1500" dirty="0"/>
          </a:p>
        </p:txBody>
      </p:sp>
      <p:sp>
        <p:nvSpPr>
          <p:cNvPr id="19" name="Rectangle 18">
            <a:extLst>
              <a:ext uri="{FF2B5EF4-FFF2-40B4-BE49-F238E27FC236}">
                <a16:creationId xmlns:a16="http://schemas.microsoft.com/office/drawing/2014/main" id="{DB791336-FCAA-4174-9303-B3F374861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94069" y="6167615"/>
            <a:ext cx="7794882"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A212158-300D-44D0-9CCE-472C3F669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0942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88521F4-D44A-42C5-9BDB-5CA255540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4070"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3400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F04D67-36D5-66E6-2763-641A673629BA}"/>
              </a:ext>
            </a:extLst>
          </p:cNvPr>
          <p:cNvSpPr>
            <a:spLocks noGrp="1"/>
          </p:cNvSpPr>
          <p:nvPr>
            <p:ph type="title"/>
          </p:nvPr>
        </p:nvSpPr>
        <p:spPr/>
        <p:txBody>
          <a:bodyPr/>
          <a:lstStyle/>
          <a:p>
            <a:r>
              <a:rPr lang="es-AR" sz="3100" dirty="0">
                <a:solidFill>
                  <a:schemeClr val="tx1"/>
                </a:solidFill>
              </a:rPr>
              <a:t>FUNCIONES/ APERTURA</a:t>
            </a:r>
          </a:p>
        </p:txBody>
      </p:sp>
      <p:pic>
        <p:nvPicPr>
          <p:cNvPr id="1034" name="Picture 10">
            <a:extLst>
              <a:ext uri="{FF2B5EF4-FFF2-40B4-BE49-F238E27FC236}">
                <a16:creationId xmlns:a16="http://schemas.microsoft.com/office/drawing/2014/main" id="{A236DB59-19E9-01F4-BA8F-652665AE0E3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376882" y="705113"/>
            <a:ext cx="6172200" cy="1488936"/>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8302114C-7AE0-29ED-A292-149A3B7B1302}"/>
              </a:ext>
            </a:extLst>
          </p:cNvPr>
          <p:cNvSpPr txBox="1"/>
          <p:nvPr/>
        </p:nvSpPr>
        <p:spPr>
          <a:xfrm>
            <a:off x="5139559" y="2538248"/>
            <a:ext cx="6526924" cy="1200329"/>
          </a:xfrm>
          <a:prstGeom prst="rect">
            <a:avLst/>
          </a:prstGeom>
          <a:noFill/>
        </p:spPr>
        <p:txBody>
          <a:bodyPr wrap="square" rtlCol="0">
            <a:spAutoFit/>
          </a:bodyPr>
          <a:lstStyle/>
          <a:p>
            <a:pPr marL="285750" indent="-285750">
              <a:buFont typeface="Arial" panose="020B0604020202020204" pitchFamily="34" charset="0"/>
              <a:buChar char="•"/>
            </a:pPr>
            <a:r>
              <a:rPr lang="es-ES" sz="1800" b="0" i="0" u="none" strike="noStrike" dirty="0">
                <a:solidFill>
                  <a:srgbClr val="000000"/>
                </a:solidFill>
                <a:effectLst/>
                <a:latin typeface="Arial" panose="020B0604020202020204" pitchFamily="34" charset="0"/>
              </a:rPr>
              <a:t>El </a:t>
            </a:r>
            <a:r>
              <a:rPr lang="es-ES" sz="1800" b="1" i="0" u="none" strike="noStrike" dirty="0">
                <a:solidFill>
                  <a:srgbClr val="000000"/>
                </a:solidFill>
                <a:effectLst/>
                <a:latin typeface="Arial" panose="020B0604020202020204" pitchFamily="34" charset="0"/>
              </a:rPr>
              <a:t>argumento</a:t>
            </a:r>
            <a:r>
              <a:rPr lang="es-ES" sz="1800" b="0" i="0" u="none" strike="noStrike" dirty="0">
                <a:solidFill>
                  <a:srgbClr val="000000"/>
                </a:solidFill>
                <a:effectLst/>
                <a:latin typeface="Arial" panose="020B0604020202020204" pitchFamily="34" charset="0"/>
              </a:rPr>
              <a:t> “</a:t>
            </a:r>
            <a:r>
              <a:rPr lang="es-ES" sz="1800" b="0" i="0" u="none" strike="noStrike" dirty="0" err="1">
                <a:solidFill>
                  <a:srgbClr val="000000"/>
                </a:solidFill>
                <a:effectLst/>
                <a:latin typeface="Arial" panose="020B0604020202020204" pitchFamily="34" charset="0"/>
              </a:rPr>
              <a:t>name</a:t>
            </a:r>
            <a:r>
              <a:rPr lang="es-ES" sz="1800" b="0" i="0" u="none" strike="noStrike" dirty="0">
                <a:solidFill>
                  <a:srgbClr val="000000"/>
                </a:solidFill>
                <a:effectLst/>
                <a:latin typeface="Arial" panose="020B0604020202020204" pitchFamily="34" charset="0"/>
              </a:rPr>
              <a:t>” identifica la cola de mensajes.</a:t>
            </a:r>
          </a:p>
          <a:p>
            <a:pPr marL="285750" indent="-285750">
              <a:buFont typeface="Arial" panose="020B0604020202020204" pitchFamily="34" charset="0"/>
              <a:buChar char="•"/>
            </a:pPr>
            <a:r>
              <a:rPr lang="es-ES" sz="1800" b="0" i="0" u="none" strike="noStrike" dirty="0">
                <a:solidFill>
                  <a:srgbClr val="000000"/>
                </a:solidFill>
                <a:effectLst/>
                <a:latin typeface="Arial" panose="020B0604020202020204" pitchFamily="34" charset="0"/>
              </a:rPr>
              <a:t>El </a:t>
            </a:r>
            <a:r>
              <a:rPr lang="es-ES" sz="1800" b="1" i="0" u="none" strike="noStrike" dirty="0">
                <a:solidFill>
                  <a:srgbClr val="000000"/>
                </a:solidFill>
                <a:effectLst/>
                <a:latin typeface="Arial" panose="020B0604020202020204" pitchFamily="34" charset="0"/>
              </a:rPr>
              <a:t>argumento</a:t>
            </a:r>
            <a:r>
              <a:rPr lang="es-ES" sz="1800" b="0" i="0" u="none" strike="noStrike" dirty="0">
                <a:solidFill>
                  <a:srgbClr val="000000"/>
                </a:solidFill>
                <a:effectLst/>
                <a:latin typeface="Arial" panose="020B0604020202020204" pitchFamily="34" charset="0"/>
              </a:rPr>
              <a:t> </a:t>
            </a:r>
            <a:r>
              <a:rPr lang="es-ES" sz="1800" b="0" i="0" u="none" strike="noStrike" dirty="0" err="1">
                <a:solidFill>
                  <a:srgbClr val="000000"/>
                </a:solidFill>
                <a:effectLst/>
                <a:latin typeface="Arial" panose="020B0604020202020204" pitchFamily="34" charset="0"/>
              </a:rPr>
              <a:t>oflag</a:t>
            </a:r>
            <a:r>
              <a:rPr lang="es-ES" sz="1800" b="0" i="0" u="none" strike="noStrike" dirty="0">
                <a:solidFill>
                  <a:srgbClr val="000000"/>
                </a:solidFill>
                <a:effectLst/>
                <a:latin typeface="Arial" panose="020B0604020202020204" pitchFamily="34" charset="0"/>
              </a:rPr>
              <a:t> es una máscara de bits que controla varios aspectos de la operación </a:t>
            </a:r>
            <a:r>
              <a:rPr lang="es-ES" sz="1800" b="0" i="0" u="none" strike="noStrike" dirty="0" err="1">
                <a:solidFill>
                  <a:srgbClr val="000000"/>
                </a:solidFill>
                <a:effectLst/>
                <a:latin typeface="Arial" panose="020B0604020202020204" pitchFamily="34" charset="0"/>
              </a:rPr>
              <a:t>ofmq_open</a:t>
            </a:r>
            <a:r>
              <a:rPr lang="es-ES" sz="1800" b="0" i="0" u="none" strike="noStrike" dirty="0">
                <a:solidFill>
                  <a:srgbClr val="000000"/>
                </a:solidFill>
                <a:effectLst/>
                <a:latin typeface="Arial" panose="020B0604020202020204" pitchFamily="34" charset="0"/>
              </a:rPr>
              <a:t>().</a:t>
            </a:r>
            <a:endParaRPr lang="es-ES" dirty="0">
              <a:solidFill>
                <a:srgbClr val="000000"/>
              </a:solidFill>
              <a:latin typeface="Arial" panose="020B0604020202020204" pitchFamily="34" charset="0"/>
            </a:endParaRPr>
          </a:p>
          <a:p>
            <a:pPr marL="285750" indent="-285750">
              <a:buFont typeface="Arial" panose="020B0604020202020204" pitchFamily="34" charset="0"/>
              <a:buChar char="•"/>
            </a:pPr>
            <a:endParaRPr lang="es-AR" dirty="0"/>
          </a:p>
        </p:txBody>
      </p:sp>
      <p:pic>
        <p:nvPicPr>
          <p:cNvPr id="6" name="Imagen 5">
            <a:extLst>
              <a:ext uri="{FF2B5EF4-FFF2-40B4-BE49-F238E27FC236}">
                <a16:creationId xmlns:a16="http://schemas.microsoft.com/office/drawing/2014/main" id="{8F336F0B-0CF7-E8D5-6841-198AA83A9E8F}"/>
              </a:ext>
            </a:extLst>
          </p:cNvPr>
          <p:cNvPicPr>
            <a:picLocks noChangeAspect="1"/>
          </p:cNvPicPr>
          <p:nvPr/>
        </p:nvPicPr>
        <p:blipFill>
          <a:blip r:embed="rId4"/>
          <a:stretch>
            <a:fillRect/>
          </a:stretch>
        </p:blipFill>
        <p:spPr>
          <a:xfrm>
            <a:off x="5626483" y="3500931"/>
            <a:ext cx="5553075" cy="3105150"/>
          </a:xfrm>
          <a:prstGeom prst="rect">
            <a:avLst/>
          </a:prstGeom>
        </p:spPr>
      </p:pic>
    </p:spTree>
    <p:extLst>
      <p:ext uri="{BB962C8B-B14F-4D97-AF65-F5344CB8AC3E}">
        <p14:creationId xmlns:p14="http://schemas.microsoft.com/office/powerpoint/2010/main" val="864791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D3E23A-FE1F-8F20-C71C-52FEF9343A19}"/>
              </a:ext>
            </a:extLst>
          </p:cNvPr>
          <p:cNvSpPr>
            <a:spLocks noGrp="1"/>
          </p:cNvSpPr>
          <p:nvPr>
            <p:ph type="title"/>
          </p:nvPr>
        </p:nvSpPr>
        <p:spPr/>
        <p:txBody>
          <a:bodyPr>
            <a:normAutofit/>
          </a:bodyPr>
          <a:lstStyle/>
          <a:p>
            <a:r>
              <a:rPr lang="es-AR" sz="3100" dirty="0">
                <a:solidFill>
                  <a:schemeClr val="tx1"/>
                </a:solidFill>
              </a:rPr>
              <a:t>FUNCIONES/ APERTURA</a:t>
            </a:r>
            <a:endParaRPr lang="es-AR" sz="3100" dirty="0"/>
          </a:p>
        </p:txBody>
      </p:sp>
      <p:sp>
        <p:nvSpPr>
          <p:cNvPr id="3" name="Marcador de contenido 2">
            <a:extLst>
              <a:ext uri="{FF2B5EF4-FFF2-40B4-BE49-F238E27FC236}">
                <a16:creationId xmlns:a16="http://schemas.microsoft.com/office/drawing/2014/main" id="{E6D6A298-D910-7401-A057-1BCE2F931E12}"/>
              </a:ext>
            </a:extLst>
          </p:cNvPr>
          <p:cNvSpPr>
            <a:spLocks noGrp="1"/>
          </p:cNvSpPr>
          <p:nvPr>
            <p:ph idx="1"/>
          </p:nvPr>
        </p:nvSpPr>
        <p:spPr/>
        <p:txBody>
          <a:bodyPr>
            <a:normAutofit/>
          </a:bodyPr>
          <a:lstStyle/>
          <a:p>
            <a:pPr marL="285750" indent="-285750" rtl="0" fontAlgn="base">
              <a:buFont typeface="Arial" panose="020B0604020202020204" pitchFamily="34" charset="0"/>
              <a:buChar char="•"/>
            </a:pPr>
            <a:r>
              <a:rPr lang="es-ES" sz="1800" b="0" i="0" u="none" strike="noStrike" dirty="0">
                <a:solidFill>
                  <a:srgbClr val="000000"/>
                </a:solidFill>
                <a:effectLst/>
                <a:latin typeface="Arial" panose="020B0604020202020204" pitchFamily="34" charset="0"/>
              </a:rPr>
              <a:t>El valor de marca </a:t>
            </a:r>
            <a:r>
              <a:rPr lang="es-ES" sz="1800" i="0" u="none" strike="noStrike" dirty="0">
                <a:solidFill>
                  <a:srgbClr val="000000"/>
                </a:solidFill>
                <a:effectLst/>
                <a:latin typeface="Arial" panose="020B0604020202020204" pitchFamily="34" charset="0"/>
              </a:rPr>
              <a:t>O_NONBLOCK</a:t>
            </a:r>
            <a:r>
              <a:rPr lang="es-ES" sz="1800" b="0" i="0" u="none" strike="noStrike" dirty="0">
                <a:solidFill>
                  <a:srgbClr val="000000"/>
                </a:solidFill>
                <a:effectLst/>
                <a:latin typeface="Arial" panose="020B0604020202020204" pitchFamily="34" charset="0"/>
              </a:rPr>
              <a:t>, hace que la cola se abra en modo sin bloqueo. Si una llamada posterior a </a:t>
            </a:r>
            <a:r>
              <a:rPr lang="es-ES" sz="1800" b="0" i="0" u="none" strike="noStrike" dirty="0" err="1">
                <a:solidFill>
                  <a:srgbClr val="000000"/>
                </a:solidFill>
                <a:effectLst/>
                <a:latin typeface="Arial" panose="020B0604020202020204" pitchFamily="34" charset="0"/>
              </a:rPr>
              <a:t>mq_receive</a:t>
            </a:r>
            <a:r>
              <a:rPr lang="es-ES" sz="1800" b="0" i="0" u="none" strike="noStrike" dirty="0">
                <a:solidFill>
                  <a:srgbClr val="000000"/>
                </a:solidFill>
                <a:effectLst/>
                <a:latin typeface="Arial" panose="020B0604020202020204" pitchFamily="34" charset="0"/>
              </a:rPr>
              <a:t>() o </a:t>
            </a:r>
            <a:r>
              <a:rPr lang="es-ES" sz="1800" b="0" i="0" u="none" strike="noStrike" dirty="0" err="1">
                <a:solidFill>
                  <a:srgbClr val="000000"/>
                </a:solidFill>
                <a:effectLst/>
                <a:latin typeface="Arial" panose="020B0604020202020204" pitchFamily="34" charset="0"/>
              </a:rPr>
              <a:t>mq_send</a:t>
            </a:r>
            <a:r>
              <a:rPr lang="es-ES" sz="1800" b="0" i="0" u="none" strike="noStrike" dirty="0">
                <a:solidFill>
                  <a:srgbClr val="000000"/>
                </a:solidFill>
                <a:effectLst/>
                <a:latin typeface="Arial" panose="020B0604020202020204" pitchFamily="34" charset="0"/>
              </a:rPr>
              <a:t>() no se puede realizar sin bloquear, la llamada fallará inmediatamente con el error EAGAIN. O_NONBLOCK, determina si la E/S no está bloqueando.</a:t>
            </a:r>
            <a:r>
              <a:rPr lang="es-AR" sz="1800" b="0" i="0" u="none" strike="noStrike" dirty="0">
                <a:solidFill>
                  <a:srgbClr val="000000"/>
                </a:solidFill>
                <a:effectLst/>
                <a:latin typeface="Arial" panose="020B0604020202020204" pitchFamily="34" charset="0"/>
              </a:rPr>
              <a:t> (bloqueo se refiere a esperar).</a:t>
            </a:r>
          </a:p>
          <a:p>
            <a:pPr marL="285750" indent="-285750" rtl="0" fontAlgn="base">
              <a:buFont typeface="Arial" panose="020B0604020202020204" pitchFamily="34" charset="0"/>
              <a:buChar char="•"/>
            </a:pPr>
            <a:r>
              <a:rPr lang="es-AR" b="0" dirty="0">
                <a:solidFill>
                  <a:srgbClr val="000000"/>
                </a:solidFill>
                <a:latin typeface="Arial" panose="020B0604020202020204" pitchFamily="34" charset="0"/>
              </a:rPr>
              <a:t>Si solo se requiere </a:t>
            </a:r>
            <a:r>
              <a:rPr lang="es-AR" dirty="0">
                <a:solidFill>
                  <a:srgbClr val="000000"/>
                </a:solidFill>
                <a:latin typeface="Arial" panose="020B0604020202020204" pitchFamily="34" charset="0"/>
              </a:rPr>
              <a:t>abrir</a:t>
            </a:r>
            <a:r>
              <a:rPr lang="es-AR" b="0" dirty="0">
                <a:solidFill>
                  <a:srgbClr val="000000"/>
                </a:solidFill>
                <a:latin typeface="Arial" panose="020B0604020202020204" pitchFamily="34" charset="0"/>
              </a:rPr>
              <a:t> una cola existente, entonces, solo se requiere estos atributos.</a:t>
            </a:r>
            <a:endParaRPr lang="es-ES" sz="18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644350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099405E2-1A96-4DBA-A9DC-4C2A1B421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57" name="Rectangle 2056">
            <a:extLst>
              <a:ext uri="{FF2B5EF4-FFF2-40B4-BE49-F238E27FC236}">
                <a16:creationId xmlns:a16="http://schemas.microsoft.com/office/drawing/2014/main" id="{932FF329-3A87-4F66-BA01-91CD63C81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4420926" cy="68381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F1365519-42E6-F97F-AFB6-BB2BD70464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765" r="4570" b="-1"/>
          <a:stretch/>
        </p:blipFill>
        <p:spPr bwMode="auto">
          <a:xfrm>
            <a:off x="20" y="719747"/>
            <a:ext cx="4458058" cy="5389675"/>
          </a:xfrm>
          <a:prstGeom prst="rect">
            <a:avLst/>
          </a:prstGeom>
          <a:noFill/>
          <a:extLst>
            <a:ext uri="{909E8E84-426E-40DD-AFC4-6F175D3DCCD1}">
              <a14:hiddenFill xmlns:a14="http://schemas.microsoft.com/office/drawing/2010/main">
                <a:solidFill>
                  <a:srgbClr val="FFFFFF"/>
                </a:solidFill>
              </a14:hiddenFill>
            </a:ext>
          </a:extLst>
        </p:spPr>
      </p:pic>
      <p:sp>
        <p:nvSpPr>
          <p:cNvPr id="2059" name="Rectangle 2058">
            <a:extLst>
              <a:ext uri="{FF2B5EF4-FFF2-40B4-BE49-F238E27FC236}">
                <a16:creationId xmlns:a16="http://schemas.microsoft.com/office/drawing/2014/main" id="{BCF4857D-F003-4CA1-82AB-00900B100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146359"/>
            <a:ext cx="4426072" cy="71164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79855050-A75B-4DD0-9B56-8B1C7722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26076" y="748578"/>
            <a:ext cx="7765922" cy="541903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1EBDAA7-B2ED-F722-F518-17D7AABCDFE9}"/>
              </a:ext>
            </a:extLst>
          </p:cNvPr>
          <p:cNvSpPr>
            <a:spLocks noGrp="1"/>
          </p:cNvSpPr>
          <p:nvPr>
            <p:ph type="title"/>
          </p:nvPr>
        </p:nvSpPr>
        <p:spPr>
          <a:xfrm>
            <a:off x="4977897" y="577554"/>
            <a:ext cx="6627226" cy="1154102"/>
          </a:xfrm>
        </p:spPr>
        <p:txBody>
          <a:bodyPr>
            <a:normAutofit/>
          </a:bodyPr>
          <a:lstStyle/>
          <a:p>
            <a:r>
              <a:rPr lang="es-AR" sz="3100" dirty="0"/>
              <a:t>FUNCIONES/ CREACIÓN</a:t>
            </a:r>
          </a:p>
        </p:txBody>
      </p:sp>
      <p:sp>
        <p:nvSpPr>
          <p:cNvPr id="2063" name="Rectangle 2062">
            <a:extLst>
              <a:ext uri="{FF2B5EF4-FFF2-40B4-BE49-F238E27FC236}">
                <a16:creationId xmlns:a16="http://schemas.microsoft.com/office/drawing/2014/main" id="{5E6738EB-6FF0-4AF9-8462-57F4494B8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8774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0C2D5EE-3BB3-B638-C7B0-63183DC57247}"/>
              </a:ext>
            </a:extLst>
          </p:cNvPr>
          <p:cNvSpPr>
            <a:spLocks noGrp="1"/>
          </p:cNvSpPr>
          <p:nvPr>
            <p:ph idx="1"/>
          </p:nvPr>
        </p:nvSpPr>
        <p:spPr>
          <a:xfrm>
            <a:off x="4979813" y="1539035"/>
            <a:ext cx="6627226" cy="4664031"/>
          </a:xfrm>
        </p:spPr>
        <p:txBody>
          <a:bodyPr anchor="t">
            <a:normAutofit/>
          </a:bodyPr>
          <a:lstStyle/>
          <a:p>
            <a:pPr rtl="0">
              <a:buNone/>
            </a:pPr>
            <a:r>
              <a:rPr lang="es-ES" b="0" i="0" u="none" strike="noStrike" dirty="0">
                <a:effectLst/>
                <a:latin typeface="Arial" panose="020B0604020202020204" pitchFamily="34" charset="0"/>
              </a:rPr>
              <a:t>si O_CREAT se especifica en </a:t>
            </a:r>
            <a:r>
              <a:rPr lang="es-ES" b="0" i="0" u="none" strike="noStrike" dirty="0" err="1">
                <a:effectLst/>
                <a:latin typeface="Arial" panose="020B0604020202020204" pitchFamily="34" charset="0"/>
              </a:rPr>
              <a:t>flags</a:t>
            </a:r>
            <a:r>
              <a:rPr lang="es-ES" b="0" i="0" u="none" strike="noStrike" dirty="0">
                <a:effectLst/>
                <a:latin typeface="Arial" panose="020B0604020202020204" pitchFamily="34" charset="0"/>
              </a:rPr>
              <a:t>, se requieren dos argumentos adicionales: </a:t>
            </a:r>
            <a:r>
              <a:rPr lang="es-ES" i="0" u="none" strike="noStrike" dirty="0" err="1">
                <a:effectLst/>
                <a:latin typeface="Arial" panose="020B0604020202020204" pitchFamily="34" charset="0"/>
              </a:rPr>
              <a:t>mode</a:t>
            </a:r>
            <a:r>
              <a:rPr lang="es-ES" b="0" i="0" u="none" strike="noStrike" dirty="0">
                <a:effectLst/>
                <a:latin typeface="Arial" panose="020B0604020202020204" pitchFamily="34" charset="0"/>
              </a:rPr>
              <a:t> y </a:t>
            </a:r>
            <a:r>
              <a:rPr lang="es-ES" i="0" u="none" strike="noStrike" dirty="0" err="1">
                <a:effectLst/>
                <a:latin typeface="Arial" panose="020B0604020202020204" pitchFamily="34" charset="0"/>
              </a:rPr>
              <a:t>attr</a:t>
            </a:r>
            <a:r>
              <a:rPr lang="es-ES" b="0" i="0" u="none" strike="noStrike" dirty="0">
                <a:effectLst/>
                <a:latin typeface="Arial" panose="020B0604020202020204" pitchFamily="34" charset="0"/>
              </a:rPr>
              <a:t>.</a:t>
            </a:r>
          </a:p>
          <a:p>
            <a:pPr marL="285750" indent="-285750" rtl="0">
              <a:buFont typeface="Arial" panose="020B0604020202020204" pitchFamily="34" charset="0"/>
              <a:buChar char="•"/>
            </a:pPr>
            <a:r>
              <a:rPr lang="es-ES" b="0" i="0" u="none" strike="noStrike" dirty="0">
                <a:effectLst/>
                <a:latin typeface="Arial" panose="020B0604020202020204" pitchFamily="34" charset="0"/>
              </a:rPr>
              <a:t>El argumento </a:t>
            </a:r>
            <a:r>
              <a:rPr lang="es-ES" i="0" u="none" strike="noStrike" dirty="0" err="1">
                <a:effectLst/>
                <a:latin typeface="Arial" panose="020B0604020202020204" pitchFamily="34" charset="0"/>
              </a:rPr>
              <a:t>mode</a:t>
            </a:r>
            <a:r>
              <a:rPr lang="es-ES" b="0" i="0" u="none" strike="noStrike" dirty="0">
                <a:effectLst/>
                <a:latin typeface="Arial" panose="020B0604020202020204" pitchFamily="34" charset="0"/>
              </a:rPr>
              <a:t> es una máscara de bits que especifica los </a:t>
            </a:r>
            <a:r>
              <a:rPr lang="es-ES" i="0" u="none" strike="noStrike" dirty="0">
                <a:effectLst/>
                <a:latin typeface="Arial" panose="020B0604020202020204" pitchFamily="34" charset="0"/>
              </a:rPr>
              <a:t>permisos</a:t>
            </a:r>
            <a:r>
              <a:rPr lang="es-ES" b="0" i="0" u="none" strike="noStrike" dirty="0">
                <a:effectLst/>
                <a:latin typeface="Arial" panose="020B0604020202020204" pitchFamily="34" charset="0"/>
              </a:rPr>
              <a:t> que se colocarán en la nueva cola de mensajes.</a:t>
            </a:r>
          </a:p>
          <a:p>
            <a:pPr marL="285750" indent="-285750">
              <a:buFont typeface="Arial" panose="020B0604020202020204" pitchFamily="34" charset="0"/>
              <a:buChar char="•"/>
            </a:pPr>
            <a:r>
              <a:rPr lang="es-ES" sz="1800" b="0" i="0" u="none" strike="noStrike" dirty="0">
                <a:solidFill>
                  <a:srgbClr val="000000"/>
                </a:solidFill>
                <a:effectLst/>
                <a:latin typeface="Arial" panose="020B0604020202020204" pitchFamily="34" charset="0"/>
              </a:rPr>
              <a:t>El argumento </a:t>
            </a:r>
            <a:r>
              <a:rPr lang="es-ES" sz="1800" i="0" u="none" strike="noStrike" dirty="0" err="1">
                <a:solidFill>
                  <a:srgbClr val="000000"/>
                </a:solidFill>
                <a:effectLst/>
                <a:latin typeface="Arial" panose="020B0604020202020204" pitchFamily="34" charset="0"/>
              </a:rPr>
              <a:t>attr</a:t>
            </a:r>
            <a:r>
              <a:rPr lang="es-ES" sz="1800" b="0" i="0" u="none" strike="noStrike" dirty="0">
                <a:solidFill>
                  <a:srgbClr val="000000"/>
                </a:solidFill>
                <a:effectLst/>
                <a:latin typeface="Arial" panose="020B0604020202020204" pitchFamily="34" charset="0"/>
              </a:rPr>
              <a:t> es una estructura </a:t>
            </a:r>
            <a:r>
              <a:rPr lang="es-ES" sz="1800" b="0" i="0" u="none" strike="noStrike" dirty="0" err="1">
                <a:solidFill>
                  <a:srgbClr val="000000"/>
                </a:solidFill>
                <a:effectLst/>
                <a:latin typeface="Arial" panose="020B0604020202020204" pitchFamily="34" charset="0"/>
              </a:rPr>
              <a:t>mq_attr</a:t>
            </a:r>
            <a:r>
              <a:rPr lang="es-ES" sz="1800" b="0" i="0" u="none" strike="noStrike" dirty="0">
                <a:solidFill>
                  <a:srgbClr val="000000"/>
                </a:solidFill>
                <a:effectLst/>
                <a:latin typeface="Arial" panose="020B0604020202020204" pitchFamily="34" charset="0"/>
              </a:rPr>
              <a:t> que especifica </a:t>
            </a:r>
            <a:r>
              <a:rPr lang="es-ES" sz="1800" i="0" u="none" strike="noStrike" dirty="0">
                <a:solidFill>
                  <a:srgbClr val="000000"/>
                </a:solidFill>
                <a:effectLst/>
                <a:latin typeface="Arial" panose="020B0604020202020204" pitchFamily="34" charset="0"/>
              </a:rPr>
              <a:t>atributos</a:t>
            </a:r>
            <a:r>
              <a:rPr lang="es-ES" sz="1800" b="0" i="0" u="none" strike="noStrike" dirty="0">
                <a:solidFill>
                  <a:srgbClr val="000000"/>
                </a:solidFill>
                <a:effectLst/>
                <a:latin typeface="Arial" panose="020B0604020202020204" pitchFamily="34" charset="0"/>
              </a:rPr>
              <a:t> para la nueva cola de mensajes. Si </a:t>
            </a:r>
            <a:r>
              <a:rPr lang="es-ES" sz="1800" b="0" i="0" u="none" strike="noStrike" dirty="0" err="1">
                <a:solidFill>
                  <a:srgbClr val="000000"/>
                </a:solidFill>
                <a:effectLst/>
                <a:latin typeface="Arial" panose="020B0604020202020204" pitchFamily="34" charset="0"/>
              </a:rPr>
              <a:t>attr</a:t>
            </a:r>
            <a:r>
              <a:rPr lang="es-ES" sz="1800" b="0" i="0" u="none" strike="noStrike" dirty="0">
                <a:solidFill>
                  <a:srgbClr val="000000"/>
                </a:solidFill>
                <a:effectLst/>
                <a:latin typeface="Arial" panose="020B0604020202020204" pitchFamily="34" charset="0"/>
              </a:rPr>
              <a:t> es NULL, la cola se crea con atributos predeterminados definidos por la implementación.</a:t>
            </a:r>
            <a:endParaRPr lang="es-AR" dirty="0"/>
          </a:p>
          <a:p>
            <a:pPr marL="285750" indent="-285750" rtl="0">
              <a:buFont typeface="Arial" panose="020B0604020202020204" pitchFamily="34" charset="0"/>
              <a:buChar char="•"/>
            </a:pPr>
            <a:endParaRPr lang="es-ES" b="0" i="0" u="none" strike="noStrike" dirty="0">
              <a:effectLst/>
              <a:latin typeface="Arial" panose="020B0604020202020204" pitchFamily="34" charset="0"/>
            </a:endParaRPr>
          </a:p>
        </p:txBody>
      </p:sp>
      <p:sp>
        <p:nvSpPr>
          <p:cNvPr id="2065" name="Rectangle 2064">
            <a:extLst>
              <a:ext uri="{FF2B5EF4-FFF2-40B4-BE49-F238E27FC236}">
                <a16:creationId xmlns:a16="http://schemas.microsoft.com/office/drawing/2014/main" id="{DB791336-FCAA-4174-9303-B3F374861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94069" y="6167615"/>
            <a:ext cx="7794882"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7" name="Rectangle 2066">
            <a:extLst>
              <a:ext uri="{FF2B5EF4-FFF2-40B4-BE49-F238E27FC236}">
                <a16:creationId xmlns:a16="http://schemas.microsoft.com/office/drawing/2014/main" id="{CA212158-300D-44D0-9CCE-472C3F669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09423"/>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9" name="Rectangle 2068">
            <a:extLst>
              <a:ext uri="{FF2B5EF4-FFF2-40B4-BE49-F238E27FC236}">
                <a16:creationId xmlns:a16="http://schemas.microsoft.com/office/drawing/2014/main" id="{988521F4-D44A-42C5-9BDB-5CA255540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4070"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9951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6E2D4B-7E14-5A0B-3095-A0F64797DCCC}"/>
              </a:ext>
            </a:extLst>
          </p:cNvPr>
          <p:cNvSpPr>
            <a:spLocks noGrp="1"/>
          </p:cNvSpPr>
          <p:nvPr>
            <p:ph type="title"/>
          </p:nvPr>
        </p:nvSpPr>
        <p:spPr/>
        <p:txBody>
          <a:bodyPr>
            <a:normAutofit/>
          </a:bodyPr>
          <a:lstStyle/>
          <a:p>
            <a:r>
              <a:rPr lang="es-AR" sz="3100" dirty="0"/>
              <a:t>FUNCIONES/ CREACIÓN/ </a:t>
            </a:r>
            <a:r>
              <a:rPr lang="es-ES" sz="3100" dirty="0"/>
              <a:t>Atributos de la cola de mensajes</a:t>
            </a:r>
            <a:endParaRPr lang="es-AR" sz="3100" dirty="0"/>
          </a:p>
        </p:txBody>
      </p:sp>
      <p:sp>
        <p:nvSpPr>
          <p:cNvPr id="3" name="Marcador de contenido 2">
            <a:extLst>
              <a:ext uri="{FF2B5EF4-FFF2-40B4-BE49-F238E27FC236}">
                <a16:creationId xmlns:a16="http://schemas.microsoft.com/office/drawing/2014/main" id="{775C9C01-3C82-8310-A0B2-ACD9E6ABFB02}"/>
              </a:ext>
            </a:extLst>
          </p:cNvPr>
          <p:cNvSpPr>
            <a:spLocks noGrp="1"/>
          </p:cNvSpPr>
          <p:nvPr>
            <p:ph idx="1"/>
          </p:nvPr>
        </p:nvSpPr>
        <p:spPr>
          <a:xfrm>
            <a:off x="5376670" y="184851"/>
            <a:ext cx="6172412" cy="5197497"/>
          </a:xfrm>
        </p:spPr>
        <p:txBody>
          <a:bodyPr/>
          <a:lstStyle/>
          <a:p>
            <a:pPr rtl="0">
              <a:buNone/>
            </a:pPr>
            <a:r>
              <a:rPr lang="es-ES" sz="1800" b="0" i="0" u="none" strike="noStrike" dirty="0">
                <a:solidFill>
                  <a:srgbClr val="000000"/>
                </a:solidFill>
                <a:effectLst/>
                <a:latin typeface="Arial" panose="020B0604020202020204" pitchFamily="34" charset="0"/>
              </a:rPr>
              <a:t>Las funciones </a:t>
            </a:r>
            <a:r>
              <a:rPr lang="es-ES" sz="1800" b="0" i="0" u="none" strike="noStrike" dirty="0" err="1">
                <a:solidFill>
                  <a:srgbClr val="000000"/>
                </a:solidFill>
                <a:effectLst/>
                <a:latin typeface="Arial" panose="020B0604020202020204" pitchFamily="34" charset="0"/>
              </a:rPr>
              <a:t>mq_open</a:t>
            </a:r>
            <a:r>
              <a:rPr lang="es-ES" sz="1800" b="0" i="0" u="none" strike="noStrike" dirty="0">
                <a:solidFill>
                  <a:srgbClr val="000000"/>
                </a:solidFill>
                <a:effectLst/>
                <a:latin typeface="Arial" panose="020B0604020202020204" pitchFamily="34" charset="0"/>
              </a:rPr>
              <a:t>(), </a:t>
            </a:r>
            <a:r>
              <a:rPr lang="es-ES" sz="1800" b="0" i="0" u="none" strike="noStrike" dirty="0" err="1">
                <a:solidFill>
                  <a:srgbClr val="000000"/>
                </a:solidFill>
                <a:effectLst/>
                <a:latin typeface="Arial" panose="020B0604020202020204" pitchFamily="34" charset="0"/>
              </a:rPr>
              <a:t>mq_getattr</a:t>
            </a:r>
            <a:r>
              <a:rPr lang="es-ES" sz="1800" b="0" i="0" u="none" strike="noStrike" dirty="0">
                <a:solidFill>
                  <a:srgbClr val="000000"/>
                </a:solidFill>
                <a:effectLst/>
                <a:latin typeface="Arial" panose="020B0604020202020204" pitchFamily="34" charset="0"/>
              </a:rPr>
              <a:t>() y </a:t>
            </a:r>
            <a:r>
              <a:rPr lang="es-ES" sz="1800" b="0" i="0" u="none" strike="noStrike" dirty="0" err="1">
                <a:solidFill>
                  <a:srgbClr val="000000"/>
                </a:solidFill>
                <a:effectLst/>
                <a:latin typeface="Arial" panose="020B0604020202020204" pitchFamily="34" charset="0"/>
              </a:rPr>
              <a:t>mq_setattr</a:t>
            </a:r>
            <a:r>
              <a:rPr lang="es-ES" sz="1800" b="0" i="0" u="none" strike="noStrike" dirty="0">
                <a:solidFill>
                  <a:srgbClr val="000000"/>
                </a:solidFill>
                <a:effectLst/>
                <a:latin typeface="Arial" panose="020B0604020202020204" pitchFamily="34" charset="0"/>
              </a:rPr>
              <a:t>() permiten un argumento que es un puntero a una estructura </a:t>
            </a:r>
            <a:r>
              <a:rPr lang="es-ES" sz="1800" b="0" i="0" u="none" strike="noStrike" dirty="0" err="1">
                <a:solidFill>
                  <a:srgbClr val="000000"/>
                </a:solidFill>
                <a:effectLst/>
                <a:latin typeface="Arial" panose="020B0604020202020204" pitchFamily="34" charset="0"/>
              </a:rPr>
              <a:t>mq_</a:t>
            </a:r>
            <a:r>
              <a:rPr lang="es-ES" sz="1800" i="0" u="none" strike="noStrike" dirty="0" err="1">
                <a:solidFill>
                  <a:srgbClr val="000000"/>
                </a:solidFill>
                <a:effectLst/>
                <a:latin typeface="Arial" panose="020B0604020202020204" pitchFamily="34" charset="0"/>
              </a:rPr>
              <a:t>attr</a:t>
            </a:r>
            <a:r>
              <a:rPr lang="es-ES" sz="1800" b="0" i="0" u="none" strike="noStrike" dirty="0">
                <a:solidFill>
                  <a:srgbClr val="000000"/>
                </a:solidFill>
                <a:effectLst/>
                <a:latin typeface="Arial" panose="020B0604020202020204" pitchFamily="34" charset="0"/>
              </a:rPr>
              <a:t>. Esta estructura se define en de la siguiente manera:</a:t>
            </a:r>
            <a:endParaRPr lang="es-ES" b="0" dirty="0">
              <a:effectLst/>
            </a:endParaRPr>
          </a:p>
          <a:p>
            <a:pPr>
              <a:buNone/>
            </a:pPr>
            <a:br>
              <a:rPr lang="es-ES" dirty="0"/>
            </a:br>
            <a:endParaRPr lang="es-AR" dirty="0"/>
          </a:p>
        </p:txBody>
      </p:sp>
      <p:pic>
        <p:nvPicPr>
          <p:cNvPr id="3074" name="Picture 2">
            <a:extLst>
              <a:ext uri="{FF2B5EF4-FFF2-40B4-BE49-F238E27FC236}">
                <a16:creationId xmlns:a16="http://schemas.microsoft.com/office/drawing/2014/main" id="{C1ACBBEE-9EB4-57C3-0501-CBD66D3DBF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3277" y="3429001"/>
            <a:ext cx="7159198" cy="24736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2823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5A58B7-4197-9B94-694D-24244982DCF8}"/>
              </a:ext>
            </a:extLst>
          </p:cNvPr>
          <p:cNvSpPr>
            <a:spLocks noGrp="1"/>
          </p:cNvSpPr>
          <p:nvPr>
            <p:ph type="title"/>
          </p:nvPr>
        </p:nvSpPr>
        <p:spPr/>
        <p:txBody>
          <a:bodyPr>
            <a:normAutofit fontScale="90000"/>
          </a:bodyPr>
          <a:lstStyle/>
          <a:p>
            <a:r>
              <a:rPr lang="es-AR" sz="3600" dirty="0"/>
              <a:t>FUNCIONES/ CREACIÓN/ </a:t>
            </a:r>
            <a:r>
              <a:rPr lang="es-ES" sz="3600" dirty="0"/>
              <a:t>Atributos de la cola de mensajes</a:t>
            </a:r>
            <a:endParaRPr lang="es-AR" dirty="0"/>
          </a:p>
        </p:txBody>
      </p:sp>
      <p:sp>
        <p:nvSpPr>
          <p:cNvPr id="3" name="Marcador de contenido 2">
            <a:extLst>
              <a:ext uri="{FF2B5EF4-FFF2-40B4-BE49-F238E27FC236}">
                <a16:creationId xmlns:a16="http://schemas.microsoft.com/office/drawing/2014/main" id="{CDE1A916-A552-3916-7546-E17419EDB111}"/>
              </a:ext>
            </a:extLst>
          </p:cNvPr>
          <p:cNvSpPr>
            <a:spLocks noGrp="1"/>
          </p:cNvSpPr>
          <p:nvPr>
            <p:ph idx="1"/>
          </p:nvPr>
        </p:nvSpPr>
        <p:spPr>
          <a:xfrm>
            <a:off x="5376671" y="705113"/>
            <a:ext cx="6172412" cy="5695687"/>
          </a:xfrm>
        </p:spPr>
        <p:txBody>
          <a:bodyPr>
            <a:normAutofit lnSpcReduction="10000"/>
          </a:bodyPr>
          <a:lstStyle/>
          <a:p>
            <a:pPr marL="285750" indent="-285750" rtl="0" fontAlgn="base">
              <a:buFont typeface="Arial" panose="020B0604020202020204" pitchFamily="34" charset="0"/>
              <a:buChar char="•"/>
            </a:pPr>
            <a:r>
              <a:rPr lang="es-ES" b="0" dirty="0"/>
              <a:t>El campo </a:t>
            </a:r>
            <a:r>
              <a:rPr lang="es-ES" b="0" dirty="0" err="1"/>
              <a:t>mq_</a:t>
            </a:r>
            <a:r>
              <a:rPr lang="es-ES" dirty="0" err="1"/>
              <a:t>maxmsg</a:t>
            </a:r>
            <a:r>
              <a:rPr lang="es-ES" b="0" dirty="0"/>
              <a:t> define el límite en el número de mensajes que se pueden colocar en la cola mediante </a:t>
            </a:r>
            <a:r>
              <a:rPr lang="es-ES" b="0" dirty="0" err="1"/>
              <a:t>mq_send</a:t>
            </a:r>
            <a:r>
              <a:rPr lang="es-ES" b="0" dirty="0"/>
              <a:t>(). </a:t>
            </a:r>
          </a:p>
          <a:p>
            <a:pPr marL="285750" indent="-285750" rtl="0" fontAlgn="base">
              <a:buFont typeface="Arial" panose="020B0604020202020204" pitchFamily="34" charset="0"/>
              <a:buChar char="•"/>
            </a:pPr>
            <a:r>
              <a:rPr lang="es-ES" b="0" dirty="0"/>
              <a:t>El campo </a:t>
            </a:r>
            <a:r>
              <a:rPr lang="es-ES" b="0" dirty="0" err="1"/>
              <a:t>mq_</a:t>
            </a:r>
            <a:r>
              <a:rPr lang="es-ES" dirty="0" err="1"/>
              <a:t>msgsize</a:t>
            </a:r>
            <a:r>
              <a:rPr lang="es-ES" b="0" dirty="0"/>
              <a:t> define el límite superior del tamaño de cada mensaje que puede colocarse en la cola.</a:t>
            </a:r>
          </a:p>
          <a:p>
            <a:pPr marL="285750" indent="-285750" rtl="0" fontAlgn="base">
              <a:buFont typeface="Arial" panose="020B0604020202020204" pitchFamily="34" charset="0"/>
              <a:buChar char="•"/>
            </a:pPr>
            <a:r>
              <a:rPr lang="es-ES" b="0" dirty="0" err="1"/>
              <a:t>mq_</a:t>
            </a:r>
            <a:r>
              <a:rPr lang="es-ES" dirty="0" err="1"/>
              <a:t>flags</a:t>
            </a:r>
            <a:r>
              <a:rPr lang="es-ES" b="0" dirty="0"/>
              <a:t>: Se trata de indicadores para la descripción de la cola de mensajes abierta asociada con el descriptor </a:t>
            </a:r>
            <a:r>
              <a:rPr lang="es-ES" b="0" dirty="0" err="1"/>
              <a:t>mqdes</a:t>
            </a:r>
            <a:r>
              <a:rPr lang="es-ES" b="0" dirty="0"/>
              <a:t>. Solo se especifica una marca de este tipo: O_NONBLOCK.</a:t>
            </a:r>
          </a:p>
          <a:p>
            <a:pPr marL="285750" indent="-285750" rtl="0">
              <a:buFont typeface="Arial" panose="020B0604020202020204" pitchFamily="34" charset="0"/>
              <a:buChar char="•"/>
            </a:pPr>
            <a:r>
              <a:rPr lang="es-ES" b="0" dirty="0" err="1"/>
              <a:t>mq_</a:t>
            </a:r>
            <a:r>
              <a:rPr lang="es-ES" dirty="0" err="1"/>
              <a:t>curmsgs</a:t>
            </a:r>
            <a:r>
              <a:rPr lang="es-ES" b="0" dirty="0"/>
              <a:t>: Este es el número de mensajes que están actualmente en la cola.</a:t>
            </a:r>
          </a:p>
        </p:txBody>
      </p:sp>
    </p:spTree>
    <p:extLst>
      <p:ext uri="{BB962C8B-B14F-4D97-AF65-F5344CB8AC3E}">
        <p14:creationId xmlns:p14="http://schemas.microsoft.com/office/powerpoint/2010/main" val="4074424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5287C8-92A0-0834-AD7A-0FE90288CEE8}"/>
              </a:ext>
            </a:extLst>
          </p:cNvPr>
          <p:cNvSpPr>
            <a:spLocks noGrp="1"/>
          </p:cNvSpPr>
          <p:nvPr>
            <p:ph type="title"/>
          </p:nvPr>
        </p:nvSpPr>
        <p:spPr/>
        <p:txBody>
          <a:bodyPr/>
          <a:lstStyle/>
          <a:p>
            <a:r>
              <a:rPr lang="es-AR" sz="3600" dirty="0"/>
              <a:t>FUNCIONES/</a:t>
            </a:r>
            <a:r>
              <a:rPr lang="es-AR" dirty="0"/>
              <a:t>Recuperación de atributos</a:t>
            </a:r>
          </a:p>
        </p:txBody>
      </p:sp>
      <p:sp>
        <p:nvSpPr>
          <p:cNvPr id="3" name="Marcador de contenido 2">
            <a:extLst>
              <a:ext uri="{FF2B5EF4-FFF2-40B4-BE49-F238E27FC236}">
                <a16:creationId xmlns:a16="http://schemas.microsoft.com/office/drawing/2014/main" id="{8E4CB990-4CA6-DD81-FF94-1019CC1144C3}"/>
              </a:ext>
            </a:extLst>
          </p:cNvPr>
          <p:cNvSpPr>
            <a:spLocks noGrp="1"/>
          </p:cNvSpPr>
          <p:nvPr>
            <p:ph idx="1"/>
          </p:nvPr>
        </p:nvSpPr>
        <p:spPr>
          <a:xfrm>
            <a:off x="5376671" y="705112"/>
            <a:ext cx="6172412" cy="5197497"/>
          </a:xfrm>
        </p:spPr>
        <p:txBody>
          <a:bodyPr/>
          <a:lstStyle/>
          <a:p>
            <a:pPr rtl="0">
              <a:buNone/>
            </a:pPr>
            <a:r>
              <a:rPr lang="es-ES" sz="1800" b="0" i="0" u="none" strike="noStrike" dirty="0">
                <a:solidFill>
                  <a:srgbClr val="000000"/>
                </a:solidFill>
                <a:effectLst/>
                <a:latin typeface="Arial" panose="020B0604020202020204" pitchFamily="34" charset="0"/>
              </a:rPr>
              <a:t>La función </a:t>
            </a:r>
            <a:r>
              <a:rPr lang="es-ES" sz="1800" b="0" i="0" u="none" strike="noStrike" dirty="0" err="1">
                <a:solidFill>
                  <a:srgbClr val="000000"/>
                </a:solidFill>
                <a:effectLst/>
                <a:latin typeface="Arial" panose="020B0604020202020204" pitchFamily="34" charset="0"/>
              </a:rPr>
              <a:t>mq_</a:t>
            </a:r>
            <a:r>
              <a:rPr lang="es-ES" sz="1800" i="0" u="none" strike="noStrike" dirty="0" err="1">
                <a:solidFill>
                  <a:srgbClr val="000000"/>
                </a:solidFill>
                <a:effectLst/>
                <a:latin typeface="Arial" panose="020B0604020202020204" pitchFamily="34" charset="0"/>
              </a:rPr>
              <a:t>getattr</a:t>
            </a:r>
            <a:r>
              <a:rPr lang="es-ES" sz="1800" b="0" i="0" u="none" strike="noStrike" dirty="0">
                <a:solidFill>
                  <a:srgbClr val="000000"/>
                </a:solidFill>
                <a:effectLst/>
                <a:latin typeface="Arial" panose="020B0604020202020204" pitchFamily="34" charset="0"/>
              </a:rPr>
              <a:t>() devuelve una estructura </a:t>
            </a:r>
            <a:r>
              <a:rPr lang="es-ES" sz="1800" b="0" i="0" u="none" strike="noStrike" dirty="0" err="1">
                <a:solidFill>
                  <a:srgbClr val="000000"/>
                </a:solidFill>
                <a:effectLst/>
                <a:latin typeface="Arial" panose="020B0604020202020204" pitchFamily="34" charset="0"/>
              </a:rPr>
              <a:t>mq_attr</a:t>
            </a:r>
            <a:r>
              <a:rPr lang="es-ES" sz="1800" b="0" i="0" u="none" strike="noStrike" dirty="0">
                <a:solidFill>
                  <a:srgbClr val="000000"/>
                </a:solidFill>
                <a:effectLst/>
                <a:latin typeface="Arial" panose="020B0604020202020204" pitchFamily="34" charset="0"/>
              </a:rPr>
              <a:t> que contiene información sobre la descripción de la cola de mensajes y la cola de mensajes asociada con los </a:t>
            </a:r>
            <a:r>
              <a:rPr lang="es-ES" sz="1800" b="0" i="0" u="none" strike="noStrike" dirty="0" err="1">
                <a:solidFill>
                  <a:srgbClr val="000000"/>
                </a:solidFill>
                <a:effectLst/>
                <a:latin typeface="Arial" panose="020B0604020202020204" pitchFamily="34" charset="0"/>
              </a:rPr>
              <a:t>mqdes</a:t>
            </a:r>
            <a:r>
              <a:rPr lang="es-ES" sz="1800" b="0" i="0" u="none" strike="noStrike" dirty="0">
                <a:solidFill>
                  <a:srgbClr val="000000"/>
                </a:solidFill>
                <a:effectLst/>
                <a:latin typeface="Arial" panose="020B0604020202020204" pitchFamily="34" charset="0"/>
              </a:rPr>
              <a:t> del descriptor.</a:t>
            </a:r>
            <a:endParaRPr lang="es-ES" b="0" dirty="0">
              <a:solidFill>
                <a:srgbClr val="000000"/>
              </a:solidFill>
              <a:latin typeface="Arial" panose="020B0604020202020204" pitchFamily="34" charset="0"/>
            </a:endParaRPr>
          </a:p>
          <a:p>
            <a:pPr rtl="0">
              <a:buNone/>
            </a:pPr>
            <a:endParaRPr lang="es-ES" b="0" dirty="0">
              <a:solidFill>
                <a:srgbClr val="000000"/>
              </a:solidFill>
              <a:effectLst/>
              <a:latin typeface="Arial" panose="020B0604020202020204" pitchFamily="34" charset="0"/>
            </a:endParaRPr>
          </a:p>
          <a:p>
            <a:pPr rtl="0">
              <a:buNone/>
            </a:pPr>
            <a:endParaRPr lang="es-ES" b="0" dirty="0">
              <a:solidFill>
                <a:srgbClr val="000000"/>
              </a:solidFill>
              <a:latin typeface="Arial" panose="020B0604020202020204" pitchFamily="34" charset="0"/>
            </a:endParaRPr>
          </a:p>
          <a:p>
            <a:pPr rtl="0">
              <a:buNone/>
            </a:pPr>
            <a:endParaRPr lang="es-ES" b="0" dirty="0">
              <a:solidFill>
                <a:srgbClr val="000000"/>
              </a:solidFill>
              <a:effectLst/>
              <a:latin typeface="Arial" panose="020B0604020202020204" pitchFamily="34" charset="0"/>
            </a:endParaRPr>
          </a:p>
          <a:p>
            <a:pPr rtl="0">
              <a:buNone/>
            </a:pPr>
            <a:r>
              <a:rPr lang="es-ES" sz="1800" b="0" i="0" u="none" strike="noStrike" dirty="0">
                <a:solidFill>
                  <a:srgbClr val="000000"/>
                </a:solidFill>
                <a:effectLst/>
                <a:latin typeface="Arial" panose="020B0604020202020204" pitchFamily="34" charset="0"/>
              </a:rPr>
              <a:t>Los campos que te devuelve son </a:t>
            </a:r>
            <a:r>
              <a:rPr lang="es-ES" sz="1800" b="0" i="0" u="none" strike="noStrike" dirty="0" err="1">
                <a:solidFill>
                  <a:srgbClr val="000000"/>
                </a:solidFill>
                <a:effectLst/>
                <a:latin typeface="Arial" panose="020B0604020202020204" pitchFamily="34" charset="0"/>
              </a:rPr>
              <a:t>mq_maxmsg</a:t>
            </a:r>
            <a:r>
              <a:rPr lang="es-ES" sz="1800" b="0" i="0" u="none" strike="noStrike" dirty="0">
                <a:solidFill>
                  <a:srgbClr val="000000"/>
                </a:solidFill>
                <a:effectLst/>
                <a:latin typeface="Arial" panose="020B0604020202020204" pitchFamily="34" charset="0"/>
              </a:rPr>
              <a:t>, </a:t>
            </a:r>
            <a:r>
              <a:rPr lang="es-ES" sz="1800" b="0" i="0" u="none" strike="noStrike" dirty="0" err="1">
                <a:solidFill>
                  <a:srgbClr val="000000"/>
                </a:solidFill>
                <a:effectLst/>
                <a:latin typeface="Arial" panose="020B0604020202020204" pitchFamily="34" charset="0"/>
              </a:rPr>
              <a:t>mq_msgsize</a:t>
            </a:r>
            <a:r>
              <a:rPr lang="es-ES" sz="1800" b="0" i="0" u="none" strike="noStrike" dirty="0">
                <a:solidFill>
                  <a:srgbClr val="000000"/>
                </a:solidFill>
                <a:effectLst/>
                <a:latin typeface="Arial" panose="020B0604020202020204" pitchFamily="34" charset="0"/>
              </a:rPr>
              <a:t>, </a:t>
            </a:r>
            <a:r>
              <a:rPr lang="es-ES" sz="1800" b="0" i="0" u="none" strike="noStrike" dirty="0" err="1">
                <a:solidFill>
                  <a:srgbClr val="000000"/>
                </a:solidFill>
                <a:effectLst/>
                <a:latin typeface="Arial" panose="020B0604020202020204" pitchFamily="34" charset="0"/>
              </a:rPr>
              <a:t>mq_flags</a:t>
            </a:r>
            <a:r>
              <a:rPr lang="es-ES" sz="1800" b="0" i="0" u="none" strike="noStrike" dirty="0">
                <a:solidFill>
                  <a:srgbClr val="000000"/>
                </a:solidFill>
                <a:effectLst/>
                <a:latin typeface="Arial" panose="020B0604020202020204" pitchFamily="34" charset="0"/>
              </a:rPr>
              <a:t> y </a:t>
            </a:r>
            <a:r>
              <a:rPr lang="es-ES" sz="1800" b="0" i="0" u="none" strike="noStrike" dirty="0" err="1">
                <a:solidFill>
                  <a:srgbClr val="000000"/>
                </a:solidFill>
                <a:effectLst/>
                <a:latin typeface="Arial" panose="020B0604020202020204" pitchFamily="34" charset="0"/>
              </a:rPr>
              <a:t>mq_curmsgs</a:t>
            </a:r>
            <a:r>
              <a:rPr lang="es-ES" sz="1800" b="0" i="0" u="none" strike="noStrike" dirty="0">
                <a:solidFill>
                  <a:srgbClr val="000000"/>
                </a:solidFill>
                <a:effectLst/>
                <a:latin typeface="Arial" panose="020B0604020202020204" pitchFamily="34" charset="0"/>
              </a:rPr>
              <a:t>.</a:t>
            </a:r>
            <a:endParaRPr lang="es-ES" b="0" dirty="0">
              <a:effectLst/>
            </a:endParaRPr>
          </a:p>
        </p:txBody>
      </p:sp>
      <p:pic>
        <p:nvPicPr>
          <p:cNvPr id="4098" name="Picture 2">
            <a:extLst>
              <a:ext uri="{FF2B5EF4-FFF2-40B4-BE49-F238E27FC236}">
                <a16:creationId xmlns:a16="http://schemas.microsoft.com/office/drawing/2014/main" id="{345C94B5-0EEB-5CD0-0CFC-1A907FB9FD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2194" y="3084825"/>
            <a:ext cx="7441366" cy="1075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0479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8912B2-AD65-18BF-B57B-5F4E09E71974}"/>
              </a:ext>
            </a:extLst>
          </p:cNvPr>
          <p:cNvSpPr>
            <a:spLocks noGrp="1"/>
          </p:cNvSpPr>
          <p:nvPr>
            <p:ph type="title"/>
          </p:nvPr>
        </p:nvSpPr>
        <p:spPr/>
        <p:txBody>
          <a:bodyPr/>
          <a:lstStyle/>
          <a:p>
            <a:r>
              <a:rPr lang="es-ES" dirty="0"/>
              <a:t>FUNCIONES/</a:t>
            </a:r>
            <a:r>
              <a:rPr lang="es-AR" dirty="0"/>
              <a:t>Modificación de los atributos </a:t>
            </a:r>
          </a:p>
        </p:txBody>
      </p:sp>
      <p:sp>
        <p:nvSpPr>
          <p:cNvPr id="3" name="Marcador de contenido 2">
            <a:extLst>
              <a:ext uri="{FF2B5EF4-FFF2-40B4-BE49-F238E27FC236}">
                <a16:creationId xmlns:a16="http://schemas.microsoft.com/office/drawing/2014/main" id="{5FE4ED39-2479-460B-19C9-D1C54E2E16E0}"/>
              </a:ext>
            </a:extLst>
          </p:cNvPr>
          <p:cNvSpPr>
            <a:spLocks noGrp="1"/>
          </p:cNvSpPr>
          <p:nvPr>
            <p:ph idx="1"/>
          </p:nvPr>
        </p:nvSpPr>
        <p:spPr/>
        <p:txBody>
          <a:bodyPr/>
          <a:lstStyle/>
          <a:p>
            <a:r>
              <a:rPr lang="es-ES" sz="1800" b="0" i="0" u="none" strike="noStrike" dirty="0">
                <a:solidFill>
                  <a:srgbClr val="000000"/>
                </a:solidFill>
                <a:effectLst/>
                <a:latin typeface="Arial" panose="020B0604020202020204" pitchFamily="34" charset="0"/>
              </a:rPr>
              <a:t>La función </a:t>
            </a:r>
            <a:r>
              <a:rPr lang="es-ES" sz="1800" b="0" i="0" u="none" strike="noStrike" dirty="0" err="1">
                <a:solidFill>
                  <a:srgbClr val="000000"/>
                </a:solidFill>
                <a:effectLst/>
                <a:latin typeface="Arial" panose="020B0604020202020204" pitchFamily="34" charset="0"/>
              </a:rPr>
              <a:t>mq_</a:t>
            </a:r>
            <a:r>
              <a:rPr lang="es-ES" sz="1800" i="0" u="none" strike="noStrike" dirty="0" err="1">
                <a:solidFill>
                  <a:srgbClr val="000000"/>
                </a:solidFill>
                <a:effectLst/>
                <a:latin typeface="Arial" panose="020B0604020202020204" pitchFamily="34" charset="0"/>
              </a:rPr>
              <a:t>setattr</a:t>
            </a:r>
            <a:r>
              <a:rPr lang="es-ES" sz="1800" b="0" i="0" u="none" strike="noStrike" dirty="0">
                <a:solidFill>
                  <a:srgbClr val="000000"/>
                </a:solidFill>
                <a:effectLst/>
                <a:latin typeface="Arial" panose="020B0604020202020204" pitchFamily="34" charset="0"/>
              </a:rPr>
              <a:t>() establece los atributos de la descripción de la cola de mensajes asociados con el descriptor de la cola de mensajes </a:t>
            </a:r>
            <a:r>
              <a:rPr lang="es-ES" sz="1800" b="0" i="0" u="none" strike="noStrike" dirty="0" err="1">
                <a:solidFill>
                  <a:srgbClr val="000000"/>
                </a:solidFill>
                <a:effectLst/>
                <a:latin typeface="Arial" panose="020B0604020202020204" pitchFamily="34" charset="0"/>
              </a:rPr>
              <a:t>mqdes</a:t>
            </a:r>
            <a:r>
              <a:rPr lang="es-ES" sz="1800" b="0" i="0" u="none" strike="noStrike" dirty="0">
                <a:solidFill>
                  <a:srgbClr val="000000"/>
                </a:solidFill>
                <a:effectLst/>
                <a:latin typeface="Arial" panose="020B0604020202020204" pitchFamily="34" charset="0"/>
              </a:rPr>
              <a:t> y, opcionalmente, devuelve información sobre la cola de mensajes.</a:t>
            </a:r>
          </a:p>
          <a:p>
            <a:endParaRPr lang="es-AR" dirty="0"/>
          </a:p>
        </p:txBody>
      </p:sp>
      <p:pic>
        <p:nvPicPr>
          <p:cNvPr id="5122" name="Picture 2">
            <a:extLst>
              <a:ext uri="{FF2B5EF4-FFF2-40B4-BE49-F238E27FC236}">
                <a16:creationId xmlns:a16="http://schemas.microsoft.com/office/drawing/2014/main" id="{A0B4454C-E76C-82BF-5BFD-6A70E9F829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3790" y="4452079"/>
            <a:ext cx="7358174" cy="1320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1277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7A1136-FBB7-5A55-75D4-015DA83FAA60}"/>
              </a:ext>
            </a:extLst>
          </p:cNvPr>
          <p:cNvSpPr>
            <a:spLocks noGrp="1"/>
          </p:cNvSpPr>
          <p:nvPr>
            <p:ph type="title"/>
          </p:nvPr>
        </p:nvSpPr>
        <p:spPr/>
        <p:txBody>
          <a:bodyPr/>
          <a:lstStyle/>
          <a:p>
            <a:r>
              <a:rPr lang="es-ES" dirty="0"/>
              <a:t>FUNCIONES/</a:t>
            </a:r>
            <a:r>
              <a:rPr lang="es-AR" dirty="0"/>
              <a:t>Modificación de los atributos </a:t>
            </a:r>
          </a:p>
        </p:txBody>
      </p:sp>
      <p:sp>
        <p:nvSpPr>
          <p:cNvPr id="3" name="Marcador de contenido 2">
            <a:extLst>
              <a:ext uri="{FF2B5EF4-FFF2-40B4-BE49-F238E27FC236}">
                <a16:creationId xmlns:a16="http://schemas.microsoft.com/office/drawing/2014/main" id="{DD65FF02-D34B-A337-9687-1452E9DEFB5F}"/>
              </a:ext>
            </a:extLst>
          </p:cNvPr>
          <p:cNvSpPr>
            <a:spLocks noGrp="1"/>
          </p:cNvSpPr>
          <p:nvPr>
            <p:ph idx="1"/>
          </p:nvPr>
        </p:nvSpPr>
        <p:spPr>
          <a:xfrm>
            <a:off x="5376671" y="705113"/>
            <a:ext cx="6172412" cy="5367075"/>
          </a:xfrm>
        </p:spPr>
        <p:txBody>
          <a:bodyPr>
            <a:normAutofit/>
          </a:bodyPr>
          <a:lstStyle/>
          <a:p>
            <a:pPr marL="285750" indent="-285750" rtl="0" fontAlgn="base">
              <a:buFont typeface="Arial" panose="020B0604020202020204" pitchFamily="34" charset="0"/>
              <a:buChar char="•"/>
            </a:pPr>
            <a:r>
              <a:rPr lang="es-ES" sz="1800" b="0" i="0" u="none" strike="noStrike" dirty="0">
                <a:solidFill>
                  <a:srgbClr val="000000"/>
                </a:solidFill>
                <a:effectLst/>
                <a:latin typeface="Arial" panose="020B0604020202020204" pitchFamily="34" charset="0"/>
              </a:rPr>
              <a:t>Utiliza el campo </a:t>
            </a:r>
            <a:r>
              <a:rPr lang="es-ES" sz="1800" b="0" i="0" u="none" strike="noStrike" dirty="0" err="1">
                <a:solidFill>
                  <a:srgbClr val="000000"/>
                </a:solidFill>
                <a:effectLst/>
                <a:latin typeface="Arial" panose="020B0604020202020204" pitchFamily="34" charset="0"/>
              </a:rPr>
              <a:t>mq_flags</a:t>
            </a:r>
            <a:r>
              <a:rPr lang="es-ES" sz="1800" b="0" i="0" u="none" strike="noStrike" dirty="0">
                <a:solidFill>
                  <a:srgbClr val="000000"/>
                </a:solidFill>
                <a:effectLst/>
                <a:latin typeface="Arial" panose="020B0604020202020204" pitchFamily="34" charset="0"/>
              </a:rPr>
              <a:t> en la estructura de </a:t>
            </a:r>
            <a:r>
              <a:rPr lang="es-ES" sz="1800" b="0" i="0" u="none" strike="noStrike" dirty="0" err="1">
                <a:solidFill>
                  <a:srgbClr val="000000"/>
                </a:solidFill>
                <a:effectLst/>
                <a:latin typeface="Arial" panose="020B0604020202020204" pitchFamily="34" charset="0"/>
              </a:rPr>
              <a:t>mq_attr</a:t>
            </a:r>
            <a:r>
              <a:rPr lang="es-ES" sz="1800" b="0" i="0" u="none" strike="noStrike" dirty="0">
                <a:solidFill>
                  <a:srgbClr val="000000"/>
                </a:solidFill>
                <a:effectLst/>
                <a:latin typeface="Arial" panose="020B0604020202020204" pitchFamily="34" charset="0"/>
              </a:rPr>
              <a:t> señalada por </a:t>
            </a:r>
            <a:r>
              <a:rPr lang="es-ES" sz="1800" i="0" u="none" strike="noStrike" dirty="0" err="1">
                <a:solidFill>
                  <a:srgbClr val="000000"/>
                </a:solidFill>
                <a:effectLst/>
                <a:latin typeface="Arial" panose="020B0604020202020204" pitchFamily="34" charset="0"/>
              </a:rPr>
              <a:t>newattr</a:t>
            </a:r>
            <a:r>
              <a:rPr lang="es-ES" sz="1800" b="0" i="0" u="none" strike="noStrike" dirty="0">
                <a:solidFill>
                  <a:srgbClr val="000000"/>
                </a:solidFill>
                <a:effectLst/>
                <a:latin typeface="Arial" panose="020B0604020202020204" pitchFamily="34" charset="0"/>
              </a:rPr>
              <a:t> para cambiar las banderas de la descripción de la cola de mensajes asociada con los </a:t>
            </a:r>
            <a:r>
              <a:rPr lang="es-ES" sz="1800" b="0" i="0" u="none" strike="noStrike" dirty="0" err="1">
                <a:solidFill>
                  <a:srgbClr val="000000"/>
                </a:solidFill>
                <a:effectLst/>
                <a:latin typeface="Arial" panose="020B0604020202020204" pitchFamily="34" charset="0"/>
              </a:rPr>
              <a:t>mqdes</a:t>
            </a:r>
            <a:r>
              <a:rPr lang="es-ES" sz="1800" b="0" i="0" u="none" strike="noStrike" dirty="0">
                <a:solidFill>
                  <a:srgbClr val="000000"/>
                </a:solidFill>
                <a:effectLst/>
                <a:latin typeface="Arial" panose="020B0604020202020204" pitchFamily="34" charset="0"/>
              </a:rPr>
              <a:t> descriptores. </a:t>
            </a:r>
            <a:r>
              <a:rPr lang="es-ES" dirty="0"/>
              <a:t>O_NONBLOCK.</a:t>
            </a:r>
            <a:endParaRPr lang="es-ES" sz="1800" b="0" i="0" u="none" strike="noStrike" dirty="0">
              <a:solidFill>
                <a:srgbClr val="000000"/>
              </a:solidFill>
              <a:effectLst/>
              <a:latin typeface="Arial" panose="020B0604020202020204" pitchFamily="34" charset="0"/>
            </a:endParaRPr>
          </a:p>
          <a:p>
            <a:pPr marL="285750" indent="-285750" rtl="0" fontAlgn="base">
              <a:buFont typeface="Arial" panose="020B0604020202020204" pitchFamily="34" charset="0"/>
              <a:buChar char="•"/>
            </a:pPr>
            <a:r>
              <a:rPr lang="es-ES" sz="1800" b="0" i="0" u="none" strike="noStrike" dirty="0">
                <a:solidFill>
                  <a:srgbClr val="000000"/>
                </a:solidFill>
                <a:effectLst/>
                <a:latin typeface="Arial" panose="020B0604020202020204" pitchFamily="34" charset="0"/>
              </a:rPr>
              <a:t>Si </a:t>
            </a:r>
            <a:r>
              <a:rPr lang="es-ES" sz="1800" i="0" u="none" strike="noStrike" dirty="0" err="1">
                <a:solidFill>
                  <a:srgbClr val="000000"/>
                </a:solidFill>
                <a:effectLst/>
                <a:latin typeface="Arial" panose="020B0604020202020204" pitchFamily="34" charset="0"/>
              </a:rPr>
              <a:t>oldattr</a:t>
            </a:r>
            <a:r>
              <a:rPr lang="es-ES" sz="1800" b="0" i="0" u="none" strike="noStrike" dirty="0">
                <a:solidFill>
                  <a:srgbClr val="000000"/>
                </a:solidFill>
                <a:effectLst/>
                <a:latin typeface="Arial" panose="020B0604020202020204" pitchFamily="34" charset="0"/>
              </a:rPr>
              <a:t> no es NULL, devuelve una estructura </a:t>
            </a:r>
            <a:r>
              <a:rPr lang="es-ES" sz="1800" b="0" i="0" u="none" strike="noStrike" dirty="0" err="1">
                <a:solidFill>
                  <a:srgbClr val="000000"/>
                </a:solidFill>
                <a:effectLst/>
                <a:latin typeface="Arial" panose="020B0604020202020204" pitchFamily="34" charset="0"/>
              </a:rPr>
              <a:t>mq_attr</a:t>
            </a:r>
            <a:r>
              <a:rPr lang="es-ES" sz="1800" b="0" i="0" u="none" strike="noStrike" dirty="0">
                <a:solidFill>
                  <a:srgbClr val="000000"/>
                </a:solidFill>
                <a:effectLst/>
                <a:latin typeface="Arial" panose="020B0604020202020204" pitchFamily="34" charset="0"/>
              </a:rPr>
              <a:t> que contiene los indicadores de descripción de la cola de mensajes anteriores y los atributos de la cola de mensajes (es decir, la misma tarea que realiza </a:t>
            </a:r>
            <a:r>
              <a:rPr lang="es-ES" sz="1800" b="0" i="0" u="none" strike="noStrike" dirty="0" err="1">
                <a:solidFill>
                  <a:srgbClr val="000000"/>
                </a:solidFill>
                <a:effectLst/>
                <a:latin typeface="Arial" panose="020B0604020202020204" pitchFamily="34" charset="0"/>
              </a:rPr>
              <a:t>mq_getattr</a:t>
            </a:r>
            <a:r>
              <a:rPr lang="es-ES" sz="1800" b="0" i="0" u="none" strike="noStrike" dirty="0">
                <a:solidFill>
                  <a:srgbClr val="000000"/>
                </a:solidFill>
                <a:effectLst/>
                <a:latin typeface="Arial" panose="020B0604020202020204" pitchFamily="34" charset="0"/>
              </a:rPr>
              <a:t>()).</a:t>
            </a:r>
          </a:p>
        </p:txBody>
      </p:sp>
    </p:spTree>
    <p:extLst>
      <p:ext uri="{BB962C8B-B14F-4D97-AF65-F5344CB8AC3E}">
        <p14:creationId xmlns:p14="http://schemas.microsoft.com/office/powerpoint/2010/main" val="955821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BF5580-FEB8-43BA-94BE-64BA4C13A880}"/>
              </a:ext>
            </a:extLst>
          </p:cNvPr>
          <p:cNvSpPr>
            <a:spLocks noGrp="1"/>
          </p:cNvSpPr>
          <p:nvPr>
            <p:ph type="title"/>
          </p:nvPr>
        </p:nvSpPr>
        <p:spPr/>
        <p:txBody>
          <a:bodyPr/>
          <a:lstStyle/>
          <a:p>
            <a:r>
              <a:rPr lang="es-ES" dirty="0"/>
              <a:t>FUNCIONES/CREACIÓN</a:t>
            </a:r>
            <a:endParaRPr lang="es-AR" dirty="0"/>
          </a:p>
        </p:txBody>
      </p:sp>
      <p:sp>
        <p:nvSpPr>
          <p:cNvPr id="3" name="Marcador de contenido 2">
            <a:extLst>
              <a:ext uri="{FF2B5EF4-FFF2-40B4-BE49-F238E27FC236}">
                <a16:creationId xmlns:a16="http://schemas.microsoft.com/office/drawing/2014/main" id="{BC387B9B-9A08-CDDD-DB7D-94C980670FD7}"/>
              </a:ext>
            </a:extLst>
          </p:cNvPr>
          <p:cNvSpPr>
            <a:spLocks noGrp="1"/>
          </p:cNvSpPr>
          <p:nvPr>
            <p:ph idx="1"/>
          </p:nvPr>
        </p:nvSpPr>
        <p:spPr/>
        <p:txBody>
          <a:bodyPr/>
          <a:lstStyle/>
          <a:p>
            <a:pPr rtl="0">
              <a:buNone/>
            </a:pPr>
            <a:r>
              <a:rPr lang="es-ES" sz="1800" b="0" i="0" u="none" strike="noStrike" dirty="0">
                <a:solidFill>
                  <a:srgbClr val="000000"/>
                </a:solidFill>
                <a:effectLst/>
                <a:latin typeface="Arial" panose="020B0604020202020204" pitchFamily="34" charset="0"/>
              </a:rPr>
              <a:t>Al finalizar con éxito, </a:t>
            </a:r>
            <a:r>
              <a:rPr lang="es-ES" sz="1800" b="0" i="0" u="none" strike="noStrike" dirty="0" err="1">
                <a:solidFill>
                  <a:srgbClr val="000000"/>
                </a:solidFill>
                <a:effectLst/>
                <a:latin typeface="Arial" panose="020B0604020202020204" pitchFamily="34" charset="0"/>
              </a:rPr>
              <a:t>mq_open</a:t>
            </a:r>
            <a:r>
              <a:rPr lang="es-ES" sz="1800" b="0" i="0" u="none" strike="noStrike" dirty="0">
                <a:solidFill>
                  <a:srgbClr val="000000"/>
                </a:solidFill>
                <a:effectLst/>
                <a:latin typeface="Arial" panose="020B0604020202020204" pitchFamily="34" charset="0"/>
              </a:rPr>
              <a:t>() devuelve un descriptor de cola de mensajes, un valor de tipo </a:t>
            </a:r>
            <a:r>
              <a:rPr lang="es-ES" sz="1800" b="0" i="0" u="none" strike="noStrike" dirty="0" err="1">
                <a:solidFill>
                  <a:srgbClr val="000000"/>
                </a:solidFill>
                <a:effectLst/>
                <a:latin typeface="Arial" panose="020B0604020202020204" pitchFamily="34" charset="0"/>
              </a:rPr>
              <a:t>mqd_t</a:t>
            </a:r>
            <a:r>
              <a:rPr lang="es-ES" sz="1800" b="0" i="0" u="none" strike="noStrike" dirty="0">
                <a:solidFill>
                  <a:srgbClr val="000000"/>
                </a:solidFill>
                <a:effectLst/>
                <a:latin typeface="Arial" panose="020B0604020202020204" pitchFamily="34" charset="0"/>
              </a:rPr>
              <a:t> (en </a:t>
            </a:r>
            <a:r>
              <a:rPr lang="es-ES" sz="1800" b="0" i="0" u="none" strike="noStrike" dirty="0" err="1">
                <a:solidFill>
                  <a:srgbClr val="000000"/>
                </a:solidFill>
                <a:effectLst/>
                <a:latin typeface="Arial" panose="020B0604020202020204" pitchFamily="34" charset="0"/>
              </a:rPr>
              <a:t>linux</a:t>
            </a:r>
            <a:r>
              <a:rPr lang="es-ES" sz="1800" b="0" i="0" u="none" strike="noStrike" dirty="0">
                <a:solidFill>
                  <a:srgbClr val="000000"/>
                </a:solidFill>
                <a:effectLst/>
                <a:latin typeface="Arial" panose="020B0604020202020204" pitchFamily="34" charset="0"/>
              </a:rPr>
              <a:t> es un número del tipo </a:t>
            </a:r>
            <a:r>
              <a:rPr lang="es-ES" sz="1800" b="0" i="0" u="none" strike="noStrike" dirty="0" err="1">
                <a:solidFill>
                  <a:srgbClr val="000000"/>
                </a:solidFill>
                <a:effectLst/>
                <a:latin typeface="Arial" panose="020B0604020202020204" pitchFamily="34" charset="0"/>
              </a:rPr>
              <a:t>int</a:t>
            </a:r>
            <a:r>
              <a:rPr lang="es-ES" sz="1800" b="0" i="0" u="none" strike="noStrike" dirty="0">
                <a:solidFill>
                  <a:srgbClr val="000000"/>
                </a:solidFill>
                <a:effectLst/>
                <a:latin typeface="Arial" panose="020B0604020202020204" pitchFamily="34" charset="0"/>
              </a:rPr>
              <a:t>), que se utiliza en llamadas posteriores para referirse a esta cola de mensajes abierta.</a:t>
            </a:r>
            <a:endParaRPr lang="es-ES" b="0" dirty="0">
              <a:effectLst/>
            </a:endParaRPr>
          </a:p>
          <a:p>
            <a:pPr>
              <a:buNone/>
            </a:pPr>
            <a:br>
              <a:rPr lang="es-ES" dirty="0"/>
            </a:br>
            <a:endParaRPr lang="es-AR" dirty="0"/>
          </a:p>
        </p:txBody>
      </p:sp>
      <p:pic>
        <p:nvPicPr>
          <p:cNvPr id="4" name="Picture 10">
            <a:extLst>
              <a:ext uri="{FF2B5EF4-FFF2-40B4-BE49-F238E27FC236}">
                <a16:creationId xmlns:a16="http://schemas.microsoft.com/office/drawing/2014/main" id="{C804B3EA-4A1E-1B36-7515-02D5656D5C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6882" y="4167841"/>
            <a:ext cx="6172200" cy="1488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0225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89D26F-067C-9C2D-8F2C-E8503BDF2A08}"/>
              </a:ext>
            </a:extLst>
          </p:cNvPr>
          <p:cNvSpPr>
            <a:spLocks noGrp="1"/>
          </p:cNvSpPr>
          <p:nvPr>
            <p:ph type="title"/>
          </p:nvPr>
        </p:nvSpPr>
        <p:spPr/>
        <p:txBody>
          <a:bodyPr/>
          <a:lstStyle/>
          <a:p>
            <a:r>
              <a:rPr lang="es-ES" dirty="0"/>
              <a:t>FUNCIONES/CIERRE</a:t>
            </a:r>
            <a:endParaRPr lang="es-AR" dirty="0"/>
          </a:p>
        </p:txBody>
      </p:sp>
      <p:sp>
        <p:nvSpPr>
          <p:cNvPr id="3" name="Marcador de contenido 2">
            <a:extLst>
              <a:ext uri="{FF2B5EF4-FFF2-40B4-BE49-F238E27FC236}">
                <a16:creationId xmlns:a16="http://schemas.microsoft.com/office/drawing/2014/main" id="{434405B4-95F9-10F5-13C2-C242307CD83D}"/>
              </a:ext>
            </a:extLst>
          </p:cNvPr>
          <p:cNvSpPr>
            <a:spLocks noGrp="1"/>
          </p:cNvSpPr>
          <p:nvPr>
            <p:ph idx="1"/>
          </p:nvPr>
        </p:nvSpPr>
        <p:spPr/>
        <p:txBody>
          <a:bodyPr/>
          <a:lstStyle/>
          <a:p>
            <a:pPr rtl="0">
              <a:buNone/>
            </a:pPr>
            <a:r>
              <a:rPr lang="es-ES" sz="1800" b="0" i="0" u="none" strike="noStrike" dirty="0">
                <a:solidFill>
                  <a:srgbClr val="000000"/>
                </a:solidFill>
                <a:effectLst/>
                <a:latin typeface="Arial" panose="020B0604020202020204" pitchFamily="34" charset="0"/>
              </a:rPr>
              <a:t>La función </a:t>
            </a:r>
            <a:r>
              <a:rPr lang="es-ES" sz="1800" b="0" i="0" u="none" strike="noStrike" dirty="0" err="1">
                <a:solidFill>
                  <a:srgbClr val="000000"/>
                </a:solidFill>
                <a:effectLst/>
                <a:latin typeface="Arial" panose="020B0604020202020204" pitchFamily="34" charset="0"/>
              </a:rPr>
              <a:t>mq_</a:t>
            </a:r>
            <a:r>
              <a:rPr lang="es-ES" sz="1800" i="0" u="none" strike="noStrike" dirty="0" err="1">
                <a:solidFill>
                  <a:srgbClr val="000000"/>
                </a:solidFill>
                <a:effectLst/>
                <a:latin typeface="Arial" panose="020B0604020202020204" pitchFamily="34" charset="0"/>
              </a:rPr>
              <a:t>close</a:t>
            </a:r>
            <a:r>
              <a:rPr lang="es-ES" sz="1800" b="0" i="0" u="none" strike="noStrike" dirty="0">
                <a:solidFill>
                  <a:srgbClr val="000000"/>
                </a:solidFill>
                <a:effectLst/>
                <a:latin typeface="Arial" panose="020B0604020202020204" pitchFamily="34" charset="0"/>
              </a:rPr>
              <a:t>() cierra el descriptor de la cola de mensajes </a:t>
            </a:r>
            <a:r>
              <a:rPr lang="es-ES" sz="1800" b="0" i="0" u="none" strike="noStrike" dirty="0" err="1">
                <a:solidFill>
                  <a:srgbClr val="000000"/>
                </a:solidFill>
                <a:effectLst/>
                <a:latin typeface="Arial" panose="020B0604020202020204" pitchFamily="34" charset="0"/>
              </a:rPr>
              <a:t>mqdes</a:t>
            </a:r>
            <a:r>
              <a:rPr lang="es-ES" sz="1800" b="0" i="0" u="none" strike="noStrike" dirty="0">
                <a:solidFill>
                  <a:srgbClr val="000000"/>
                </a:solidFill>
                <a:effectLst/>
                <a:latin typeface="Arial" panose="020B0604020202020204" pitchFamily="34" charset="0"/>
              </a:rPr>
              <a:t>. El descriptor se obtiene al abrir o crear una cola de mensajes.</a:t>
            </a:r>
            <a:endParaRPr lang="es-ES" b="0" dirty="0">
              <a:effectLst/>
            </a:endParaRPr>
          </a:p>
          <a:p>
            <a:pPr>
              <a:buNone/>
            </a:pPr>
            <a:br>
              <a:rPr lang="es-ES" dirty="0"/>
            </a:br>
            <a:endParaRPr lang="es-AR" dirty="0"/>
          </a:p>
        </p:txBody>
      </p:sp>
      <p:pic>
        <p:nvPicPr>
          <p:cNvPr id="6146" name="Picture 2">
            <a:extLst>
              <a:ext uri="{FF2B5EF4-FFF2-40B4-BE49-F238E27FC236}">
                <a16:creationId xmlns:a16="http://schemas.microsoft.com/office/drawing/2014/main" id="{4FAC6953-962E-0820-65F6-873729ECE5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6769" y="4167266"/>
            <a:ext cx="7112216" cy="10987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2845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A86455-C6D4-BC18-E447-CBD6987BF69F}"/>
              </a:ext>
            </a:extLst>
          </p:cNvPr>
          <p:cNvSpPr>
            <a:spLocks noGrp="1"/>
          </p:cNvSpPr>
          <p:nvPr>
            <p:ph type="title"/>
          </p:nvPr>
        </p:nvSpPr>
        <p:spPr/>
        <p:txBody>
          <a:bodyPr/>
          <a:lstStyle/>
          <a:p>
            <a:r>
              <a:rPr lang="es-ES" dirty="0"/>
              <a:t>FUNCIONES/CIERRE</a:t>
            </a:r>
            <a:endParaRPr lang="es-AR" dirty="0"/>
          </a:p>
        </p:txBody>
      </p:sp>
      <p:sp>
        <p:nvSpPr>
          <p:cNvPr id="3" name="Marcador de contenido 2">
            <a:extLst>
              <a:ext uri="{FF2B5EF4-FFF2-40B4-BE49-F238E27FC236}">
                <a16:creationId xmlns:a16="http://schemas.microsoft.com/office/drawing/2014/main" id="{B270FB45-0CA3-3A3F-E91D-965580855AB6}"/>
              </a:ext>
            </a:extLst>
          </p:cNvPr>
          <p:cNvSpPr>
            <a:spLocks noGrp="1"/>
          </p:cNvSpPr>
          <p:nvPr>
            <p:ph idx="1"/>
          </p:nvPr>
        </p:nvSpPr>
        <p:spPr/>
        <p:txBody>
          <a:bodyPr/>
          <a:lstStyle/>
          <a:p>
            <a:r>
              <a:rPr lang="es-ES" sz="1800" b="0" i="0" u="none" strike="noStrike" dirty="0">
                <a:solidFill>
                  <a:srgbClr val="000000"/>
                </a:solidFill>
                <a:effectLst/>
                <a:latin typeface="Arial" panose="020B0604020202020204" pitchFamily="34" charset="0"/>
              </a:rPr>
              <a:t>Si el proceso de llamada se ha registrado a través de </a:t>
            </a:r>
            <a:r>
              <a:rPr lang="es-ES" sz="1800" b="0" i="0" u="none" strike="noStrike" dirty="0" err="1">
                <a:solidFill>
                  <a:srgbClr val="000000"/>
                </a:solidFill>
                <a:effectLst/>
                <a:latin typeface="Arial" panose="020B0604020202020204" pitchFamily="34" charset="0"/>
              </a:rPr>
              <a:t>mqdes</a:t>
            </a:r>
            <a:r>
              <a:rPr lang="es-ES" sz="1800" b="0" i="0" u="none" strike="noStrike" dirty="0">
                <a:solidFill>
                  <a:srgbClr val="000000"/>
                </a:solidFill>
                <a:effectLst/>
                <a:latin typeface="Arial" panose="020B0604020202020204" pitchFamily="34" charset="0"/>
              </a:rPr>
              <a:t> para la notificación de mensajes de la cola, el registro de notificación se elimina automáticamente y otro proceso puede registrarse posteriormente para la notificación de mensajes de la cola. </a:t>
            </a:r>
            <a:endParaRPr lang="es-AR" dirty="0"/>
          </a:p>
        </p:txBody>
      </p:sp>
    </p:spTree>
    <p:extLst>
      <p:ext uri="{BB962C8B-B14F-4D97-AF65-F5344CB8AC3E}">
        <p14:creationId xmlns:p14="http://schemas.microsoft.com/office/powerpoint/2010/main" val="668540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91796B-BB71-0F9A-157F-7D7036C26DFF}"/>
              </a:ext>
            </a:extLst>
          </p:cNvPr>
          <p:cNvSpPr>
            <a:spLocks noGrp="1"/>
          </p:cNvSpPr>
          <p:nvPr>
            <p:ph type="title"/>
          </p:nvPr>
        </p:nvSpPr>
        <p:spPr/>
        <p:txBody>
          <a:bodyPr>
            <a:normAutofit/>
          </a:bodyPr>
          <a:lstStyle/>
          <a:p>
            <a:r>
              <a:rPr lang="es-ES" sz="3300" dirty="0"/>
              <a:t>FUNCIONES/ELIMINANDO</a:t>
            </a:r>
            <a:endParaRPr lang="es-AR" sz="3300" dirty="0"/>
          </a:p>
        </p:txBody>
      </p:sp>
      <p:sp>
        <p:nvSpPr>
          <p:cNvPr id="3" name="Marcador de contenido 2">
            <a:extLst>
              <a:ext uri="{FF2B5EF4-FFF2-40B4-BE49-F238E27FC236}">
                <a16:creationId xmlns:a16="http://schemas.microsoft.com/office/drawing/2014/main" id="{AEDBABEC-E0EC-DCEC-171D-59CFAD1FF999}"/>
              </a:ext>
            </a:extLst>
          </p:cNvPr>
          <p:cNvSpPr>
            <a:spLocks noGrp="1"/>
          </p:cNvSpPr>
          <p:nvPr>
            <p:ph idx="1"/>
          </p:nvPr>
        </p:nvSpPr>
        <p:spPr/>
        <p:txBody>
          <a:bodyPr/>
          <a:lstStyle/>
          <a:p>
            <a:pPr rtl="0">
              <a:buNone/>
            </a:pPr>
            <a:r>
              <a:rPr lang="es-ES" sz="1800" b="0" i="0" u="none" strike="noStrike" dirty="0">
                <a:solidFill>
                  <a:srgbClr val="000000"/>
                </a:solidFill>
                <a:effectLst/>
                <a:latin typeface="Arial" panose="020B0604020202020204" pitchFamily="34" charset="0"/>
              </a:rPr>
              <a:t>La función </a:t>
            </a:r>
            <a:r>
              <a:rPr lang="es-ES" sz="1800" b="0" i="0" u="none" strike="noStrike" dirty="0" err="1">
                <a:solidFill>
                  <a:srgbClr val="000000"/>
                </a:solidFill>
                <a:effectLst/>
                <a:latin typeface="Arial" panose="020B0604020202020204" pitchFamily="34" charset="0"/>
              </a:rPr>
              <a:t>mq_</a:t>
            </a:r>
            <a:r>
              <a:rPr lang="es-ES" sz="1800" i="0" u="none" strike="noStrike" dirty="0" err="1">
                <a:solidFill>
                  <a:srgbClr val="000000"/>
                </a:solidFill>
                <a:effectLst/>
                <a:latin typeface="Arial" panose="020B0604020202020204" pitchFamily="34" charset="0"/>
              </a:rPr>
              <a:t>unlink</a:t>
            </a:r>
            <a:r>
              <a:rPr lang="es-ES" sz="1800" b="0" i="0" u="none" strike="noStrike" dirty="0">
                <a:solidFill>
                  <a:srgbClr val="000000"/>
                </a:solidFill>
                <a:effectLst/>
                <a:latin typeface="Arial" panose="020B0604020202020204" pitchFamily="34" charset="0"/>
              </a:rPr>
              <a:t>() elimina la cola de mensajes identificada por su nombre y marca la cola para que se destruya una vez que todos los procesos dejen de usarla (esto puede significar inmediatamente, si todos los procesos que tenían la cola abierta ya la han cerrado).</a:t>
            </a:r>
          </a:p>
          <a:p>
            <a:pPr rtl="0">
              <a:buNone/>
            </a:pPr>
            <a:endParaRPr lang="es-ES" b="0" dirty="0">
              <a:solidFill>
                <a:srgbClr val="000000"/>
              </a:solidFill>
              <a:latin typeface="Arial" panose="020B0604020202020204" pitchFamily="34" charset="0"/>
            </a:endParaRPr>
          </a:p>
          <a:p>
            <a:pPr rtl="0">
              <a:buNone/>
            </a:pPr>
            <a:endParaRPr lang="es-ES" b="0" dirty="0">
              <a:solidFill>
                <a:srgbClr val="000000"/>
              </a:solidFill>
              <a:latin typeface="Arial" panose="020B0604020202020204" pitchFamily="34" charset="0"/>
            </a:endParaRPr>
          </a:p>
          <a:p>
            <a:pPr rtl="0">
              <a:buNone/>
            </a:pPr>
            <a:endParaRPr lang="es-ES" b="0" dirty="0">
              <a:solidFill>
                <a:srgbClr val="000000"/>
              </a:solidFill>
              <a:effectLst/>
              <a:latin typeface="Arial" panose="020B0604020202020204" pitchFamily="34" charset="0"/>
            </a:endParaRPr>
          </a:p>
        </p:txBody>
      </p:sp>
      <p:pic>
        <p:nvPicPr>
          <p:cNvPr id="8194" name="Picture 2">
            <a:extLst>
              <a:ext uri="{FF2B5EF4-FFF2-40B4-BE49-F238E27FC236}">
                <a16:creationId xmlns:a16="http://schemas.microsoft.com/office/drawing/2014/main" id="{83283070-C918-396F-8B93-8234B0CF63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7806" y="4317167"/>
            <a:ext cx="7299455" cy="1030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9014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708455-438A-6305-994A-91BF7C1628C8}"/>
              </a:ext>
            </a:extLst>
          </p:cNvPr>
          <p:cNvSpPr>
            <a:spLocks noGrp="1"/>
          </p:cNvSpPr>
          <p:nvPr>
            <p:ph type="title"/>
          </p:nvPr>
        </p:nvSpPr>
        <p:spPr>
          <a:xfrm>
            <a:off x="0" y="705113"/>
            <a:ext cx="4714875" cy="5197498"/>
          </a:xfrm>
        </p:spPr>
        <p:txBody>
          <a:bodyPr>
            <a:normAutofit/>
          </a:bodyPr>
          <a:lstStyle/>
          <a:p>
            <a:pPr algn="ctr" rtl="0">
              <a:buNone/>
            </a:pPr>
            <a:r>
              <a:rPr lang="es-ES" sz="3300" dirty="0"/>
              <a:t>FUNCIONES/ </a:t>
            </a:r>
            <a:r>
              <a:rPr lang="es-AR" sz="3300" dirty="0"/>
              <a:t>INTERCAMBIO DE MENSAJES/ENVÍO</a:t>
            </a:r>
          </a:p>
        </p:txBody>
      </p:sp>
      <p:sp>
        <p:nvSpPr>
          <p:cNvPr id="3" name="Marcador de contenido 2">
            <a:extLst>
              <a:ext uri="{FF2B5EF4-FFF2-40B4-BE49-F238E27FC236}">
                <a16:creationId xmlns:a16="http://schemas.microsoft.com/office/drawing/2014/main" id="{25CDA42F-16A0-68B4-5E40-FFA7D6190062}"/>
              </a:ext>
            </a:extLst>
          </p:cNvPr>
          <p:cNvSpPr>
            <a:spLocks noGrp="1"/>
          </p:cNvSpPr>
          <p:nvPr>
            <p:ph idx="1"/>
          </p:nvPr>
        </p:nvSpPr>
        <p:spPr/>
        <p:txBody>
          <a:bodyPr/>
          <a:lstStyle/>
          <a:p>
            <a:pPr rtl="0">
              <a:buNone/>
            </a:pPr>
            <a:r>
              <a:rPr lang="es-ES" sz="1800" b="0" i="0" u="none" strike="noStrike" dirty="0">
                <a:solidFill>
                  <a:srgbClr val="000000"/>
                </a:solidFill>
                <a:effectLst/>
                <a:latin typeface="Arial" panose="020B0604020202020204" pitchFamily="34" charset="0"/>
              </a:rPr>
              <a:t>La función </a:t>
            </a:r>
            <a:r>
              <a:rPr lang="es-ES" sz="1800" b="0" i="0" u="none" strike="noStrike" dirty="0" err="1">
                <a:solidFill>
                  <a:srgbClr val="000000"/>
                </a:solidFill>
                <a:effectLst/>
                <a:latin typeface="Arial" panose="020B0604020202020204" pitchFamily="34" charset="0"/>
              </a:rPr>
              <a:t>mq_</a:t>
            </a:r>
            <a:r>
              <a:rPr lang="es-ES" sz="1800" i="0" u="none" strike="noStrike" dirty="0" err="1">
                <a:solidFill>
                  <a:srgbClr val="000000"/>
                </a:solidFill>
                <a:effectLst/>
                <a:latin typeface="Arial" panose="020B0604020202020204" pitchFamily="34" charset="0"/>
              </a:rPr>
              <a:t>send</a:t>
            </a:r>
            <a:r>
              <a:rPr lang="es-ES" sz="1800" b="0" i="0" u="none" strike="noStrike" dirty="0">
                <a:solidFill>
                  <a:srgbClr val="000000"/>
                </a:solidFill>
                <a:effectLst/>
                <a:latin typeface="Arial" panose="020B0604020202020204" pitchFamily="34" charset="0"/>
              </a:rPr>
              <a:t>() añade el mensaje en el búfer al que apunta </a:t>
            </a:r>
            <a:r>
              <a:rPr lang="es-ES" sz="1800" b="0" i="0" u="none" strike="noStrike" dirty="0" err="1">
                <a:solidFill>
                  <a:srgbClr val="000000"/>
                </a:solidFill>
                <a:effectLst/>
                <a:latin typeface="Arial" panose="020B0604020202020204" pitchFamily="34" charset="0"/>
              </a:rPr>
              <a:t>msg_ptr</a:t>
            </a:r>
            <a:r>
              <a:rPr lang="es-ES" sz="1800" b="0" i="0" u="none" strike="noStrike" dirty="0">
                <a:solidFill>
                  <a:srgbClr val="000000"/>
                </a:solidFill>
                <a:effectLst/>
                <a:latin typeface="Arial" panose="020B0604020202020204" pitchFamily="34" charset="0"/>
              </a:rPr>
              <a:t> a la cola de mensajes a la que hace referencia el descriptor </a:t>
            </a:r>
            <a:r>
              <a:rPr lang="es-ES" sz="1800" b="0" i="0" u="none" strike="noStrike" dirty="0" err="1">
                <a:solidFill>
                  <a:srgbClr val="000000"/>
                </a:solidFill>
                <a:effectLst/>
                <a:latin typeface="Arial" panose="020B0604020202020204" pitchFamily="34" charset="0"/>
              </a:rPr>
              <a:t>mqdes</a:t>
            </a:r>
            <a:r>
              <a:rPr lang="es-ES" sz="1800" b="0" i="0" u="none" strike="noStrike" dirty="0">
                <a:solidFill>
                  <a:srgbClr val="000000"/>
                </a:solidFill>
                <a:effectLst/>
                <a:latin typeface="Arial" panose="020B0604020202020204" pitchFamily="34" charset="0"/>
              </a:rPr>
              <a:t>.</a:t>
            </a:r>
            <a:endParaRPr lang="es-AR" dirty="0"/>
          </a:p>
          <a:p>
            <a:pPr>
              <a:buNone/>
            </a:pPr>
            <a:endParaRPr lang="es-AR" dirty="0"/>
          </a:p>
          <a:p>
            <a:pPr>
              <a:buNone/>
            </a:pPr>
            <a:endParaRPr lang="es-AR" dirty="0"/>
          </a:p>
          <a:p>
            <a:pPr>
              <a:buNone/>
            </a:pPr>
            <a:endParaRPr lang="es-AR" dirty="0"/>
          </a:p>
        </p:txBody>
      </p:sp>
      <p:pic>
        <p:nvPicPr>
          <p:cNvPr id="9218" name="Picture 2">
            <a:extLst>
              <a:ext uri="{FF2B5EF4-FFF2-40B4-BE49-F238E27FC236}">
                <a16:creationId xmlns:a16="http://schemas.microsoft.com/office/drawing/2014/main" id="{E3E27076-75B7-F773-39B0-BA0BE015CE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996" y="3902128"/>
            <a:ext cx="7399762" cy="1339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6172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88495-2B99-0417-C579-A03E60C78BC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B849B81-65B7-1C8F-8740-2D2D059F7F63}"/>
              </a:ext>
            </a:extLst>
          </p:cNvPr>
          <p:cNvSpPr>
            <a:spLocks noGrp="1"/>
          </p:cNvSpPr>
          <p:nvPr>
            <p:ph type="title"/>
          </p:nvPr>
        </p:nvSpPr>
        <p:spPr>
          <a:xfrm>
            <a:off x="0" y="705113"/>
            <a:ext cx="4714875" cy="5197498"/>
          </a:xfrm>
        </p:spPr>
        <p:txBody>
          <a:bodyPr>
            <a:normAutofit/>
          </a:bodyPr>
          <a:lstStyle/>
          <a:p>
            <a:pPr algn="ctr" rtl="0">
              <a:buNone/>
            </a:pPr>
            <a:r>
              <a:rPr lang="es-ES" sz="3300" dirty="0"/>
              <a:t>FUNCIONES/ </a:t>
            </a:r>
            <a:r>
              <a:rPr lang="es-AR" sz="3300" dirty="0"/>
              <a:t>INTERCAMBIO DE MENSAJES/ENVÍO</a:t>
            </a:r>
          </a:p>
        </p:txBody>
      </p:sp>
      <p:sp>
        <p:nvSpPr>
          <p:cNvPr id="3" name="Marcador de contenido 2">
            <a:extLst>
              <a:ext uri="{FF2B5EF4-FFF2-40B4-BE49-F238E27FC236}">
                <a16:creationId xmlns:a16="http://schemas.microsoft.com/office/drawing/2014/main" id="{C43B5998-05B9-4D41-DDA6-D4E63F18CB1F}"/>
              </a:ext>
            </a:extLst>
          </p:cNvPr>
          <p:cNvSpPr>
            <a:spLocks noGrp="1"/>
          </p:cNvSpPr>
          <p:nvPr>
            <p:ph idx="1"/>
          </p:nvPr>
        </p:nvSpPr>
        <p:spPr>
          <a:xfrm>
            <a:off x="5376671" y="242888"/>
            <a:ext cx="6172412" cy="6400799"/>
          </a:xfrm>
        </p:spPr>
        <p:txBody>
          <a:bodyPr>
            <a:normAutofit lnSpcReduction="10000"/>
          </a:bodyPr>
          <a:lstStyle/>
          <a:p>
            <a:pPr marL="285750" indent="-285750" rtl="0" fontAlgn="base">
              <a:buFont typeface="Arial" panose="020B0604020202020204" pitchFamily="34" charset="0"/>
              <a:buChar char="•"/>
            </a:pPr>
            <a:r>
              <a:rPr lang="es-ES" sz="1800" b="0" i="0" u="none" strike="noStrike" dirty="0">
                <a:solidFill>
                  <a:srgbClr val="000000"/>
                </a:solidFill>
                <a:effectLst/>
                <a:latin typeface="Arial" panose="020B0604020202020204" pitchFamily="34" charset="0"/>
              </a:rPr>
              <a:t>El argumento </a:t>
            </a:r>
            <a:r>
              <a:rPr lang="es-ES" sz="1800" b="0" i="0" u="none" strike="noStrike" dirty="0" err="1">
                <a:solidFill>
                  <a:srgbClr val="000000"/>
                </a:solidFill>
                <a:effectLst/>
                <a:latin typeface="Arial" panose="020B0604020202020204" pitchFamily="34" charset="0"/>
              </a:rPr>
              <a:t>msg_</a:t>
            </a:r>
            <a:r>
              <a:rPr lang="es-ES" sz="1800" i="0" u="none" strike="noStrike" dirty="0" err="1">
                <a:solidFill>
                  <a:srgbClr val="000000"/>
                </a:solidFill>
                <a:effectLst/>
                <a:latin typeface="Arial" panose="020B0604020202020204" pitchFamily="34" charset="0"/>
              </a:rPr>
              <a:t>len</a:t>
            </a:r>
            <a:r>
              <a:rPr lang="es-ES" sz="1800" b="0" i="0" u="none" strike="noStrike" dirty="0">
                <a:solidFill>
                  <a:srgbClr val="000000"/>
                </a:solidFill>
                <a:effectLst/>
                <a:latin typeface="Arial" panose="020B0604020202020204" pitchFamily="34" charset="0"/>
              </a:rPr>
              <a:t> especifica la </a:t>
            </a:r>
            <a:r>
              <a:rPr lang="es-ES" sz="1800" i="0" u="none" strike="noStrike" dirty="0">
                <a:solidFill>
                  <a:srgbClr val="000000"/>
                </a:solidFill>
                <a:effectLst/>
                <a:latin typeface="Arial" panose="020B0604020202020204" pitchFamily="34" charset="0"/>
              </a:rPr>
              <a:t>longitud</a:t>
            </a:r>
            <a:r>
              <a:rPr lang="es-ES" sz="1800" b="0" i="0" u="none" strike="noStrike" dirty="0">
                <a:solidFill>
                  <a:srgbClr val="000000"/>
                </a:solidFill>
                <a:effectLst/>
                <a:latin typeface="Arial" panose="020B0604020202020204" pitchFamily="34" charset="0"/>
              </a:rPr>
              <a:t> del mensaje al que apunta </a:t>
            </a:r>
            <a:r>
              <a:rPr lang="es-ES" sz="1800" b="0" i="0" u="none" strike="noStrike" dirty="0" err="1">
                <a:solidFill>
                  <a:srgbClr val="000000"/>
                </a:solidFill>
                <a:effectLst/>
                <a:latin typeface="Arial" panose="020B0604020202020204" pitchFamily="34" charset="0"/>
              </a:rPr>
              <a:t>msg_ptr</a:t>
            </a:r>
            <a:r>
              <a:rPr lang="es-ES" sz="1800" b="0" i="0" u="none" strike="noStrike" dirty="0">
                <a:solidFill>
                  <a:srgbClr val="000000"/>
                </a:solidFill>
                <a:effectLst/>
                <a:latin typeface="Arial" panose="020B0604020202020204" pitchFamily="34" charset="0"/>
              </a:rPr>
              <a:t>. Este valor debe ser menor o igual que el atributo </a:t>
            </a:r>
            <a:r>
              <a:rPr lang="es-ES" sz="1800" b="0" i="0" u="none" strike="noStrike" dirty="0" err="1">
                <a:solidFill>
                  <a:srgbClr val="000000"/>
                </a:solidFill>
                <a:effectLst/>
                <a:latin typeface="Arial" panose="020B0604020202020204" pitchFamily="34" charset="0"/>
              </a:rPr>
              <a:t>mq_msgsize</a:t>
            </a:r>
            <a:r>
              <a:rPr lang="es-ES" sz="1800" b="0" i="0" u="none" strike="noStrike" dirty="0">
                <a:solidFill>
                  <a:srgbClr val="000000"/>
                </a:solidFill>
                <a:effectLst/>
                <a:latin typeface="Arial" panose="020B0604020202020204" pitchFamily="34" charset="0"/>
              </a:rPr>
              <a:t> de la cola; de lo contrario, </a:t>
            </a:r>
            <a:r>
              <a:rPr lang="es-ES" sz="1800" b="0" i="0" u="none" strike="noStrike" dirty="0" err="1">
                <a:solidFill>
                  <a:srgbClr val="000000"/>
                </a:solidFill>
                <a:effectLst/>
                <a:latin typeface="Arial" panose="020B0604020202020204" pitchFamily="34" charset="0"/>
              </a:rPr>
              <a:t>mq_send</a:t>
            </a:r>
            <a:r>
              <a:rPr lang="es-ES" sz="1800" b="0" i="0" u="none" strike="noStrike" dirty="0">
                <a:solidFill>
                  <a:srgbClr val="000000"/>
                </a:solidFill>
                <a:effectLst/>
                <a:latin typeface="Arial" panose="020B0604020202020204" pitchFamily="34" charset="0"/>
              </a:rPr>
              <a:t>() falla con el error EMSGSIZE. Se permiten mensajes de longitud cero.</a:t>
            </a:r>
          </a:p>
          <a:p>
            <a:pPr marL="285750" indent="-285750" rtl="0" fontAlgn="base">
              <a:buFont typeface="Arial" panose="020B0604020202020204" pitchFamily="34" charset="0"/>
              <a:buChar char="•"/>
            </a:pPr>
            <a:r>
              <a:rPr lang="es-ES" sz="1800" b="0" i="0" u="none" strike="noStrike" dirty="0">
                <a:solidFill>
                  <a:srgbClr val="000000"/>
                </a:solidFill>
                <a:effectLst/>
                <a:latin typeface="Arial" panose="020B0604020202020204" pitchFamily="34" charset="0"/>
              </a:rPr>
              <a:t>Cada mensaje tiene una prioridad entera no negativa, especificada por el argumento </a:t>
            </a:r>
            <a:r>
              <a:rPr lang="es-ES" sz="1800" b="0" i="0" u="none" strike="noStrike" dirty="0" err="1">
                <a:solidFill>
                  <a:srgbClr val="000000"/>
                </a:solidFill>
                <a:effectLst/>
                <a:latin typeface="Arial" panose="020B0604020202020204" pitchFamily="34" charset="0"/>
              </a:rPr>
              <a:t>msg_</a:t>
            </a:r>
            <a:r>
              <a:rPr lang="es-ES" sz="1800" i="0" u="none" strike="noStrike" dirty="0" err="1">
                <a:solidFill>
                  <a:srgbClr val="000000"/>
                </a:solidFill>
                <a:effectLst/>
                <a:latin typeface="Arial" panose="020B0604020202020204" pitchFamily="34" charset="0"/>
              </a:rPr>
              <a:t>prio</a:t>
            </a:r>
            <a:r>
              <a:rPr lang="es-ES" sz="1800" b="0" i="0" u="none" strike="noStrike" dirty="0">
                <a:solidFill>
                  <a:srgbClr val="000000"/>
                </a:solidFill>
                <a:effectLst/>
                <a:latin typeface="Arial" panose="020B0604020202020204" pitchFamily="34" charset="0"/>
              </a:rPr>
              <a:t>. Los mensajes se ordenan dentro de la cola en orden descendente de prioridad (es decir, 0 es la prioridad más baja). Cuando se agrega un nuevo mensaje a la cola, se coloca después de cualquier otro mensaje de la misma prioridad. Si una aplicación no necesita usar prioridades de mensajes, es suficiente especificar siempre </a:t>
            </a:r>
            <a:r>
              <a:rPr lang="es-ES" sz="1800" b="0" i="0" u="none" strike="noStrike" dirty="0" err="1">
                <a:solidFill>
                  <a:srgbClr val="000000"/>
                </a:solidFill>
                <a:effectLst/>
                <a:latin typeface="Arial" panose="020B0604020202020204" pitchFamily="34" charset="0"/>
              </a:rPr>
              <a:t>msg_prio</a:t>
            </a:r>
            <a:r>
              <a:rPr lang="es-ES" sz="1800" b="0" i="0" u="none" strike="noStrike" dirty="0">
                <a:solidFill>
                  <a:srgbClr val="000000"/>
                </a:solidFill>
                <a:effectLst/>
                <a:latin typeface="Arial" panose="020B0604020202020204" pitchFamily="34" charset="0"/>
              </a:rPr>
              <a:t> como 0.</a:t>
            </a:r>
          </a:p>
        </p:txBody>
      </p:sp>
    </p:spTree>
    <p:extLst>
      <p:ext uri="{BB962C8B-B14F-4D97-AF65-F5344CB8AC3E}">
        <p14:creationId xmlns:p14="http://schemas.microsoft.com/office/powerpoint/2010/main" val="2684496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D8008D-C678-3305-60ED-A97A2BDA888D}"/>
              </a:ext>
            </a:extLst>
          </p:cNvPr>
          <p:cNvSpPr>
            <a:spLocks noGrp="1"/>
          </p:cNvSpPr>
          <p:nvPr>
            <p:ph type="title"/>
          </p:nvPr>
        </p:nvSpPr>
        <p:spPr>
          <a:xfrm>
            <a:off x="0" y="705113"/>
            <a:ext cx="4600575" cy="5197498"/>
          </a:xfrm>
        </p:spPr>
        <p:txBody>
          <a:bodyPr>
            <a:normAutofit/>
          </a:bodyPr>
          <a:lstStyle/>
          <a:p>
            <a:pPr algn="ctr"/>
            <a:r>
              <a:rPr lang="es-ES" sz="3200" dirty="0"/>
              <a:t>FUNCIONES/ </a:t>
            </a:r>
            <a:r>
              <a:rPr lang="es-AR" sz="3200" dirty="0"/>
              <a:t>INTERCAMBIO DE MENSAJES/ENVÍO</a:t>
            </a:r>
          </a:p>
        </p:txBody>
      </p:sp>
      <p:sp>
        <p:nvSpPr>
          <p:cNvPr id="3" name="Marcador de contenido 2">
            <a:extLst>
              <a:ext uri="{FF2B5EF4-FFF2-40B4-BE49-F238E27FC236}">
                <a16:creationId xmlns:a16="http://schemas.microsoft.com/office/drawing/2014/main" id="{A0629B8E-1C8D-25E5-6BC6-76DBDF291676}"/>
              </a:ext>
            </a:extLst>
          </p:cNvPr>
          <p:cNvSpPr>
            <a:spLocks noGrp="1"/>
          </p:cNvSpPr>
          <p:nvPr>
            <p:ph idx="1"/>
          </p:nvPr>
        </p:nvSpPr>
        <p:spPr/>
        <p:txBody>
          <a:bodyPr/>
          <a:lstStyle/>
          <a:p>
            <a:r>
              <a:rPr lang="es-ES" sz="1800" i="0" u="none" strike="noStrike" dirty="0">
                <a:solidFill>
                  <a:srgbClr val="000000"/>
                </a:solidFill>
                <a:effectLst/>
                <a:latin typeface="Arial" panose="020B0604020202020204" pitchFamily="34" charset="0"/>
              </a:rPr>
              <a:t>Si la cola de mensajes ya está llena </a:t>
            </a:r>
            <a:r>
              <a:rPr lang="es-ES" sz="1800" b="0" i="0" u="none" strike="noStrike" dirty="0">
                <a:solidFill>
                  <a:srgbClr val="000000"/>
                </a:solidFill>
                <a:effectLst/>
                <a:latin typeface="Arial" panose="020B0604020202020204" pitchFamily="34" charset="0"/>
              </a:rPr>
              <a:t>(es decir, se ha alcanzado el límite de </a:t>
            </a:r>
            <a:r>
              <a:rPr lang="es-ES" sz="1800" b="0" i="0" u="none" strike="noStrike" dirty="0" err="1">
                <a:solidFill>
                  <a:srgbClr val="000000"/>
                </a:solidFill>
                <a:effectLst/>
                <a:latin typeface="Arial" panose="020B0604020202020204" pitchFamily="34" charset="0"/>
              </a:rPr>
              <a:t>mq_maxmsg</a:t>
            </a:r>
            <a:r>
              <a:rPr lang="es-ES" sz="1800" b="0" i="0" u="none" strike="noStrike" dirty="0">
                <a:solidFill>
                  <a:srgbClr val="000000"/>
                </a:solidFill>
                <a:effectLst/>
                <a:latin typeface="Arial" panose="020B0604020202020204" pitchFamily="34" charset="0"/>
              </a:rPr>
              <a:t> para la cola), entonces un </a:t>
            </a:r>
            <a:r>
              <a:rPr lang="es-ES" sz="1800" b="0" i="0" u="none" strike="noStrike" dirty="0" err="1">
                <a:solidFill>
                  <a:srgbClr val="000000"/>
                </a:solidFill>
                <a:effectLst/>
                <a:latin typeface="Arial" panose="020B0604020202020204" pitchFamily="34" charset="0"/>
              </a:rPr>
              <a:t>mq_</a:t>
            </a:r>
            <a:r>
              <a:rPr lang="es-ES" sz="1800" i="0" u="none" strike="noStrike" dirty="0" err="1">
                <a:solidFill>
                  <a:srgbClr val="000000"/>
                </a:solidFill>
                <a:effectLst/>
                <a:latin typeface="Arial" panose="020B0604020202020204" pitchFamily="34" charset="0"/>
              </a:rPr>
              <a:t>send</a:t>
            </a:r>
            <a:r>
              <a:rPr lang="es-ES" sz="1800" b="0" i="0" u="none" strike="noStrike" dirty="0">
                <a:solidFill>
                  <a:srgbClr val="000000"/>
                </a:solidFill>
                <a:effectLst/>
                <a:latin typeface="Arial" panose="020B0604020202020204" pitchFamily="34" charset="0"/>
              </a:rPr>
              <a:t>() adicional se </a:t>
            </a:r>
            <a:r>
              <a:rPr lang="es-ES" sz="1800" i="0" u="none" strike="noStrike" dirty="0">
                <a:solidFill>
                  <a:srgbClr val="000000"/>
                </a:solidFill>
                <a:effectLst/>
                <a:latin typeface="Arial" panose="020B0604020202020204" pitchFamily="34" charset="0"/>
              </a:rPr>
              <a:t>bloquea</a:t>
            </a:r>
            <a:r>
              <a:rPr lang="es-ES" sz="1800" b="0" i="0" u="none" strike="noStrike" dirty="0">
                <a:solidFill>
                  <a:srgbClr val="000000"/>
                </a:solidFill>
                <a:effectLst/>
                <a:latin typeface="Arial" panose="020B0604020202020204" pitchFamily="34" charset="0"/>
              </a:rPr>
              <a:t> hasta que haya espacio disponible en la cola o, si el indicador O_NONBLOCK está en vigor, falla inmediatamente con el error EAGAIN.</a:t>
            </a:r>
            <a:endParaRPr lang="es-AR" dirty="0"/>
          </a:p>
        </p:txBody>
      </p:sp>
    </p:spTree>
    <p:extLst>
      <p:ext uri="{BB962C8B-B14F-4D97-AF65-F5344CB8AC3E}">
        <p14:creationId xmlns:p14="http://schemas.microsoft.com/office/powerpoint/2010/main" val="1056253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A45EDB-C7ED-A85F-B183-C1D0F0D4906D}"/>
              </a:ext>
            </a:extLst>
          </p:cNvPr>
          <p:cNvSpPr>
            <a:spLocks noGrp="1"/>
          </p:cNvSpPr>
          <p:nvPr>
            <p:ph type="title"/>
          </p:nvPr>
        </p:nvSpPr>
        <p:spPr>
          <a:xfrm>
            <a:off x="0" y="705113"/>
            <a:ext cx="4700588" cy="5197498"/>
          </a:xfrm>
        </p:spPr>
        <p:txBody>
          <a:bodyPr>
            <a:normAutofit/>
          </a:bodyPr>
          <a:lstStyle/>
          <a:p>
            <a:pPr algn="ctr"/>
            <a:r>
              <a:rPr lang="es-ES" sz="3300" dirty="0"/>
              <a:t>FUNCIONES/ </a:t>
            </a:r>
            <a:r>
              <a:rPr lang="es-AR" sz="3300" dirty="0"/>
              <a:t>INTERCAMBIO DE MENSAJES/ RECEPCIÓN</a:t>
            </a:r>
          </a:p>
        </p:txBody>
      </p:sp>
      <p:sp>
        <p:nvSpPr>
          <p:cNvPr id="3" name="Marcador de contenido 2">
            <a:extLst>
              <a:ext uri="{FF2B5EF4-FFF2-40B4-BE49-F238E27FC236}">
                <a16:creationId xmlns:a16="http://schemas.microsoft.com/office/drawing/2014/main" id="{4278AB8B-3D7D-CD12-E00C-B2B296D1A814}"/>
              </a:ext>
            </a:extLst>
          </p:cNvPr>
          <p:cNvSpPr>
            <a:spLocks noGrp="1"/>
          </p:cNvSpPr>
          <p:nvPr>
            <p:ph idx="1"/>
          </p:nvPr>
        </p:nvSpPr>
        <p:spPr/>
        <p:txBody>
          <a:bodyPr/>
          <a:lstStyle/>
          <a:p>
            <a:pPr rtl="0">
              <a:buNone/>
            </a:pPr>
            <a:r>
              <a:rPr lang="es-ES" sz="1800" b="0" i="0" u="none" strike="noStrike" dirty="0">
                <a:solidFill>
                  <a:srgbClr val="000000"/>
                </a:solidFill>
                <a:effectLst/>
                <a:latin typeface="Arial" panose="020B0604020202020204" pitchFamily="34" charset="0"/>
              </a:rPr>
              <a:t>La función </a:t>
            </a:r>
            <a:r>
              <a:rPr lang="es-ES" sz="1800" b="0" i="0" u="none" strike="noStrike" dirty="0" err="1">
                <a:solidFill>
                  <a:srgbClr val="000000"/>
                </a:solidFill>
                <a:effectLst/>
                <a:latin typeface="Arial" panose="020B0604020202020204" pitchFamily="34" charset="0"/>
              </a:rPr>
              <a:t>mq_</a:t>
            </a:r>
            <a:r>
              <a:rPr lang="es-ES" sz="1800" i="0" u="none" strike="noStrike" dirty="0" err="1">
                <a:solidFill>
                  <a:srgbClr val="000000"/>
                </a:solidFill>
                <a:effectLst/>
                <a:latin typeface="Arial" panose="020B0604020202020204" pitchFamily="34" charset="0"/>
              </a:rPr>
              <a:t>receive</a:t>
            </a:r>
            <a:r>
              <a:rPr lang="es-ES" sz="1800" b="0" i="0" u="none" strike="noStrike" dirty="0">
                <a:solidFill>
                  <a:srgbClr val="000000"/>
                </a:solidFill>
                <a:effectLst/>
                <a:latin typeface="Arial" panose="020B0604020202020204" pitchFamily="34" charset="0"/>
              </a:rPr>
              <a:t>() elimina el mensaje más antiguo con la prioridad más alta de la cola de mensajes a la que se refiere </a:t>
            </a:r>
            <a:r>
              <a:rPr lang="es-ES" sz="1800" b="0" i="0" u="none" strike="noStrike" dirty="0" err="1">
                <a:solidFill>
                  <a:srgbClr val="000000"/>
                </a:solidFill>
                <a:effectLst/>
                <a:latin typeface="Arial" panose="020B0604020202020204" pitchFamily="34" charset="0"/>
              </a:rPr>
              <a:t>mqdes</a:t>
            </a:r>
            <a:r>
              <a:rPr lang="es-ES" sz="1800" b="0" i="0" u="none" strike="noStrike" dirty="0">
                <a:solidFill>
                  <a:srgbClr val="000000"/>
                </a:solidFill>
                <a:effectLst/>
                <a:latin typeface="Arial" panose="020B0604020202020204" pitchFamily="34" charset="0"/>
              </a:rPr>
              <a:t> y devuelve ese mensaje en el búfer al que apunta </a:t>
            </a:r>
            <a:r>
              <a:rPr lang="es-ES" sz="1800" b="0" i="0" u="none" strike="noStrike" dirty="0" err="1">
                <a:solidFill>
                  <a:srgbClr val="000000"/>
                </a:solidFill>
                <a:effectLst/>
                <a:latin typeface="Arial" panose="020B0604020202020204" pitchFamily="34" charset="0"/>
              </a:rPr>
              <a:t>msg_ptr</a:t>
            </a:r>
            <a:r>
              <a:rPr lang="es-ES" sz="1800" b="0" i="0" u="none" strike="noStrike" dirty="0">
                <a:solidFill>
                  <a:srgbClr val="000000"/>
                </a:solidFill>
                <a:effectLst/>
                <a:latin typeface="Arial" panose="020B0604020202020204" pitchFamily="34" charset="0"/>
              </a:rPr>
              <a:t>.</a:t>
            </a:r>
            <a:endParaRPr lang="es-ES" b="0" dirty="0">
              <a:effectLst/>
            </a:endParaRPr>
          </a:p>
          <a:p>
            <a:pPr>
              <a:buNone/>
            </a:pPr>
            <a:br>
              <a:rPr lang="es-ES" dirty="0"/>
            </a:br>
            <a:endParaRPr lang="es-AR" dirty="0"/>
          </a:p>
        </p:txBody>
      </p:sp>
      <p:pic>
        <p:nvPicPr>
          <p:cNvPr id="10242" name="Picture 2">
            <a:extLst>
              <a:ext uri="{FF2B5EF4-FFF2-40B4-BE49-F238E27FC236}">
                <a16:creationId xmlns:a16="http://schemas.microsoft.com/office/drawing/2014/main" id="{6885A0EB-D7A5-F61C-FB79-9AFFC973D0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4560" y="4077324"/>
            <a:ext cx="7036633" cy="1309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45341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94DB79B-39B4-0261-CE88-51955AB9B063}"/>
              </a:ext>
            </a:extLst>
          </p:cNvPr>
          <p:cNvSpPr>
            <a:spLocks noGrp="1"/>
          </p:cNvSpPr>
          <p:nvPr>
            <p:ph idx="1"/>
          </p:nvPr>
        </p:nvSpPr>
        <p:spPr/>
        <p:txBody>
          <a:bodyPr>
            <a:normAutofit lnSpcReduction="10000"/>
          </a:bodyPr>
          <a:lstStyle/>
          <a:p>
            <a:pPr marL="285750" indent="-285750">
              <a:buFont typeface="Arial" panose="020B0604020202020204" pitchFamily="34" charset="0"/>
              <a:buChar char="•"/>
            </a:pPr>
            <a:r>
              <a:rPr lang="es-ES" sz="1800" b="0" i="0" u="none" strike="noStrike" dirty="0">
                <a:solidFill>
                  <a:srgbClr val="000000"/>
                </a:solidFill>
                <a:effectLst/>
                <a:latin typeface="Arial" panose="020B0604020202020204" pitchFamily="34" charset="0"/>
              </a:rPr>
              <a:t>El argumento </a:t>
            </a:r>
            <a:r>
              <a:rPr lang="es-ES" sz="1800" b="0" i="0" u="none" strike="noStrike" dirty="0" err="1">
                <a:solidFill>
                  <a:srgbClr val="000000"/>
                </a:solidFill>
                <a:effectLst/>
                <a:latin typeface="Arial" panose="020B0604020202020204" pitchFamily="34" charset="0"/>
              </a:rPr>
              <a:t>msg_</a:t>
            </a:r>
            <a:r>
              <a:rPr lang="es-ES" sz="1800" i="0" u="none" strike="noStrike" dirty="0" err="1">
                <a:solidFill>
                  <a:srgbClr val="000000"/>
                </a:solidFill>
                <a:effectLst/>
                <a:latin typeface="Arial" panose="020B0604020202020204" pitchFamily="34" charset="0"/>
              </a:rPr>
              <a:t>len</a:t>
            </a:r>
            <a:r>
              <a:rPr lang="es-ES" sz="1800" b="0" i="0" u="none" strike="noStrike" dirty="0">
                <a:solidFill>
                  <a:srgbClr val="000000"/>
                </a:solidFill>
                <a:effectLst/>
                <a:latin typeface="Arial" panose="020B0604020202020204" pitchFamily="34" charset="0"/>
              </a:rPr>
              <a:t> se usa para especificar el número de bytes de espacio disponible en el búfer al que apunta </a:t>
            </a:r>
            <a:r>
              <a:rPr lang="es-ES" sz="1800" b="0" i="0" u="none" strike="noStrike" dirty="0" err="1">
                <a:solidFill>
                  <a:srgbClr val="000000"/>
                </a:solidFill>
                <a:effectLst/>
                <a:latin typeface="Arial" panose="020B0604020202020204" pitchFamily="34" charset="0"/>
              </a:rPr>
              <a:t>msg_ptr</a:t>
            </a:r>
            <a:r>
              <a:rPr lang="es-ES" sz="1800" b="0" i="0" u="none" strike="noStrike" dirty="0">
                <a:solidFill>
                  <a:srgbClr val="000000"/>
                </a:solidFill>
                <a:effectLst/>
                <a:latin typeface="Arial" panose="020B0604020202020204" pitchFamily="34" charset="0"/>
              </a:rPr>
              <a:t>.</a:t>
            </a:r>
          </a:p>
          <a:p>
            <a:pPr marL="285750" indent="-285750" rtl="0">
              <a:buFont typeface="Arial" panose="020B0604020202020204" pitchFamily="34" charset="0"/>
              <a:buChar char="•"/>
            </a:pPr>
            <a:r>
              <a:rPr lang="es-ES" sz="1800" b="0" i="0" u="none" strike="noStrike" dirty="0">
                <a:solidFill>
                  <a:srgbClr val="000000"/>
                </a:solidFill>
                <a:effectLst/>
                <a:latin typeface="Arial" panose="020B0604020202020204" pitchFamily="34" charset="0"/>
              </a:rPr>
              <a:t>Independientemente del tamaño real del mensaje, </a:t>
            </a:r>
            <a:r>
              <a:rPr lang="es-ES" sz="1800" b="0" i="0" u="none" strike="noStrike" dirty="0" err="1">
                <a:solidFill>
                  <a:srgbClr val="000000"/>
                </a:solidFill>
                <a:effectLst/>
                <a:latin typeface="Arial" panose="020B0604020202020204" pitchFamily="34" charset="0"/>
              </a:rPr>
              <a:t>msg_</a:t>
            </a:r>
            <a:r>
              <a:rPr lang="es-ES" sz="1800" i="0" u="none" strike="noStrike" dirty="0" err="1">
                <a:solidFill>
                  <a:srgbClr val="000000"/>
                </a:solidFill>
                <a:effectLst/>
                <a:latin typeface="Arial" panose="020B0604020202020204" pitchFamily="34" charset="0"/>
              </a:rPr>
              <a:t>len</a:t>
            </a:r>
            <a:r>
              <a:rPr lang="es-ES" sz="1800" b="0" i="0" u="none" strike="noStrike" dirty="0">
                <a:solidFill>
                  <a:srgbClr val="000000"/>
                </a:solidFill>
                <a:effectLst/>
                <a:latin typeface="Arial" panose="020B0604020202020204" pitchFamily="34" charset="0"/>
              </a:rPr>
              <a:t> (y, por lo tanto, el tamaño del búfer al que apunta </a:t>
            </a:r>
            <a:r>
              <a:rPr lang="es-ES" sz="1800" b="0" i="0" u="none" strike="noStrike" dirty="0" err="1">
                <a:solidFill>
                  <a:srgbClr val="000000"/>
                </a:solidFill>
                <a:effectLst/>
                <a:latin typeface="Arial" panose="020B0604020202020204" pitchFamily="34" charset="0"/>
              </a:rPr>
              <a:t>msg_ptr</a:t>
            </a:r>
            <a:r>
              <a:rPr lang="es-ES" sz="1800" b="0" i="0" u="none" strike="noStrike" dirty="0">
                <a:solidFill>
                  <a:srgbClr val="000000"/>
                </a:solidFill>
                <a:effectLst/>
                <a:latin typeface="Arial" panose="020B0604020202020204" pitchFamily="34" charset="0"/>
              </a:rPr>
              <a:t>) debe ser mayor o igual que el atributo </a:t>
            </a:r>
            <a:r>
              <a:rPr lang="es-ES" sz="1800" b="0" i="0" u="none" strike="noStrike" dirty="0" err="1">
                <a:solidFill>
                  <a:srgbClr val="000000"/>
                </a:solidFill>
                <a:effectLst/>
                <a:latin typeface="Arial" panose="020B0604020202020204" pitchFamily="34" charset="0"/>
              </a:rPr>
              <a:t>mq_msgsize</a:t>
            </a:r>
            <a:r>
              <a:rPr lang="es-ES" sz="1800" b="0" i="0" u="none" strike="noStrike" dirty="0">
                <a:solidFill>
                  <a:srgbClr val="000000"/>
                </a:solidFill>
                <a:effectLst/>
                <a:latin typeface="Arial" panose="020B0604020202020204" pitchFamily="34" charset="0"/>
              </a:rPr>
              <a:t> de la cola; de lo contrario, </a:t>
            </a:r>
            <a:r>
              <a:rPr lang="es-ES" sz="1800" b="0" i="0" u="none" strike="noStrike" dirty="0" err="1">
                <a:solidFill>
                  <a:srgbClr val="000000"/>
                </a:solidFill>
                <a:effectLst/>
                <a:latin typeface="Arial" panose="020B0604020202020204" pitchFamily="34" charset="0"/>
              </a:rPr>
              <a:t>mq_receive</a:t>
            </a:r>
            <a:r>
              <a:rPr lang="es-ES" sz="1800" b="0" i="0" u="none" strike="noStrike" dirty="0">
                <a:solidFill>
                  <a:srgbClr val="000000"/>
                </a:solidFill>
                <a:effectLst/>
                <a:latin typeface="Arial" panose="020B0604020202020204" pitchFamily="34" charset="0"/>
              </a:rPr>
              <a:t>() falla con el error EMSGSIZE.</a:t>
            </a:r>
            <a:endParaRPr lang="es-ES" b="0" dirty="0">
              <a:effectLst/>
            </a:endParaRPr>
          </a:p>
          <a:p>
            <a:pPr marL="285750" indent="-285750">
              <a:buFont typeface="Arial" panose="020B0604020202020204" pitchFamily="34" charset="0"/>
              <a:buChar char="•"/>
            </a:pPr>
            <a:r>
              <a:rPr lang="es-ES" sz="1800" b="0" i="0" u="none" strike="noStrike" dirty="0">
                <a:solidFill>
                  <a:srgbClr val="000000"/>
                </a:solidFill>
                <a:effectLst/>
                <a:latin typeface="Arial" panose="020B0604020202020204" pitchFamily="34" charset="0"/>
              </a:rPr>
              <a:t>Si </a:t>
            </a:r>
            <a:r>
              <a:rPr lang="es-ES" sz="1800" b="0" i="0" u="none" strike="noStrike" dirty="0" err="1">
                <a:solidFill>
                  <a:srgbClr val="000000"/>
                </a:solidFill>
                <a:effectLst/>
                <a:latin typeface="Arial" panose="020B0604020202020204" pitchFamily="34" charset="0"/>
              </a:rPr>
              <a:t>msg_</a:t>
            </a:r>
            <a:r>
              <a:rPr lang="es-ES" sz="1800" i="0" u="none" strike="noStrike" dirty="0" err="1">
                <a:solidFill>
                  <a:srgbClr val="000000"/>
                </a:solidFill>
                <a:effectLst/>
                <a:latin typeface="Arial" panose="020B0604020202020204" pitchFamily="34" charset="0"/>
              </a:rPr>
              <a:t>prio</a:t>
            </a:r>
            <a:r>
              <a:rPr lang="es-ES" sz="1800" b="0" i="0" u="none" strike="noStrike" dirty="0">
                <a:solidFill>
                  <a:srgbClr val="000000"/>
                </a:solidFill>
                <a:effectLst/>
                <a:latin typeface="Arial" panose="020B0604020202020204" pitchFamily="34" charset="0"/>
              </a:rPr>
              <a:t> no es NULL, la prioridad del mensaje recibido se copia en la ubicación señalada por </a:t>
            </a:r>
            <a:r>
              <a:rPr lang="es-ES" sz="1800" b="0" i="0" u="none" strike="noStrike" dirty="0" err="1">
                <a:solidFill>
                  <a:srgbClr val="000000"/>
                </a:solidFill>
                <a:effectLst/>
                <a:latin typeface="Arial" panose="020B0604020202020204" pitchFamily="34" charset="0"/>
              </a:rPr>
              <a:t>msg_prio</a:t>
            </a:r>
            <a:r>
              <a:rPr lang="es-ES" sz="1800" b="0" i="0" u="none" strike="noStrike" dirty="0">
                <a:solidFill>
                  <a:srgbClr val="000000"/>
                </a:solidFill>
                <a:effectLst/>
                <a:latin typeface="Arial" panose="020B0604020202020204" pitchFamily="34" charset="0"/>
              </a:rPr>
              <a:t> (buscando el mensaje con tal prioridad).</a:t>
            </a:r>
          </a:p>
        </p:txBody>
      </p:sp>
      <p:sp>
        <p:nvSpPr>
          <p:cNvPr id="4" name="Título 1">
            <a:extLst>
              <a:ext uri="{FF2B5EF4-FFF2-40B4-BE49-F238E27FC236}">
                <a16:creationId xmlns:a16="http://schemas.microsoft.com/office/drawing/2014/main" id="{7A55E683-4C6B-0CD3-4A0B-4BB3B889DE0F}"/>
              </a:ext>
            </a:extLst>
          </p:cNvPr>
          <p:cNvSpPr>
            <a:spLocks noGrp="1"/>
          </p:cNvSpPr>
          <p:nvPr>
            <p:ph type="title"/>
          </p:nvPr>
        </p:nvSpPr>
        <p:spPr>
          <a:xfrm>
            <a:off x="0" y="704850"/>
            <a:ext cx="4686300" cy="5197475"/>
          </a:xfrm>
        </p:spPr>
        <p:txBody>
          <a:bodyPr>
            <a:normAutofit/>
          </a:bodyPr>
          <a:lstStyle/>
          <a:p>
            <a:pPr algn="ctr"/>
            <a:r>
              <a:rPr lang="es-ES" sz="3300" dirty="0"/>
              <a:t>FUNCIONES/ </a:t>
            </a:r>
            <a:r>
              <a:rPr lang="es-AR" sz="3300" dirty="0"/>
              <a:t>INTERCAMBIO DE MENSAJES/ RECEPCIÓN</a:t>
            </a:r>
          </a:p>
        </p:txBody>
      </p:sp>
    </p:spTree>
    <p:extLst>
      <p:ext uri="{BB962C8B-B14F-4D97-AF65-F5344CB8AC3E}">
        <p14:creationId xmlns:p14="http://schemas.microsoft.com/office/powerpoint/2010/main" val="18570082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605A3E-ABFE-C78E-3C86-A230EB153955}"/>
              </a:ext>
            </a:extLst>
          </p:cNvPr>
          <p:cNvSpPr>
            <a:spLocks noGrp="1"/>
          </p:cNvSpPr>
          <p:nvPr>
            <p:ph type="title"/>
          </p:nvPr>
        </p:nvSpPr>
        <p:spPr/>
        <p:txBody>
          <a:bodyPr>
            <a:normAutofit fontScale="90000"/>
          </a:bodyPr>
          <a:lstStyle/>
          <a:p>
            <a:pPr algn="ctr"/>
            <a:r>
              <a:rPr lang="es-AR" dirty="0"/>
              <a:t>OTRAS FUNCIONES/</a:t>
            </a:r>
            <a:r>
              <a:rPr lang="es-ES" dirty="0"/>
              <a:t>Enviar y recibir mensajes con un tiempo de espera</a:t>
            </a:r>
            <a:endParaRPr lang="es-AR" dirty="0"/>
          </a:p>
        </p:txBody>
      </p:sp>
      <p:sp>
        <p:nvSpPr>
          <p:cNvPr id="3" name="Marcador de contenido 2">
            <a:extLst>
              <a:ext uri="{FF2B5EF4-FFF2-40B4-BE49-F238E27FC236}">
                <a16:creationId xmlns:a16="http://schemas.microsoft.com/office/drawing/2014/main" id="{96A523C9-9C08-1792-2A4B-77135DA9537A}"/>
              </a:ext>
            </a:extLst>
          </p:cNvPr>
          <p:cNvSpPr>
            <a:spLocks noGrp="1"/>
          </p:cNvSpPr>
          <p:nvPr>
            <p:ph idx="1"/>
          </p:nvPr>
        </p:nvSpPr>
        <p:spPr>
          <a:xfrm>
            <a:off x="5376671" y="0"/>
            <a:ext cx="6172412" cy="6857999"/>
          </a:xfrm>
        </p:spPr>
        <p:txBody>
          <a:bodyPr/>
          <a:lstStyle/>
          <a:p>
            <a:pPr rtl="0">
              <a:buNone/>
            </a:pPr>
            <a:r>
              <a:rPr lang="es-ES" sz="1800" b="0" i="0" u="none" strike="noStrike" dirty="0">
                <a:solidFill>
                  <a:srgbClr val="000000"/>
                </a:solidFill>
                <a:effectLst/>
                <a:latin typeface="Arial" panose="020B0604020202020204" pitchFamily="34" charset="0"/>
              </a:rPr>
              <a:t>Las funciones </a:t>
            </a:r>
            <a:r>
              <a:rPr lang="es-ES" sz="1800" b="0" i="0" u="none" strike="noStrike" dirty="0" err="1">
                <a:solidFill>
                  <a:srgbClr val="000000"/>
                </a:solidFill>
                <a:effectLst/>
                <a:latin typeface="Arial" panose="020B0604020202020204" pitchFamily="34" charset="0"/>
              </a:rPr>
              <a:t>mq_</a:t>
            </a:r>
            <a:r>
              <a:rPr lang="es-ES" sz="1800" i="0" u="none" strike="noStrike" dirty="0" err="1">
                <a:solidFill>
                  <a:srgbClr val="000000"/>
                </a:solidFill>
                <a:effectLst/>
                <a:latin typeface="Arial" panose="020B0604020202020204" pitchFamily="34" charset="0"/>
              </a:rPr>
              <a:t>timedsend</a:t>
            </a:r>
            <a:r>
              <a:rPr lang="es-ES" sz="1800" b="0" i="0" u="none" strike="noStrike" dirty="0">
                <a:solidFill>
                  <a:srgbClr val="000000"/>
                </a:solidFill>
                <a:effectLst/>
                <a:latin typeface="Arial" panose="020B0604020202020204" pitchFamily="34" charset="0"/>
              </a:rPr>
              <a:t>() y </a:t>
            </a:r>
            <a:r>
              <a:rPr lang="es-ES" sz="1800" b="0" i="0" u="none" strike="noStrike" dirty="0" err="1">
                <a:solidFill>
                  <a:srgbClr val="000000"/>
                </a:solidFill>
                <a:effectLst/>
                <a:latin typeface="Arial" panose="020B0604020202020204" pitchFamily="34" charset="0"/>
              </a:rPr>
              <a:t>mq_</a:t>
            </a:r>
            <a:r>
              <a:rPr lang="es-ES" sz="1800" i="0" u="none" strike="noStrike" dirty="0" err="1">
                <a:solidFill>
                  <a:srgbClr val="000000"/>
                </a:solidFill>
                <a:effectLst/>
                <a:latin typeface="Arial" panose="020B0604020202020204" pitchFamily="34" charset="0"/>
              </a:rPr>
              <a:t>timedreceive</a:t>
            </a:r>
            <a:r>
              <a:rPr lang="es-ES" sz="1800" b="0" i="0" u="none" strike="noStrike" dirty="0">
                <a:solidFill>
                  <a:srgbClr val="000000"/>
                </a:solidFill>
                <a:effectLst/>
                <a:latin typeface="Arial" panose="020B0604020202020204" pitchFamily="34" charset="0"/>
              </a:rPr>
              <a:t>() son exactamente igual que </a:t>
            </a:r>
            <a:r>
              <a:rPr lang="es-ES" sz="1800" b="0" i="0" u="none" strike="noStrike" dirty="0" err="1">
                <a:solidFill>
                  <a:srgbClr val="000000"/>
                </a:solidFill>
                <a:effectLst/>
                <a:latin typeface="Arial" panose="020B0604020202020204" pitchFamily="34" charset="0"/>
              </a:rPr>
              <a:t>mq_send</a:t>
            </a:r>
            <a:r>
              <a:rPr lang="es-ES" sz="1800" b="0" i="0" u="none" strike="noStrike" dirty="0">
                <a:solidFill>
                  <a:srgbClr val="000000"/>
                </a:solidFill>
                <a:effectLst/>
                <a:latin typeface="Arial" panose="020B0604020202020204" pitchFamily="34" charset="0"/>
              </a:rPr>
              <a:t>() </a:t>
            </a:r>
            <a:r>
              <a:rPr lang="es-ES" sz="1800" b="0" i="0" u="none" strike="noStrike" dirty="0" err="1">
                <a:solidFill>
                  <a:srgbClr val="000000"/>
                </a:solidFill>
                <a:effectLst/>
                <a:latin typeface="Arial" panose="020B0604020202020204" pitchFamily="34" charset="0"/>
              </a:rPr>
              <a:t>andmq_receive</a:t>
            </a:r>
            <a:r>
              <a:rPr lang="es-ES" sz="1800" b="0" i="0" u="none" strike="noStrike" dirty="0">
                <a:solidFill>
                  <a:srgbClr val="000000"/>
                </a:solidFill>
                <a:effectLst/>
                <a:latin typeface="Arial" panose="020B0604020202020204" pitchFamily="34" charset="0"/>
              </a:rPr>
              <a:t>(), excepto que si la operación no se puede realizar inmediatamente y el indicador O_NONBLOCK no está en vigor para la descripción de la cola de mensajes, entonces el argumentó </a:t>
            </a:r>
            <a:r>
              <a:rPr lang="es-ES" sz="1800" b="0" i="0" u="none" strike="noStrike" dirty="0" err="1">
                <a:solidFill>
                  <a:srgbClr val="000000"/>
                </a:solidFill>
                <a:effectLst/>
                <a:latin typeface="Arial" panose="020B0604020202020204" pitchFamily="34" charset="0"/>
              </a:rPr>
              <a:t>abs_</a:t>
            </a:r>
            <a:r>
              <a:rPr lang="es-ES" sz="1800" i="0" u="none" strike="noStrike" dirty="0" err="1">
                <a:solidFill>
                  <a:srgbClr val="000000"/>
                </a:solidFill>
                <a:effectLst/>
                <a:latin typeface="Arial" panose="020B0604020202020204" pitchFamily="34" charset="0"/>
              </a:rPr>
              <a:t>timeout</a:t>
            </a:r>
            <a:r>
              <a:rPr lang="es-ES" sz="1800" b="0" i="0" u="none" strike="noStrike" dirty="0">
                <a:solidFill>
                  <a:srgbClr val="000000"/>
                </a:solidFill>
                <a:effectLst/>
                <a:latin typeface="Arial" panose="020B0604020202020204" pitchFamily="34" charset="0"/>
              </a:rPr>
              <a:t> especifica un límite en el tiempo durante el cual se </a:t>
            </a:r>
            <a:r>
              <a:rPr lang="es-ES" sz="1800" i="0" u="none" strike="noStrike" dirty="0">
                <a:solidFill>
                  <a:srgbClr val="000000"/>
                </a:solidFill>
                <a:effectLst/>
                <a:latin typeface="Arial" panose="020B0604020202020204" pitchFamily="34" charset="0"/>
              </a:rPr>
              <a:t>bloqueará</a:t>
            </a:r>
            <a:r>
              <a:rPr lang="es-ES" sz="1800" b="0" i="0" u="none" strike="noStrike" dirty="0">
                <a:solidFill>
                  <a:srgbClr val="000000"/>
                </a:solidFill>
                <a:effectLst/>
                <a:latin typeface="Arial" panose="020B0604020202020204" pitchFamily="34" charset="0"/>
              </a:rPr>
              <a:t> la llamada.</a:t>
            </a:r>
          </a:p>
          <a:p>
            <a:pPr rtl="0">
              <a:buNone/>
            </a:pPr>
            <a:endParaRPr lang="es-ES" b="0" dirty="0">
              <a:effectLst/>
            </a:endParaRPr>
          </a:p>
          <a:p>
            <a:pPr rtl="0">
              <a:buNone/>
            </a:pPr>
            <a:endParaRPr lang="es-ES" b="0" dirty="0"/>
          </a:p>
          <a:p>
            <a:pPr rtl="0">
              <a:buNone/>
            </a:pPr>
            <a:endParaRPr lang="es-ES" b="0" dirty="0">
              <a:effectLst/>
            </a:endParaRPr>
          </a:p>
          <a:p>
            <a:pPr rtl="0">
              <a:buNone/>
            </a:pPr>
            <a:endParaRPr lang="es-ES" b="0" dirty="0">
              <a:effectLst/>
            </a:endParaRPr>
          </a:p>
        </p:txBody>
      </p:sp>
      <p:pic>
        <p:nvPicPr>
          <p:cNvPr id="12290" name="Picture 2">
            <a:extLst>
              <a:ext uri="{FF2B5EF4-FFF2-40B4-BE49-F238E27FC236}">
                <a16:creationId xmlns:a16="http://schemas.microsoft.com/office/drawing/2014/main" id="{63914D38-3818-A675-E07F-D2698180A4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4343" y="4152275"/>
            <a:ext cx="7437658" cy="2705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20084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F6C4E6-4121-245D-8356-8F4947B42E04}"/>
              </a:ext>
            </a:extLst>
          </p:cNvPr>
          <p:cNvSpPr>
            <a:spLocks noGrp="1"/>
          </p:cNvSpPr>
          <p:nvPr>
            <p:ph type="title"/>
          </p:nvPr>
        </p:nvSpPr>
        <p:spPr/>
        <p:txBody>
          <a:bodyPr>
            <a:normAutofit fontScale="90000"/>
          </a:bodyPr>
          <a:lstStyle/>
          <a:p>
            <a:pPr algn="ctr"/>
            <a:r>
              <a:rPr lang="es-AR" dirty="0"/>
              <a:t>OTRAS FUNCIONES/</a:t>
            </a:r>
            <a:r>
              <a:rPr lang="es-ES" dirty="0"/>
              <a:t>Enviar y recibir mensajes con un tiempo de espera</a:t>
            </a:r>
            <a:endParaRPr lang="es-AR" dirty="0"/>
          </a:p>
        </p:txBody>
      </p:sp>
      <p:sp>
        <p:nvSpPr>
          <p:cNvPr id="3" name="Marcador de contenido 2">
            <a:extLst>
              <a:ext uri="{FF2B5EF4-FFF2-40B4-BE49-F238E27FC236}">
                <a16:creationId xmlns:a16="http://schemas.microsoft.com/office/drawing/2014/main" id="{6D29F52A-C326-0651-9894-1A85BB95C9F4}"/>
              </a:ext>
            </a:extLst>
          </p:cNvPr>
          <p:cNvSpPr>
            <a:spLocks noGrp="1"/>
          </p:cNvSpPr>
          <p:nvPr>
            <p:ph idx="1"/>
          </p:nvPr>
        </p:nvSpPr>
        <p:spPr/>
        <p:txBody>
          <a:bodyPr/>
          <a:lstStyle/>
          <a:p>
            <a:pPr rtl="0">
              <a:buNone/>
            </a:pPr>
            <a:r>
              <a:rPr lang="es-ES" sz="1800" i="0" u="none" strike="noStrike" dirty="0">
                <a:solidFill>
                  <a:srgbClr val="000000"/>
                </a:solidFill>
                <a:effectLst/>
                <a:latin typeface="Arial" panose="020B0604020202020204" pitchFamily="34" charset="0"/>
              </a:rPr>
              <a:t>Si se agota el tiempo </a:t>
            </a:r>
            <a:r>
              <a:rPr lang="es-ES" sz="1800" b="0" i="0" u="none" strike="noStrike" dirty="0">
                <a:solidFill>
                  <a:srgbClr val="000000"/>
                </a:solidFill>
                <a:effectLst/>
                <a:latin typeface="Arial" panose="020B0604020202020204" pitchFamily="34" charset="0"/>
              </a:rPr>
              <a:t>de espera de una llamada a </a:t>
            </a:r>
            <a:r>
              <a:rPr lang="es-ES" sz="1800" b="0" i="0" u="none" strike="noStrike" dirty="0" err="1">
                <a:solidFill>
                  <a:srgbClr val="000000"/>
                </a:solidFill>
                <a:effectLst/>
                <a:latin typeface="Arial" panose="020B0604020202020204" pitchFamily="34" charset="0"/>
              </a:rPr>
              <a:t>mq_timedsend</a:t>
            </a:r>
            <a:r>
              <a:rPr lang="es-ES" sz="1800" b="0" i="0" u="none" strike="noStrike" dirty="0">
                <a:solidFill>
                  <a:srgbClr val="000000"/>
                </a:solidFill>
                <a:effectLst/>
                <a:latin typeface="Arial" panose="020B0604020202020204" pitchFamily="34" charset="0"/>
              </a:rPr>
              <a:t>() o </a:t>
            </a:r>
            <a:r>
              <a:rPr lang="es-ES" sz="1800" b="0" i="0" u="none" strike="noStrike" dirty="0" err="1">
                <a:solidFill>
                  <a:srgbClr val="000000"/>
                </a:solidFill>
                <a:effectLst/>
                <a:latin typeface="Arial" panose="020B0604020202020204" pitchFamily="34" charset="0"/>
              </a:rPr>
              <a:t>mq_timedreceive</a:t>
            </a:r>
            <a:r>
              <a:rPr lang="es-ES" sz="1800" b="0" i="0" u="none" strike="noStrike" dirty="0">
                <a:solidFill>
                  <a:srgbClr val="000000"/>
                </a:solidFill>
                <a:effectLst/>
                <a:latin typeface="Arial" panose="020B0604020202020204" pitchFamily="34" charset="0"/>
              </a:rPr>
              <a:t>() sin poder completar su operación, la llamada falla con el </a:t>
            </a:r>
            <a:r>
              <a:rPr lang="es-ES" sz="1800" i="0" u="none" strike="noStrike" dirty="0">
                <a:solidFill>
                  <a:srgbClr val="000000"/>
                </a:solidFill>
                <a:effectLst/>
                <a:latin typeface="Arial" panose="020B0604020202020204" pitchFamily="34" charset="0"/>
              </a:rPr>
              <a:t>error ETIMEDOUT</a:t>
            </a:r>
            <a:r>
              <a:rPr lang="es-ES" sz="1800" b="0" i="0" u="none" strike="noStrike" dirty="0">
                <a:solidFill>
                  <a:srgbClr val="000000"/>
                </a:solidFill>
                <a:effectLst/>
                <a:latin typeface="Arial" panose="020B0604020202020204" pitchFamily="34" charset="0"/>
              </a:rPr>
              <a:t>.</a:t>
            </a:r>
            <a:endParaRPr lang="es-ES" b="0" dirty="0">
              <a:effectLst/>
            </a:endParaRPr>
          </a:p>
          <a:p>
            <a:pPr rtl="0">
              <a:buNone/>
            </a:pPr>
            <a:r>
              <a:rPr lang="es-ES" sz="1800" b="0" i="0" u="none" strike="noStrike" dirty="0">
                <a:solidFill>
                  <a:srgbClr val="000000"/>
                </a:solidFill>
                <a:effectLst/>
                <a:latin typeface="Arial" panose="020B0604020202020204" pitchFamily="34" charset="0"/>
              </a:rPr>
              <a:t>En Linux, especificar </a:t>
            </a:r>
            <a:r>
              <a:rPr lang="es-ES" sz="1800" b="0" i="0" u="none" strike="noStrike" dirty="0" err="1">
                <a:solidFill>
                  <a:srgbClr val="000000"/>
                </a:solidFill>
                <a:effectLst/>
                <a:latin typeface="Arial" panose="020B0604020202020204" pitchFamily="34" charset="0"/>
              </a:rPr>
              <a:t>abs_timeout</a:t>
            </a:r>
            <a:r>
              <a:rPr lang="es-ES" sz="1800" b="0" i="0" u="none" strike="noStrike" dirty="0">
                <a:solidFill>
                  <a:srgbClr val="000000"/>
                </a:solidFill>
                <a:effectLst/>
                <a:latin typeface="Arial" panose="020B0604020202020204" pitchFamily="34" charset="0"/>
              </a:rPr>
              <a:t> como NULL significa un tiempo de espera infinito.</a:t>
            </a:r>
            <a:endParaRPr lang="es-ES" b="0" dirty="0">
              <a:effectLst/>
            </a:endParaRPr>
          </a:p>
        </p:txBody>
      </p:sp>
    </p:spTree>
    <p:extLst>
      <p:ext uri="{BB962C8B-B14F-4D97-AF65-F5344CB8AC3E}">
        <p14:creationId xmlns:p14="http://schemas.microsoft.com/office/powerpoint/2010/main" val="15932560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C59A3B-CD0A-E9D7-18E8-4F9779CEC6D3}"/>
              </a:ext>
            </a:extLst>
          </p:cNvPr>
          <p:cNvSpPr>
            <a:spLocks noGrp="1"/>
          </p:cNvSpPr>
          <p:nvPr>
            <p:ph type="title"/>
          </p:nvPr>
        </p:nvSpPr>
        <p:spPr>
          <a:xfrm>
            <a:off x="1" y="705113"/>
            <a:ext cx="4714874" cy="5197498"/>
          </a:xfrm>
        </p:spPr>
        <p:txBody>
          <a:bodyPr>
            <a:normAutofit/>
          </a:bodyPr>
          <a:lstStyle/>
          <a:p>
            <a:pPr algn="ctr"/>
            <a:r>
              <a:rPr lang="es-AR" sz="3200" dirty="0"/>
              <a:t>OTRAS FUNCIONES/ </a:t>
            </a:r>
            <a:r>
              <a:rPr lang="es-ES" sz="3200" dirty="0"/>
              <a:t>NOTIFICACIONES</a:t>
            </a:r>
            <a:endParaRPr lang="es-AR" sz="3200" dirty="0"/>
          </a:p>
        </p:txBody>
      </p:sp>
      <p:sp>
        <p:nvSpPr>
          <p:cNvPr id="3" name="Marcador de contenido 2">
            <a:extLst>
              <a:ext uri="{FF2B5EF4-FFF2-40B4-BE49-F238E27FC236}">
                <a16:creationId xmlns:a16="http://schemas.microsoft.com/office/drawing/2014/main" id="{9EEC31E7-F16A-3349-D399-5D1708FE31A3}"/>
              </a:ext>
            </a:extLst>
          </p:cNvPr>
          <p:cNvSpPr>
            <a:spLocks noGrp="1"/>
          </p:cNvSpPr>
          <p:nvPr>
            <p:ph idx="1"/>
          </p:nvPr>
        </p:nvSpPr>
        <p:spPr>
          <a:xfrm>
            <a:off x="5376671" y="1"/>
            <a:ext cx="6172412" cy="5614987"/>
          </a:xfrm>
        </p:spPr>
        <p:txBody>
          <a:bodyPr>
            <a:normAutofit/>
          </a:bodyPr>
          <a:lstStyle/>
          <a:p>
            <a:r>
              <a:rPr lang="es-ES" sz="1800" b="0" i="0" u="none" strike="noStrike" dirty="0">
                <a:solidFill>
                  <a:srgbClr val="000000"/>
                </a:solidFill>
                <a:effectLst/>
                <a:latin typeface="Arial" panose="020B0604020202020204" pitchFamily="34" charset="0"/>
              </a:rPr>
              <a:t>La función </a:t>
            </a:r>
            <a:r>
              <a:rPr lang="es-ES" sz="1800" b="0" i="0" u="none" strike="noStrike" dirty="0" err="1">
                <a:solidFill>
                  <a:srgbClr val="000000"/>
                </a:solidFill>
                <a:effectLst/>
                <a:latin typeface="Arial" panose="020B0604020202020204" pitchFamily="34" charset="0"/>
              </a:rPr>
              <a:t>mq_</a:t>
            </a:r>
            <a:r>
              <a:rPr lang="es-ES" sz="1800" i="0" u="none" strike="noStrike" dirty="0" err="1">
                <a:solidFill>
                  <a:srgbClr val="000000"/>
                </a:solidFill>
                <a:effectLst/>
                <a:latin typeface="Arial" panose="020B0604020202020204" pitchFamily="34" charset="0"/>
              </a:rPr>
              <a:t>notify</a:t>
            </a:r>
            <a:r>
              <a:rPr lang="es-ES" sz="1800" b="0" i="0" u="none" strike="noStrike" dirty="0">
                <a:solidFill>
                  <a:srgbClr val="000000"/>
                </a:solidFill>
                <a:effectLst/>
                <a:latin typeface="Arial" panose="020B0604020202020204" pitchFamily="34" charset="0"/>
              </a:rPr>
              <a:t>() registra el proceso de llamada para recibir una notificación asíncrona de la disponibilidad un mensaje </a:t>
            </a:r>
            <a:r>
              <a:rPr lang="es-ES" b="0" dirty="0">
                <a:solidFill>
                  <a:srgbClr val="000000"/>
                </a:solidFill>
                <a:latin typeface="Arial" panose="020B0604020202020204" pitchFamily="34" charset="0"/>
              </a:rPr>
              <a:t>en una</a:t>
            </a:r>
            <a:r>
              <a:rPr lang="es-ES" sz="1800" b="0" i="0" u="none" strike="noStrike" dirty="0">
                <a:solidFill>
                  <a:srgbClr val="000000"/>
                </a:solidFill>
                <a:effectLst/>
                <a:latin typeface="Arial" panose="020B0604020202020204" pitchFamily="34" charset="0"/>
              </a:rPr>
              <a:t> cola previamente </a:t>
            </a:r>
            <a:r>
              <a:rPr lang="es-ES" sz="1800" i="0" u="none" strike="noStrike" dirty="0">
                <a:solidFill>
                  <a:srgbClr val="000000"/>
                </a:solidFill>
                <a:effectLst/>
                <a:latin typeface="Arial" panose="020B0604020202020204" pitchFamily="34" charset="0"/>
              </a:rPr>
              <a:t>VACÍA</a:t>
            </a:r>
            <a:r>
              <a:rPr lang="es-ES" sz="1800" b="0" i="0" u="none" strike="noStrike" dirty="0">
                <a:solidFill>
                  <a:srgbClr val="000000"/>
                </a:solidFill>
                <a:effectLst/>
                <a:latin typeface="Arial" panose="020B0604020202020204" pitchFamily="34" charset="0"/>
              </a:rPr>
              <a:t> a la que se refiere el descriptor </a:t>
            </a:r>
            <a:r>
              <a:rPr lang="es-ES" sz="1800" b="0" i="0" u="none" strike="noStrike" dirty="0" err="1">
                <a:solidFill>
                  <a:srgbClr val="000000"/>
                </a:solidFill>
                <a:effectLst/>
                <a:latin typeface="Arial" panose="020B0604020202020204" pitchFamily="34" charset="0"/>
              </a:rPr>
              <a:t>mqdes</a:t>
            </a:r>
            <a:r>
              <a:rPr lang="es-ES" sz="1800" b="0" i="0" u="none" strike="noStrike" dirty="0">
                <a:solidFill>
                  <a:srgbClr val="000000"/>
                </a:solidFill>
                <a:effectLst/>
                <a:latin typeface="Arial" panose="020B0604020202020204" pitchFamily="34" charset="0"/>
              </a:rPr>
              <a:t>. (es decir, cuando la cola pasa de estar vacía a no vacía).</a:t>
            </a:r>
          </a:p>
        </p:txBody>
      </p:sp>
      <p:pic>
        <p:nvPicPr>
          <p:cNvPr id="14338" name="Picture 2">
            <a:extLst>
              <a:ext uri="{FF2B5EF4-FFF2-40B4-BE49-F238E27FC236}">
                <a16:creationId xmlns:a16="http://schemas.microsoft.com/office/drawing/2014/main" id="{93900A05-F787-C236-285F-F64BA277C2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8796" y="4489076"/>
            <a:ext cx="7288161" cy="112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98837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713DB5-BFE6-6039-8766-6B71BFBA22B2}"/>
              </a:ext>
            </a:extLst>
          </p:cNvPr>
          <p:cNvSpPr>
            <a:spLocks noGrp="1"/>
          </p:cNvSpPr>
          <p:nvPr>
            <p:ph type="title"/>
          </p:nvPr>
        </p:nvSpPr>
        <p:spPr>
          <a:xfrm>
            <a:off x="0" y="705113"/>
            <a:ext cx="4686300" cy="5197498"/>
          </a:xfrm>
        </p:spPr>
        <p:txBody>
          <a:bodyPr/>
          <a:lstStyle/>
          <a:p>
            <a:pPr algn="ctr"/>
            <a:r>
              <a:rPr lang="es-AR" sz="3200" dirty="0"/>
              <a:t>OTRAS FUNCIONES/ </a:t>
            </a:r>
            <a:r>
              <a:rPr lang="es-ES" sz="3200" dirty="0"/>
              <a:t>NOTIFICACIONES</a:t>
            </a:r>
            <a:endParaRPr lang="es-AR" sz="3200" dirty="0"/>
          </a:p>
        </p:txBody>
      </p:sp>
      <p:sp>
        <p:nvSpPr>
          <p:cNvPr id="3" name="Marcador de contenido 2">
            <a:extLst>
              <a:ext uri="{FF2B5EF4-FFF2-40B4-BE49-F238E27FC236}">
                <a16:creationId xmlns:a16="http://schemas.microsoft.com/office/drawing/2014/main" id="{CAC6BB2A-D716-4B34-B797-83944B9F6D2F}"/>
              </a:ext>
            </a:extLst>
          </p:cNvPr>
          <p:cNvSpPr>
            <a:spLocks noGrp="1"/>
          </p:cNvSpPr>
          <p:nvPr>
            <p:ph idx="1"/>
          </p:nvPr>
        </p:nvSpPr>
        <p:spPr>
          <a:xfrm>
            <a:off x="5376671" y="385763"/>
            <a:ext cx="6172412" cy="6057900"/>
          </a:xfrm>
        </p:spPr>
        <p:txBody>
          <a:bodyPr>
            <a:normAutofit lnSpcReduction="10000"/>
          </a:bodyPr>
          <a:lstStyle/>
          <a:p>
            <a:pPr marL="285750" indent="-285750" rtl="0" fontAlgn="base">
              <a:buFont typeface="Arial" panose="020B0604020202020204" pitchFamily="34" charset="0"/>
              <a:buChar char="•"/>
            </a:pPr>
            <a:r>
              <a:rPr lang="es-ES" sz="1800" b="0" i="0" u="none" strike="noStrike" dirty="0">
                <a:solidFill>
                  <a:srgbClr val="000000"/>
                </a:solidFill>
                <a:effectLst/>
                <a:latin typeface="Arial" panose="020B0604020202020204" pitchFamily="34" charset="0"/>
              </a:rPr>
              <a:t>Si ya hay un </a:t>
            </a:r>
            <a:r>
              <a:rPr lang="es-ES" sz="1800" i="0" u="none" strike="noStrike" dirty="0">
                <a:solidFill>
                  <a:srgbClr val="000000"/>
                </a:solidFill>
                <a:effectLst/>
                <a:latin typeface="Arial" panose="020B0604020202020204" pitchFamily="34" charset="0"/>
              </a:rPr>
              <a:t>proceso</a:t>
            </a:r>
            <a:r>
              <a:rPr lang="es-ES" sz="1800" b="0" i="0" u="none" strike="noStrike" dirty="0">
                <a:solidFill>
                  <a:srgbClr val="000000"/>
                </a:solidFill>
                <a:effectLst/>
                <a:latin typeface="Arial" panose="020B0604020202020204" pitchFamily="34" charset="0"/>
              </a:rPr>
              <a:t> registrado para una cola de mensajes, los intentos posteriores de registrarse para esa cola fallan (</a:t>
            </a:r>
            <a:r>
              <a:rPr lang="es-ES" sz="1800" b="0" i="0" u="none" strike="noStrike" dirty="0" err="1">
                <a:solidFill>
                  <a:srgbClr val="000000"/>
                </a:solidFill>
                <a:effectLst/>
                <a:latin typeface="Arial" panose="020B0604020202020204" pitchFamily="34" charset="0"/>
              </a:rPr>
              <a:t>mq_notify</a:t>
            </a:r>
            <a:r>
              <a:rPr lang="es-ES" sz="1800" b="0" i="0" u="none" strike="noStrike" dirty="0">
                <a:solidFill>
                  <a:srgbClr val="000000"/>
                </a:solidFill>
                <a:effectLst/>
                <a:latin typeface="Arial" panose="020B0604020202020204" pitchFamily="34" charset="0"/>
              </a:rPr>
              <a:t>() fallan con el error </a:t>
            </a:r>
            <a:r>
              <a:rPr lang="es-ES" sz="1800" i="0" u="none" strike="noStrike" dirty="0">
                <a:solidFill>
                  <a:srgbClr val="000000"/>
                </a:solidFill>
                <a:effectLst/>
                <a:latin typeface="Arial" panose="020B0604020202020204" pitchFamily="34" charset="0"/>
              </a:rPr>
              <a:t>EBUSY</a:t>
            </a:r>
            <a:r>
              <a:rPr lang="es-ES" sz="1800" b="0" i="0" u="none" strike="noStrike" dirty="0">
                <a:solidFill>
                  <a:srgbClr val="000000"/>
                </a:solidFill>
                <a:effectLst/>
                <a:latin typeface="Arial" panose="020B0604020202020204" pitchFamily="34" charset="0"/>
              </a:rPr>
              <a:t>).</a:t>
            </a:r>
          </a:p>
          <a:p>
            <a:pPr marL="285750" indent="-285750" rtl="0" fontAlgn="base">
              <a:buFont typeface="Arial" panose="020B0604020202020204" pitchFamily="34" charset="0"/>
              <a:buChar char="•"/>
            </a:pPr>
            <a:r>
              <a:rPr lang="es-ES" sz="1800" b="0" i="0" u="none" strike="noStrike" dirty="0">
                <a:solidFill>
                  <a:srgbClr val="000000"/>
                </a:solidFill>
                <a:effectLst/>
                <a:latin typeface="Arial" panose="020B0604020202020204" pitchFamily="34" charset="0"/>
              </a:rPr>
              <a:t>Si una cola ya contiene mensajes en el momento del registro, solo se producirá una notificación después de que se vacíe la cola y llegue un nuevo mensaje.</a:t>
            </a:r>
          </a:p>
          <a:p>
            <a:pPr marL="285750" indent="-285750" rtl="0" fontAlgn="base">
              <a:buFont typeface="Arial" panose="020B0604020202020204" pitchFamily="34" charset="0"/>
              <a:buChar char="•"/>
            </a:pPr>
            <a:r>
              <a:rPr lang="es-ES" sz="1800" b="0" i="0" u="none" strike="noStrike" dirty="0">
                <a:solidFill>
                  <a:srgbClr val="000000"/>
                </a:solidFill>
                <a:effectLst/>
                <a:latin typeface="Arial" panose="020B0604020202020204" pitchFamily="34" charset="0"/>
              </a:rPr>
              <a:t>Después de enviar una notificación al proceso registrado, el registro se elimina y cualquier proceso puede registrarse para la notificación.</a:t>
            </a:r>
          </a:p>
          <a:p>
            <a:pPr marL="285750" indent="-285750" fontAlgn="base">
              <a:buFont typeface="Arial" panose="020B0604020202020204" pitchFamily="34" charset="0"/>
              <a:buChar char="•"/>
            </a:pPr>
            <a:r>
              <a:rPr lang="es-ES" sz="1800" b="0" i="0" u="none" strike="noStrike" dirty="0">
                <a:solidFill>
                  <a:srgbClr val="000000"/>
                </a:solidFill>
                <a:effectLst/>
                <a:latin typeface="Arial" panose="020B0604020202020204" pitchFamily="34" charset="0"/>
              </a:rPr>
              <a:t>Un proceso puede anular explícitamente el registro como destino de la notificación de mensajes llamando a </a:t>
            </a:r>
            <a:r>
              <a:rPr lang="es-ES" sz="1800" b="0" i="0" u="none" strike="noStrike" dirty="0" err="1">
                <a:solidFill>
                  <a:srgbClr val="000000"/>
                </a:solidFill>
                <a:effectLst/>
                <a:latin typeface="Arial" panose="020B0604020202020204" pitchFamily="34" charset="0"/>
              </a:rPr>
              <a:t>mq_notify</a:t>
            </a:r>
            <a:r>
              <a:rPr lang="es-ES" sz="1800" b="0" i="0" u="none" strike="noStrike" dirty="0">
                <a:solidFill>
                  <a:srgbClr val="000000"/>
                </a:solidFill>
                <a:effectLst/>
                <a:latin typeface="Arial" panose="020B0604020202020204" pitchFamily="34" charset="0"/>
              </a:rPr>
              <a:t>() con un argumento de notificación de NULL. </a:t>
            </a:r>
          </a:p>
        </p:txBody>
      </p:sp>
    </p:spTree>
    <p:extLst>
      <p:ext uri="{BB962C8B-B14F-4D97-AF65-F5344CB8AC3E}">
        <p14:creationId xmlns:p14="http://schemas.microsoft.com/office/powerpoint/2010/main" val="1324199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B696269-C64B-D7E9-A6C6-D9AB27BE4290}"/>
              </a:ext>
            </a:extLst>
          </p:cNvPr>
          <p:cNvSpPr>
            <a:spLocks noGrp="1"/>
          </p:cNvSpPr>
          <p:nvPr>
            <p:ph idx="1"/>
          </p:nvPr>
        </p:nvSpPr>
        <p:spPr/>
        <p:txBody>
          <a:bodyPr/>
          <a:lstStyle/>
          <a:p>
            <a:pPr marL="285750" indent="-285750" rtl="0">
              <a:buFont typeface="Arial" panose="020B0604020202020204" pitchFamily="34" charset="0"/>
              <a:buChar char="•"/>
            </a:pPr>
            <a:r>
              <a:rPr lang="es-ES" sz="1800" b="0" i="0" u="none" strike="noStrike" dirty="0">
                <a:solidFill>
                  <a:srgbClr val="000000"/>
                </a:solidFill>
                <a:effectLst/>
                <a:latin typeface="Arial" panose="020B0604020202020204" pitchFamily="34" charset="0"/>
              </a:rPr>
              <a:t>El argumento </a:t>
            </a:r>
            <a:r>
              <a:rPr lang="es-ES" sz="1800" i="0" u="none" strike="noStrike" dirty="0" err="1">
                <a:solidFill>
                  <a:srgbClr val="000000"/>
                </a:solidFill>
                <a:effectLst/>
                <a:latin typeface="Arial" panose="020B0604020202020204" pitchFamily="34" charset="0"/>
              </a:rPr>
              <a:t>notification</a:t>
            </a:r>
            <a:r>
              <a:rPr lang="es-ES" sz="1800" b="0" i="0" u="none" strike="noStrike" dirty="0">
                <a:solidFill>
                  <a:srgbClr val="000000"/>
                </a:solidFill>
                <a:effectLst/>
                <a:latin typeface="Arial" panose="020B0604020202020204" pitchFamily="34" charset="0"/>
              </a:rPr>
              <a:t> especifica el mecanismo por el cual se va a notificar el proceso.</a:t>
            </a:r>
            <a:endParaRPr lang="es-ES" b="0" dirty="0">
              <a:effectLst/>
            </a:endParaRPr>
          </a:p>
          <a:p>
            <a:pPr rtl="0">
              <a:buNone/>
            </a:pPr>
            <a:r>
              <a:rPr lang="es-ES" sz="1800" b="0" i="0" u="none" strike="noStrike" dirty="0">
                <a:solidFill>
                  <a:srgbClr val="000000"/>
                </a:solidFill>
                <a:effectLst/>
                <a:latin typeface="Arial" panose="020B0604020202020204" pitchFamily="34" charset="0"/>
              </a:rPr>
              <a:t>Presentamos la estructura en forma simplificada, mostrando solo aquellos campos relevantes para la discusión de </a:t>
            </a:r>
            <a:r>
              <a:rPr lang="es-ES" sz="1800" b="0" i="0" u="none" strike="noStrike" dirty="0" err="1">
                <a:solidFill>
                  <a:srgbClr val="000000"/>
                </a:solidFill>
                <a:effectLst/>
                <a:latin typeface="Arial" panose="020B0604020202020204" pitchFamily="34" charset="0"/>
              </a:rPr>
              <a:t>mq_notify</a:t>
            </a:r>
            <a:r>
              <a:rPr lang="es-ES" sz="1800" b="0" i="0" u="none" strike="noStrike" dirty="0">
                <a:solidFill>
                  <a:srgbClr val="000000"/>
                </a:solidFill>
                <a:effectLst/>
                <a:latin typeface="Arial" panose="020B0604020202020204" pitchFamily="34" charset="0"/>
              </a:rPr>
              <a:t>():</a:t>
            </a:r>
          </a:p>
          <a:p>
            <a:pPr rtl="0">
              <a:buNone/>
            </a:pPr>
            <a:endParaRPr lang="es-ES" b="0" dirty="0">
              <a:solidFill>
                <a:srgbClr val="000000"/>
              </a:solidFill>
              <a:latin typeface="Arial" panose="020B0604020202020204" pitchFamily="34" charset="0"/>
            </a:endParaRPr>
          </a:p>
          <a:p>
            <a:pPr rtl="0">
              <a:buNone/>
            </a:pPr>
            <a:endParaRPr lang="es-ES" sz="1800" b="0" i="0" u="none" strike="noStrike" dirty="0">
              <a:solidFill>
                <a:srgbClr val="000000"/>
              </a:solidFill>
              <a:effectLst/>
              <a:latin typeface="Arial" panose="020B0604020202020204" pitchFamily="34" charset="0"/>
            </a:endParaRPr>
          </a:p>
          <a:p>
            <a:pPr rtl="0">
              <a:buNone/>
            </a:pPr>
            <a:endParaRPr lang="es-ES" b="0" dirty="0">
              <a:solidFill>
                <a:srgbClr val="000000"/>
              </a:solidFill>
              <a:latin typeface="Arial" panose="020B0604020202020204" pitchFamily="34" charset="0"/>
            </a:endParaRPr>
          </a:p>
          <a:p>
            <a:pPr rtl="0">
              <a:buNone/>
            </a:pPr>
            <a:endParaRPr lang="es-ES" sz="1800" b="0" i="0" u="none" strike="noStrike" dirty="0">
              <a:solidFill>
                <a:srgbClr val="000000"/>
              </a:solidFill>
              <a:effectLst/>
              <a:latin typeface="Arial" panose="020B0604020202020204" pitchFamily="34" charset="0"/>
            </a:endParaRPr>
          </a:p>
          <a:p>
            <a:pPr rtl="0">
              <a:buNone/>
            </a:pPr>
            <a:endParaRPr lang="es-ES" b="0" dirty="0">
              <a:effectLst/>
            </a:endParaRPr>
          </a:p>
        </p:txBody>
      </p:sp>
      <p:sp>
        <p:nvSpPr>
          <p:cNvPr id="6" name="Título 1">
            <a:extLst>
              <a:ext uri="{FF2B5EF4-FFF2-40B4-BE49-F238E27FC236}">
                <a16:creationId xmlns:a16="http://schemas.microsoft.com/office/drawing/2014/main" id="{8A0E6947-7AB4-CCF5-49C1-0290964E9BE3}"/>
              </a:ext>
            </a:extLst>
          </p:cNvPr>
          <p:cNvSpPr>
            <a:spLocks noGrp="1"/>
          </p:cNvSpPr>
          <p:nvPr>
            <p:ph type="title"/>
          </p:nvPr>
        </p:nvSpPr>
        <p:spPr>
          <a:xfrm>
            <a:off x="1" y="705113"/>
            <a:ext cx="4714874" cy="5197498"/>
          </a:xfrm>
        </p:spPr>
        <p:txBody>
          <a:bodyPr>
            <a:normAutofit/>
          </a:bodyPr>
          <a:lstStyle/>
          <a:p>
            <a:pPr algn="ctr"/>
            <a:r>
              <a:rPr lang="es-AR" sz="3200" dirty="0"/>
              <a:t>OTRAS FUNCIONES/ </a:t>
            </a:r>
            <a:r>
              <a:rPr lang="es-ES" sz="3200" dirty="0"/>
              <a:t>NOTIFICACIONES</a:t>
            </a:r>
            <a:endParaRPr lang="es-AR" sz="3200" dirty="0"/>
          </a:p>
        </p:txBody>
      </p:sp>
      <p:pic>
        <p:nvPicPr>
          <p:cNvPr id="15362" name="Picture 2">
            <a:extLst>
              <a:ext uri="{FF2B5EF4-FFF2-40B4-BE49-F238E27FC236}">
                <a16:creationId xmlns:a16="http://schemas.microsoft.com/office/drawing/2014/main" id="{95AAF079-0925-17DD-D185-0B2AD94156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3900" y="4676931"/>
            <a:ext cx="7418099" cy="2181069"/>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BA5647AD-E676-7413-F06F-95B39F3DF7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3899" y="3721542"/>
            <a:ext cx="6576103" cy="906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84154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424A5AC-6512-1183-BED8-B92F14264B5B}"/>
              </a:ext>
            </a:extLst>
          </p:cNvPr>
          <p:cNvSpPr>
            <a:spLocks noGrp="1"/>
          </p:cNvSpPr>
          <p:nvPr>
            <p:ph idx="1"/>
          </p:nvPr>
        </p:nvSpPr>
        <p:spPr>
          <a:xfrm>
            <a:off x="5376671" y="0"/>
            <a:ext cx="6172412" cy="6858001"/>
          </a:xfrm>
        </p:spPr>
        <p:txBody>
          <a:bodyPr>
            <a:normAutofit lnSpcReduction="10000"/>
          </a:bodyPr>
          <a:lstStyle/>
          <a:p>
            <a:pPr rtl="0">
              <a:buNone/>
            </a:pPr>
            <a:r>
              <a:rPr lang="es-ES" sz="1800" b="0" i="0" u="none" strike="noStrike" dirty="0">
                <a:solidFill>
                  <a:srgbClr val="000000"/>
                </a:solidFill>
                <a:effectLst/>
                <a:latin typeface="Arial" panose="020B0604020202020204" pitchFamily="34" charset="0"/>
              </a:rPr>
              <a:t>El campo </a:t>
            </a:r>
            <a:r>
              <a:rPr lang="es-ES" sz="1800" b="0" i="0" u="none" strike="noStrike" dirty="0" err="1">
                <a:solidFill>
                  <a:srgbClr val="000000"/>
                </a:solidFill>
                <a:effectLst/>
                <a:latin typeface="Arial" panose="020B0604020202020204" pitchFamily="34" charset="0"/>
              </a:rPr>
              <a:t>sigev_notify</a:t>
            </a:r>
            <a:r>
              <a:rPr lang="es-ES" sz="1800" b="0" i="0" u="none" strike="noStrike" dirty="0">
                <a:solidFill>
                  <a:srgbClr val="000000"/>
                </a:solidFill>
                <a:effectLst/>
                <a:latin typeface="Arial" panose="020B0604020202020204" pitchFamily="34" charset="0"/>
              </a:rPr>
              <a:t> de esta estructura se establece en uno de los siguientes valores:</a:t>
            </a:r>
            <a:endParaRPr lang="es-ES" b="0" dirty="0">
              <a:effectLst/>
            </a:endParaRPr>
          </a:p>
          <a:p>
            <a:pPr marL="285750" indent="-285750" rtl="0" fontAlgn="base">
              <a:buFont typeface="Arial" panose="020B0604020202020204" pitchFamily="34" charset="0"/>
              <a:buChar char="•"/>
            </a:pPr>
            <a:r>
              <a:rPr lang="es-ES" sz="1800" i="0" u="none" strike="noStrike" dirty="0">
                <a:solidFill>
                  <a:srgbClr val="000000"/>
                </a:solidFill>
                <a:effectLst/>
                <a:latin typeface="Arial" panose="020B0604020202020204" pitchFamily="34" charset="0"/>
              </a:rPr>
              <a:t>SIGEV_NONE</a:t>
            </a:r>
            <a:r>
              <a:rPr lang="es-ES" sz="1800" b="0" i="0" u="none" strike="noStrike" dirty="0">
                <a:solidFill>
                  <a:srgbClr val="000000"/>
                </a:solidFill>
                <a:effectLst/>
                <a:latin typeface="Arial" panose="020B0604020202020204" pitchFamily="34" charset="0"/>
              </a:rPr>
              <a:t>: Registra este proceso para la notificación, pero cuando llegue un mensaje a la cola previamente vacía, en realidad no notifique el proceso. Como de costumbre, el registro se elimina cuando llega un nuevo mensaje a una cola vacía.</a:t>
            </a:r>
          </a:p>
          <a:p>
            <a:pPr marL="285750" indent="-285750" rtl="0" fontAlgn="base">
              <a:buFont typeface="Arial" panose="020B0604020202020204" pitchFamily="34" charset="0"/>
              <a:buChar char="•"/>
            </a:pPr>
            <a:r>
              <a:rPr lang="es-ES" sz="1800" i="0" u="none" strike="noStrike" dirty="0">
                <a:solidFill>
                  <a:srgbClr val="000000"/>
                </a:solidFill>
                <a:effectLst/>
                <a:latin typeface="Arial" panose="020B0604020202020204" pitchFamily="34" charset="0"/>
              </a:rPr>
              <a:t>SIGEV_SIGNAL </a:t>
            </a:r>
            <a:r>
              <a:rPr lang="es-ES" sz="1800" b="0" i="0" u="none" strike="noStrike" dirty="0">
                <a:solidFill>
                  <a:srgbClr val="000000"/>
                </a:solidFill>
                <a:effectLst/>
                <a:latin typeface="Arial" panose="020B0604020202020204" pitchFamily="34" charset="0"/>
              </a:rPr>
              <a:t>Notifique el proceso generando la señal especificada en el campo </a:t>
            </a:r>
            <a:r>
              <a:rPr lang="es-ES" sz="1800" b="0" i="0" u="none" strike="noStrike" dirty="0" err="1">
                <a:solidFill>
                  <a:srgbClr val="000000"/>
                </a:solidFill>
                <a:effectLst/>
                <a:latin typeface="Arial" panose="020B0604020202020204" pitchFamily="34" charset="0"/>
              </a:rPr>
              <a:t>sigev_signo</a:t>
            </a:r>
            <a:r>
              <a:rPr lang="es-ES" sz="1800" b="0" i="0" u="none" strike="noStrike" dirty="0">
                <a:solidFill>
                  <a:srgbClr val="000000"/>
                </a:solidFill>
                <a:effectLst/>
                <a:latin typeface="Arial" panose="020B0604020202020204" pitchFamily="34" charset="0"/>
              </a:rPr>
              <a:t>. Si </a:t>
            </a:r>
            <a:r>
              <a:rPr lang="es-ES" sz="1800" b="0" i="0" u="none" strike="noStrike" dirty="0" err="1">
                <a:solidFill>
                  <a:srgbClr val="000000"/>
                </a:solidFill>
                <a:effectLst/>
                <a:latin typeface="Arial" panose="020B0604020202020204" pitchFamily="34" charset="0"/>
              </a:rPr>
              <a:t>sigev_signo</a:t>
            </a:r>
            <a:r>
              <a:rPr lang="es-ES" sz="1800" b="0" i="0" u="none" strike="noStrike" dirty="0">
                <a:solidFill>
                  <a:srgbClr val="000000"/>
                </a:solidFill>
                <a:effectLst/>
                <a:latin typeface="Arial" panose="020B0604020202020204" pitchFamily="34" charset="0"/>
              </a:rPr>
              <a:t> es una señal en tiempo real, el campo </a:t>
            </a:r>
            <a:r>
              <a:rPr lang="es-ES" sz="1800" b="0" i="0" u="none" strike="noStrike" dirty="0" err="1">
                <a:solidFill>
                  <a:srgbClr val="000000"/>
                </a:solidFill>
                <a:effectLst/>
                <a:latin typeface="Arial" panose="020B0604020202020204" pitchFamily="34" charset="0"/>
              </a:rPr>
              <a:t>sigev_value</a:t>
            </a:r>
            <a:r>
              <a:rPr lang="es-ES" sz="1800" b="0" i="0" u="none" strike="noStrike" dirty="0">
                <a:solidFill>
                  <a:srgbClr val="000000"/>
                </a:solidFill>
                <a:effectLst/>
                <a:latin typeface="Arial" panose="020B0604020202020204" pitchFamily="34" charset="0"/>
              </a:rPr>
              <a:t> especifica los datos que acompañan a la señal</a:t>
            </a:r>
          </a:p>
          <a:p>
            <a:pPr marL="285750" indent="-285750" rtl="0" fontAlgn="base">
              <a:buFont typeface="Arial" panose="020B0604020202020204" pitchFamily="34" charset="0"/>
              <a:buChar char="•"/>
            </a:pPr>
            <a:r>
              <a:rPr lang="es-ES" sz="1800" i="0" u="none" strike="noStrike" dirty="0">
                <a:solidFill>
                  <a:srgbClr val="000000"/>
                </a:solidFill>
                <a:effectLst/>
                <a:latin typeface="Arial" panose="020B0604020202020204" pitchFamily="34" charset="0"/>
              </a:rPr>
              <a:t>SIGEV_THREAD </a:t>
            </a:r>
            <a:r>
              <a:rPr lang="es-ES" sz="1800" b="0" i="0" u="none" strike="noStrike" dirty="0">
                <a:solidFill>
                  <a:srgbClr val="000000"/>
                </a:solidFill>
                <a:effectLst/>
                <a:latin typeface="Arial" panose="020B0604020202020204" pitchFamily="34" charset="0"/>
              </a:rPr>
              <a:t>Notifique al proceso llamando a la función especificada en </a:t>
            </a:r>
            <a:r>
              <a:rPr lang="es-ES" sz="1800" b="0" i="0" u="none" strike="noStrike" dirty="0" err="1">
                <a:solidFill>
                  <a:srgbClr val="000000"/>
                </a:solidFill>
                <a:effectLst/>
                <a:latin typeface="Arial" panose="020B0604020202020204" pitchFamily="34" charset="0"/>
              </a:rPr>
              <a:t>sigev_notify_functionas</a:t>
            </a:r>
            <a:r>
              <a:rPr lang="es-ES" sz="1800" b="0" i="0" u="none" strike="noStrike" dirty="0">
                <a:solidFill>
                  <a:srgbClr val="000000"/>
                </a:solidFill>
                <a:effectLst/>
                <a:latin typeface="Arial" panose="020B0604020202020204" pitchFamily="34" charset="0"/>
              </a:rPr>
              <a:t> si fuera la función de inicio en un nuevo subproceso.</a:t>
            </a:r>
          </a:p>
          <a:p>
            <a:endParaRPr lang="es-AR" dirty="0"/>
          </a:p>
        </p:txBody>
      </p:sp>
      <p:sp>
        <p:nvSpPr>
          <p:cNvPr id="4" name="Título 1">
            <a:extLst>
              <a:ext uri="{FF2B5EF4-FFF2-40B4-BE49-F238E27FC236}">
                <a16:creationId xmlns:a16="http://schemas.microsoft.com/office/drawing/2014/main" id="{69A834FB-7008-978F-AAA7-F110E1810AC2}"/>
              </a:ext>
            </a:extLst>
          </p:cNvPr>
          <p:cNvSpPr>
            <a:spLocks noGrp="1"/>
          </p:cNvSpPr>
          <p:nvPr>
            <p:ph type="title"/>
          </p:nvPr>
        </p:nvSpPr>
        <p:spPr>
          <a:xfrm>
            <a:off x="1" y="705113"/>
            <a:ext cx="4714874" cy="5197498"/>
          </a:xfrm>
        </p:spPr>
        <p:txBody>
          <a:bodyPr>
            <a:normAutofit/>
          </a:bodyPr>
          <a:lstStyle/>
          <a:p>
            <a:pPr algn="ctr"/>
            <a:r>
              <a:rPr lang="es-AR" sz="3200" dirty="0"/>
              <a:t>OTRAS FUNCIONES/ </a:t>
            </a:r>
            <a:r>
              <a:rPr lang="es-ES" sz="3200" dirty="0"/>
              <a:t>NOTIFICACIONES</a:t>
            </a:r>
            <a:endParaRPr lang="es-AR" sz="3200" dirty="0"/>
          </a:p>
        </p:txBody>
      </p:sp>
    </p:spTree>
    <p:extLst>
      <p:ext uri="{BB962C8B-B14F-4D97-AF65-F5344CB8AC3E}">
        <p14:creationId xmlns:p14="http://schemas.microsoft.com/office/powerpoint/2010/main" val="16971475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233C8B-09AB-63B8-2E9A-18B501CDDE5F}"/>
              </a:ext>
            </a:extLst>
          </p:cNvPr>
          <p:cNvSpPr>
            <a:spLocks noGrp="1"/>
          </p:cNvSpPr>
          <p:nvPr>
            <p:ph type="title"/>
          </p:nvPr>
        </p:nvSpPr>
        <p:spPr>
          <a:xfrm>
            <a:off x="0" y="705113"/>
            <a:ext cx="4643437" cy="5197498"/>
          </a:xfrm>
        </p:spPr>
        <p:txBody>
          <a:bodyPr>
            <a:normAutofit fontScale="90000"/>
          </a:bodyPr>
          <a:lstStyle/>
          <a:p>
            <a:pPr algn="ctr"/>
            <a:r>
              <a:rPr lang="es-AR" sz="3200" dirty="0"/>
              <a:t>Linux/ </a:t>
            </a:r>
            <a:r>
              <a:rPr lang="es-ES" sz="3200" dirty="0"/>
              <a:t>Visualización y eliminación de objetos de cola de mensajes a través de la línea de comandos</a:t>
            </a:r>
            <a:endParaRPr lang="es-AR" sz="3200" dirty="0"/>
          </a:p>
        </p:txBody>
      </p:sp>
      <p:sp>
        <p:nvSpPr>
          <p:cNvPr id="3" name="Marcador de contenido 2">
            <a:extLst>
              <a:ext uri="{FF2B5EF4-FFF2-40B4-BE49-F238E27FC236}">
                <a16:creationId xmlns:a16="http://schemas.microsoft.com/office/drawing/2014/main" id="{40F7E248-CD02-FDF5-1DD7-62749CCFF3B1}"/>
              </a:ext>
            </a:extLst>
          </p:cNvPr>
          <p:cNvSpPr>
            <a:spLocks noGrp="1"/>
          </p:cNvSpPr>
          <p:nvPr>
            <p:ph idx="1"/>
          </p:nvPr>
        </p:nvSpPr>
        <p:spPr/>
        <p:txBody>
          <a:bodyPr>
            <a:normAutofit/>
          </a:bodyPr>
          <a:lstStyle/>
          <a:p>
            <a:pPr rtl="0">
              <a:buNone/>
            </a:pPr>
            <a:r>
              <a:rPr lang="es-ES" sz="1800" b="0" i="0" u="none" strike="noStrike" dirty="0">
                <a:solidFill>
                  <a:srgbClr val="000000"/>
                </a:solidFill>
                <a:effectLst/>
                <a:latin typeface="Arial" panose="020B0604020202020204" pitchFamily="34" charset="0"/>
              </a:rPr>
              <a:t>Para hacer esto con colas de mensajes POSIX, debemos </a:t>
            </a:r>
            <a:r>
              <a:rPr lang="es-ES" sz="1800" i="0" u="none" strike="noStrike" dirty="0">
                <a:solidFill>
                  <a:srgbClr val="000000"/>
                </a:solidFill>
                <a:effectLst/>
                <a:latin typeface="Arial" panose="020B0604020202020204" pitchFamily="34" charset="0"/>
              </a:rPr>
              <a:t>montar</a:t>
            </a:r>
            <a:r>
              <a:rPr lang="es-ES" sz="1800" b="0" i="0" u="none" strike="noStrike" dirty="0">
                <a:solidFill>
                  <a:srgbClr val="000000"/>
                </a:solidFill>
                <a:effectLst/>
                <a:latin typeface="Arial" panose="020B0604020202020204" pitchFamily="34" charset="0"/>
              </a:rPr>
              <a:t> el sistema de archivos de cola de mensajes usando un comando de la siguiente forma:</a:t>
            </a:r>
          </a:p>
          <a:p>
            <a:pPr rtl="0">
              <a:buNone/>
            </a:pPr>
            <a:endParaRPr lang="es-ES" b="0" dirty="0">
              <a:solidFill>
                <a:srgbClr val="000000"/>
              </a:solidFill>
              <a:latin typeface="Arial" panose="020B0604020202020204" pitchFamily="34" charset="0"/>
            </a:endParaRPr>
          </a:p>
          <a:p>
            <a:pPr rtl="0">
              <a:buNone/>
            </a:pPr>
            <a:endParaRPr lang="es-ES" b="0" dirty="0">
              <a:solidFill>
                <a:srgbClr val="000000"/>
              </a:solidFill>
              <a:latin typeface="Arial" panose="020B0604020202020204" pitchFamily="34" charset="0"/>
            </a:endParaRPr>
          </a:p>
          <a:p>
            <a:pPr rtl="0">
              <a:buNone/>
            </a:pPr>
            <a:r>
              <a:rPr lang="es-ES" sz="1800" b="0" i="0" u="none" strike="noStrike" dirty="0">
                <a:solidFill>
                  <a:srgbClr val="000000"/>
                </a:solidFill>
                <a:effectLst/>
                <a:latin typeface="Arial" panose="020B0604020202020204" pitchFamily="34" charset="0"/>
              </a:rPr>
              <a:t>El </a:t>
            </a:r>
            <a:r>
              <a:rPr lang="es-ES" sz="1800" i="0" u="none" strike="noStrike" dirty="0" err="1">
                <a:solidFill>
                  <a:srgbClr val="000000"/>
                </a:solidFill>
                <a:effectLst/>
                <a:latin typeface="Arial" panose="020B0604020202020204" pitchFamily="34" charset="0"/>
              </a:rPr>
              <a:t>source</a:t>
            </a:r>
            <a:r>
              <a:rPr lang="es-ES" sz="1800" b="0" i="0" u="none" strike="noStrike" dirty="0">
                <a:solidFill>
                  <a:srgbClr val="000000"/>
                </a:solidFill>
                <a:effectLst/>
                <a:latin typeface="Arial" panose="020B0604020202020204" pitchFamily="34" charset="0"/>
              </a:rPr>
              <a:t> puede ser cualquier nombre (especificar la cadena </a:t>
            </a:r>
            <a:r>
              <a:rPr lang="es-ES" sz="1800" b="0" i="0" u="none" strike="noStrike" dirty="0" err="1">
                <a:solidFill>
                  <a:srgbClr val="000000"/>
                </a:solidFill>
                <a:effectLst/>
                <a:latin typeface="Arial" panose="020B0604020202020204" pitchFamily="34" charset="0"/>
              </a:rPr>
              <a:t>none</a:t>
            </a:r>
            <a:r>
              <a:rPr lang="es-ES" sz="1800" b="0" i="0" u="none" strike="noStrike" dirty="0">
                <a:solidFill>
                  <a:srgbClr val="000000"/>
                </a:solidFill>
                <a:effectLst/>
                <a:latin typeface="Arial" panose="020B0604020202020204" pitchFamily="34" charset="0"/>
              </a:rPr>
              <a:t> es típico). Su única significancia es que aparece en /</a:t>
            </a:r>
            <a:r>
              <a:rPr lang="es-ES" sz="1800" b="0" i="0" u="none" strike="noStrike" dirty="0" err="1">
                <a:solidFill>
                  <a:srgbClr val="000000"/>
                </a:solidFill>
                <a:effectLst/>
                <a:latin typeface="Arial" panose="020B0604020202020204" pitchFamily="34" charset="0"/>
              </a:rPr>
              <a:t>proc</a:t>
            </a:r>
            <a:r>
              <a:rPr lang="es-ES" sz="1800" b="0" i="0" u="none" strike="noStrike" dirty="0">
                <a:solidFill>
                  <a:srgbClr val="000000"/>
                </a:solidFill>
                <a:effectLst/>
                <a:latin typeface="Arial" panose="020B0604020202020204" pitchFamily="34" charset="0"/>
              </a:rPr>
              <a:t>/</a:t>
            </a:r>
            <a:r>
              <a:rPr lang="es-ES" sz="1800" b="0" i="0" u="none" strike="noStrike" dirty="0" err="1">
                <a:solidFill>
                  <a:srgbClr val="000000"/>
                </a:solidFill>
                <a:effectLst/>
                <a:latin typeface="Arial" panose="020B0604020202020204" pitchFamily="34" charset="0"/>
              </a:rPr>
              <a:t>mounts</a:t>
            </a:r>
            <a:r>
              <a:rPr lang="es-ES" sz="1800" b="0" i="0" u="none" strike="noStrike" dirty="0">
                <a:solidFill>
                  <a:srgbClr val="000000"/>
                </a:solidFill>
                <a:effectLst/>
                <a:latin typeface="Arial" panose="020B0604020202020204" pitchFamily="34" charset="0"/>
              </a:rPr>
              <a:t> y es mostrado por los comandos </a:t>
            </a:r>
            <a:r>
              <a:rPr lang="es-ES" sz="1800" b="0" i="0" u="none" strike="noStrike" dirty="0" err="1">
                <a:solidFill>
                  <a:srgbClr val="000000"/>
                </a:solidFill>
                <a:effectLst/>
                <a:latin typeface="Arial" panose="020B0604020202020204" pitchFamily="34" charset="0"/>
              </a:rPr>
              <a:t>mount</a:t>
            </a:r>
            <a:r>
              <a:rPr lang="es-ES" sz="1800" b="0" i="0" u="none" strike="noStrike" dirty="0">
                <a:solidFill>
                  <a:srgbClr val="000000"/>
                </a:solidFill>
                <a:effectLst/>
                <a:latin typeface="Arial" panose="020B0604020202020204" pitchFamily="34" charset="0"/>
              </a:rPr>
              <a:t> y </a:t>
            </a:r>
            <a:r>
              <a:rPr lang="es-ES" sz="1800" b="0" i="0" u="none" strike="noStrike" dirty="0" err="1">
                <a:solidFill>
                  <a:srgbClr val="000000"/>
                </a:solidFill>
                <a:effectLst/>
                <a:latin typeface="Arial" panose="020B0604020202020204" pitchFamily="34" charset="0"/>
              </a:rPr>
              <a:t>df</a:t>
            </a:r>
            <a:r>
              <a:rPr lang="es-ES" sz="1800" b="0" i="0" u="none" strike="noStrike" dirty="0">
                <a:solidFill>
                  <a:srgbClr val="000000"/>
                </a:solidFill>
                <a:effectLst/>
                <a:latin typeface="Arial" panose="020B0604020202020204" pitchFamily="34" charset="0"/>
              </a:rPr>
              <a:t>. El </a:t>
            </a:r>
            <a:r>
              <a:rPr lang="es-ES" sz="1800" i="0" u="none" strike="noStrike" dirty="0">
                <a:solidFill>
                  <a:srgbClr val="000000"/>
                </a:solidFill>
                <a:effectLst/>
                <a:latin typeface="Arial" panose="020B0604020202020204" pitchFamily="34" charset="0"/>
              </a:rPr>
              <a:t>target</a:t>
            </a:r>
            <a:r>
              <a:rPr lang="es-ES" sz="1800" b="0" i="0" u="none" strike="noStrike" dirty="0">
                <a:solidFill>
                  <a:srgbClr val="000000"/>
                </a:solidFill>
                <a:effectLst/>
                <a:latin typeface="Arial" panose="020B0604020202020204" pitchFamily="34" charset="0"/>
              </a:rPr>
              <a:t> es el punto de montaje del sistema de archivos de la cola de mensajes.</a:t>
            </a:r>
            <a:endParaRPr lang="es-ES" b="0" dirty="0">
              <a:effectLst/>
            </a:endParaRPr>
          </a:p>
        </p:txBody>
      </p:sp>
      <p:pic>
        <p:nvPicPr>
          <p:cNvPr id="16386" name="Picture 2">
            <a:extLst>
              <a:ext uri="{FF2B5EF4-FFF2-40B4-BE49-F238E27FC236}">
                <a16:creationId xmlns:a16="http://schemas.microsoft.com/office/drawing/2014/main" id="{F2DF0536-B9AC-F4B0-4EDB-C7F328F26F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9127" y="2589486"/>
            <a:ext cx="6667500" cy="714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49878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48999B9-4B7A-759D-999B-2D7ED06E4AC5}"/>
              </a:ext>
            </a:extLst>
          </p:cNvPr>
          <p:cNvSpPr>
            <a:spLocks noGrp="1"/>
          </p:cNvSpPr>
          <p:nvPr>
            <p:ph idx="1"/>
          </p:nvPr>
        </p:nvSpPr>
        <p:spPr/>
        <p:txBody>
          <a:bodyPr/>
          <a:lstStyle/>
          <a:p>
            <a:pPr marL="285750" indent="-285750" rtl="0" fontAlgn="base">
              <a:buFont typeface="Arial" panose="020B0604020202020204" pitchFamily="34" charset="0"/>
              <a:buChar char="•"/>
            </a:pPr>
            <a:r>
              <a:rPr lang="es-ES" sz="1800" b="0" i="0" u="none" strike="noStrike" dirty="0">
                <a:solidFill>
                  <a:srgbClr val="000000"/>
                </a:solidFill>
                <a:effectLst/>
                <a:latin typeface="Arial" panose="020B0604020202020204" pitchFamily="34" charset="0"/>
              </a:rPr>
              <a:t>La siguiente sesión de </a:t>
            </a:r>
            <a:r>
              <a:rPr lang="es-ES" sz="1800" b="0" i="0" u="none" strike="noStrike" dirty="0" err="1">
                <a:solidFill>
                  <a:srgbClr val="000000"/>
                </a:solidFill>
                <a:effectLst/>
                <a:latin typeface="Arial" panose="020B0604020202020204" pitchFamily="34" charset="0"/>
              </a:rPr>
              <a:t>shell</a:t>
            </a:r>
            <a:r>
              <a:rPr lang="es-ES" sz="1800" b="0" i="0" u="none" strike="noStrike" dirty="0">
                <a:solidFill>
                  <a:srgbClr val="000000"/>
                </a:solidFill>
                <a:effectLst/>
                <a:latin typeface="Arial" panose="020B0604020202020204" pitchFamily="34" charset="0"/>
              </a:rPr>
              <a:t> muestra cómo </a:t>
            </a:r>
            <a:r>
              <a:rPr lang="es-ES" sz="1800" i="0" u="none" strike="noStrike" dirty="0">
                <a:solidFill>
                  <a:srgbClr val="000000"/>
                </a:solidFill>
                <a:effectLst/>
                <a:latin typeface="Arial" panose="020B0604020202020204" pitchFamily="34" charset="0"/>
              </a:rPr>
              <a:t>montar</a:t>
            </a:r>
            <a:r>
              <a:rPr lang="es-ES" sz="1800" b="0" i="0" u="none" strike="noStrike" dirty="0">
                <a:solidFill>
                  <a:srgbClr val="000000"/>
                </a:solidFill>
                <a:effectLst/>
                <a:latin typeface="Arial" panose="020B0604020202020204" pitchFamily="34" charset="0"/>
              </a:rPr>
              <a:t> el sistema de archivos de cola de mensajes y </a:t>
            </a:r>
            <a:r>
              <a:rPr lang="es-ES" sz="1800" i="0" u="none" strike="noStrike" dirty="0">
                <a:solidFill>
                  <a:srgbClr val="000000"/>
                </a:solidFill>
                <a:effectLst/>
                <a:latin typeface="Arial" panose="020B0604020202020204" pitchFamily="34" charset="0"/>
              </a:rPr>
              <a:t>mostrar</a:t>
            </a:r>
            <a:r>
              <a:rPr lang="es-ES" sz="1800" b="0" i="0" u="none" strike="noStrike" dirty="0">
                <a:solidFill>
                  <a:srgbClr val="000000"/>
                </a:solidFill>
                <a:effectLst/>
                <a:latin typeface="Arial" panose="020B0604020202020204" pitchFamily="34" charset="0"/>
              </a:rPr>
              <a:t> su contenido. Comenzamos </a:t>
            </a:r>
            <a:r>
              <a:rPr lang="es-ES" sz="1800" i="0" u="none" strike="noStrike" dirty="0">
                <a:solidFill>
                  <a:srgbClr val="000000"/>
                </a:solidFill>
                <a:effectLst/>
                <a:latin typeface="Arial" panose="020B0604020202020204" pitchFamily="34" charset="0"/>
              </a:rPr>
              <a:t>creando</a:t>
            </a:r>
            <a:r>
              <a:rPr lang="es-ES" sz="1800" b="0" i="0" u="none" strike="noStrike" dirty="0">
                <a:solidFill>
                  <a:srgbClr val="000000"/>
                </a:solidFill>
                <a:effectLst/>
                <a:latin typeface="Arial" panose="020B0604020202020204" pitchFamily="34" charset="0"/>
              </a:rPr>
              <a:t> un punto de montaje para el sistema de archivos y </a:t>
            </a:r>
            <a:r>
              <a:rPr lang="es-ES" sz="1800" i="0" u="none" strike="noStrike" dirty="0">
                <a:solidFill>
                  <a:srgbClr val="000000"/>
                </a:solidFill>
                <a:effectLst/>
                <a:latin typeface="Arial" panose="020B0604020202020204" pitchFamily="34" charset="0"/>
              </a:rPr>
              <a:t>montándolo</a:t>
            </a:r>
            <a:r>
              <a:rPr lang="es-ES" sz="1800" b="0" i="0" u="none" strike="noStrike" dirty="0">
                <a:solidFill>
                  <a:srgbClr val="000000"/>
                </a:solidFill>
                <a:effectLst/>
                <a:latin typeface="Arial" panose="020B0604020202020204" pitchFamily="34" charset="0"/>
              </a:rPr>
              <a:t>:</a:t>
            </a:r>
          </a:p>
          <a:p>
            <a:pPr marL="285750" indent="-285750" rtl="0" fontAlgn="base">
              <a:buFont typeface="Arial" panose="020B0604020202020204" pitchFamily="34" charset="0"/>
              <a:buChar char="•"/>
            </a:pPr>
            <a:endParaRPr lang="es-ES" b="0" dirty="0">
              <a:solidFill>
                <a:srgbClr val="000000"/>
              </a:solidFill>
              <a:latin typeface="Arial" panose="020B0604020202020204" pitchFamily="34" charset="0"/>
            </a:endParaRPr>
          </a:p>
          <a:p>
            <a:pPr marL="285750" indent="-285750" rtl="0" fontAlgn="base">
              <a:buFont typeface="Arial" panose="020B0604020202020204" pitchFamily="34" charset="0"/>
              <a:buChar char="•"/>
            </a:pPr>
            <a:endParaRPr lang="es-ES" sz="1800" b="0" i="0" u="none" strike="noStrike" dirty="0">
              <a:solidFill>
                <a:srgbClr val="000000"/>
              </a:solidFill>
              <a:effectLst/>
              <a:latin typeface="Arial" panose="020B0604020202020204" pitchFamily="34" charset="0"/>
            </a:endParaRPr>
          </a:p>
          <a:p>
            <a:pPr marL="285750" indent="-285750" rtl="0" fontAlgn="base">
              <a:buFont typeface="Arial" panose="020B0604020202020204" pitchFamily="34" charset="0"/>
              <a:buChar char="•"/>
            </a:pPr>
            <a:endParaRPr lang="es-ES" b="0" dirty="0">
              <a:solidFill>
                <a:srgbClr val="000000"/>
              </a:solidFill>
              <a:latin typeface="Arial" panose="020B0604020202020204" pitchFamily="34" charset="0"/>
            </a:endParaRPr>
          </a:p>
          <a:p>
            <a:pPr marL="285750" indent="-285750" rtl="0" fontAlgn="base">
              <a:buFont typeface="Arial" panose="020B0604020202020204" pitchFamily="34" charset="0"/>
              <a:buChar char="•"/>
            </a:pPr>
            <a:endParaRPr lang="es-ES" sz="1800" b="0" i="0" u="none" strike="noStrike" dirty="0">
              <a:solidFill>
                <a:srgbClr val="000000"/>
              </a:solidFill>
              <a:effectLst/>
              <a:latin typeface="Arial" panose="020B0604020202020204" pitchFamily="34" charset="0"/>
            </a:endParaRPr>
          </a:p>
          <a:p>
            <a:endParaRPr lang="es-AR" dirty="0"/>
          </a:p>
        </p:txBody>
      </p:sp>
      <p:pic>
        <p:nvPicPr>
          <p:cNvPr id="18434" name="Picture 2">
            <a:extLst>
              <a:ext uri="{FF2B5EF4-FFF2-40B4-BE49-F238E27FC236}">
                <a16:creationId xmlns:a16="http://schemas.microsoft.com/office/drawing/2014/main" id="{6806C269-14B2-761A-89B2-2AEF933180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2961" y="3428999"/>
            <a:ext cx="7303494" cy="1601431"/>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a:extLst>
              <a:ext uri="{FF2B5EF4-FFF2-40B4-BE49-F238E27FC236}">
                <a16:creationId xmlns:a16="http://schemas.microsoft.com/office/drawing/2014/main" id="{1275988F-C654-3C99-16FE-D2167A1047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2961" y="4988209"/>
            <a:ext cx="7303495" cy="1164677"/>
          </a:xfrm>
          <a:prstGeom prst="rect">
            <a:avLst/>
          </a:prstGeom>
          <a:noFill/>
          <a:extLst>
            <a:ext uri="{909E8E84-426E-40DD-AFC4-6F175D3DCCD1}">
              <a14:hiddenFill xmlns:a14="http://schemas.microsoft.com/office/drawing/2010/main">
                <a:solidFill>
                  <a:srgbClr val="FFFFFF"/>
                </a:solidFill>
              </a14:hiddenFill>
            </a:ext>
          </a:extLst>
        </p:spPr>
      </p:pic>
      <p:sp>
        <p:nvSpPr>
          <p:cNvPr id="7" name="Título 1">
            <a:extLst>
              <a:ext uri="{FF2B5EF4-FFF2-40B4-BE49-F238E27FC236}">
                <a16:creationId xmlns:a16="http://schemas.microsoft.com/office/drawing/2014/main" id="{A1623829-CD28-D276-E871-112D39247344}"/>
              </a:ext>
            </a:extLst>
          </p:cNvPr>
          <p:cNvSpPr>
            <a:spLocks noGrp="1"/>
          </p:cNvSpPr>
          <p:nvPr>
            <p:ph type="title"/>
          </p:nvPr>
        </p:nvSpPr>
        <p:spPr>
          <a:xfrm>
            <a:off x="0" y="705113"/>
            <a:ext cx="4643437" cy="5197498"/>
          </a:xfrm>
        </p:spPr>
        <p:txBody>
          <a:bodyPr>
            <a:normAutofit fontScale="90000"/>
          </a:bodyPr>
          <a:lstStyle/>
          <a:p>
            <a:pPr algn="ctr"/>
            <a:r>
              <a:rPr lang="es-AR" sz="3200" dirty="0"/>
              <a:t>Linux/ </a:t>
            </a:r>
            <a:r>
              <a:rPr lang="es-ES" sz="3200" dirty="0"/>
              <a:t>Visualización y eliminación de objetos de cola de mensajes a través de la línea de comandos</a:t>
            </a:r>
            <a:endParaRPr lang="es-AR" sz="3200" dirty="0"/>
          </a:p>
        </p:txBody>
      </p:sp>
    </p:spTree>
    <p:extLst>
      <p:ext uri="{BB962C8B-B14F-4D97-AF65-F5344CB8AC3E}">
        <p14:creationId xmlns:p14="http://schemas.microsoft.com/office/powerpoint/2010/main" val="6862788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7B548B4-5D24-EB43-D722-59F543155F34}"/>
              </a:ext>
            </a:extLst>
          </p:cNvPr>
          <p:cNvSpPr>
            <a:spLocks noGrp="1"/>
          </p:cNvSpPr>
          <p:nvPr>
            <p:ph idx="1"/>
          </p:nvPr>
        </p:nvSpPr>
        <p:spPr/>
        <p:txBody>
          <a:bodyPr/>
          <a:lstStyle/>
          <a:p>
            <a:pPr rtl="0">
              <a:buNone/>
            </a:pPr>
            <a:r>
              <a:rPr lang="es-ES" sz="1800" b="0" i="0" u="none" strike="noStrike" dirty="0">
                <a:solidFill>
                  <a:srgbClr val="000000"/>
                </a:solidFill>
                <a:effectLst/>
                <a:latin typeface="Arial" panose="020B0604020202020204" pitchFamily="34" charset="0"/>
              </a:rPr>
              <a:t>A continuación, </a:t>
            </a:r>
            <a:r>
              <a:rPr lang="es-ES" sz="1800" i="0" u="none" strike="noStrike" dirty="0">
                <a:solidFill>
                  <a:srgbClr val="000000"/>
                </a:solidFill>
                <a:effectLst/>
                <a:latin typeface="Arial" panose="020B0604020202020204" pitchFamily="34" charset="0"/>
              </a:rPr>
              <a:t>creamos</a:t>
            </a:r>
            <a:r>
              <a:rPr lang="es-ES" sz="1800" b="0" i="0" u="none" strike="noStrike" dirty="0">
                <a:solidFill>
                  <a:srgbClr val="000000"/>
                </a:solidFill>
                <a:effectLst/>
                <a:latin typeface="Arial" panose="020B0604020202020204" pitchFamily="34" charset="0"/>
              </a:rPr>
              <a:t> una cola de mensajes, usamos </a:t>
            </a:r>
            <a:r>
              <a:rPr lang="es-ES" sz="1800" i="0" u="none" strike="noStrike" dirty="0" err="1">
                <a:solidFill>
                  <a:srgbClr val="000000"/>
                </a:solidFill>
                <a:effectLst/>
                <a:latin typeface="Arial" panose="020B0604020202020204" pitchFamily="34" charset="0"/>
              </a:rPr>
              <a:t>ls</a:t>
            </a:r>
            <a:r>
              <a:rPr lang="es-ES" sz="1800" b="0" i="0" u="none" strike="noStrike" dirty="0">
                <a:solidFill>
                  <a:srgbClr val="000000"/>
                </a:solidFill>
                <a:effectLst/>
                <a:latin typeface="Arial" panose="020B0604020202020204" pitchFamily="34" charset="0"/>
              </a:rPr>
              <a:t> para mostrar que está visible en el sistema de archivos y luego </a:t>
            </a:r>
            <a:r>
              <a:rPr lang="es-ES" sz="1800" i="0" u="none" strike="noStrike" dirty="0">
                <a:solidFill>
                  <a:srgbClr val="000000"/>
                </a:solidFill>
                <a:effectLst/>
                <a:latin typeface="Arial" panose="020B0604020202020204" pitchFamily="34" charset="0"/>
              </a:rPr>
              <a:t>eliminamos</a:t>
            </a:r>
            <a:r>
              <a:rPr lang="es-ES" sz="1800" b="0" i="0" u="none" strike="noStrike" dirty="0">
                <a:solidFill>
                  <a:srgbClr val="000000"/>
                </a:solidFill>
                <a:effectLst/>
                <a:latin typeface="Arial" panose="020B0604020202020204" pitchFamily="34" charset="0"/>
              </a:rPr>
              <a:t> la cola de mensajes:</a:t>
            </a:r>
            <a:endParaRPr lang="es-ES" b="0" dirty="0">
              <a:effectLst/>
            </a:endParaRPr>
          </a:p>
          <a:p>
            <a:pPr>
              <a:buNone/>
            </a:pPr>
            <a:br>
              <a:rPr lang="es-ES" dirty="0"/>
            </a:br>
            <a:endParaRPr lang="es-AR" dirty="0"/>
          </a:p>
        </p:txBody>
      </p:sp>
      <p:pic>
        <p:nvPicPr>
          <p:cNvPr id="19458" name="Picture 2">
            <a:extLst>
              <a:ext uri="{FF2B5EF4-FFF2-40B4-BE49-F238E27FC236}">
                <a16:creationId xmlns:a16="http://schemas.microsoft.com/office/drawing/2014/main" id="{5FD76F10-3EE4-4182-4307-AFA4D57495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8946" y="4416148"/>
            <a:ext cx="6927862" cy="1070251"/>
          </a:xfrm>
          <a:prstGeom prst="rect">
            <a:avLst/>
          </a:prstGeom>
          <a:noFill/>
          <a:extLst>
            <a:ext uri="{909E8E84-426E-40DD-AFC4-6F175D3DCCD1}">
              <a14:hiddenFill xmlns:a14="http://schemas.microsoft.com/office/drawing/2010/main">
                <a:solidFill>
                  <a:srgbClr val="FFFFFF"/>
                </a:solidFill>
              </a14:hiddenFill>
            </a:ext>
          </a:extLst>
        </p:spPr>
      </p:pic>
      <p:sp>
        <p:nvSpPr>
          <p:cNvPr id="9" name="Título 1">
            <a:extLst>
              <a:ext uri="{FF2B5EF4-FFF2-40B4-BE49-F238E27FC236}">
                <a16:creationId xmlns:a16="http://schemas.microsoft.com/office/drawing/2014/main" id="{3B26231B-C238-1B32-14C2-C1768073D0E2}"/>
              </a:ext>
            </a:extLst>
          </p:cNvPr>
          <p:cNvSpPr>
            <a:spLocks noGrp="1"/>
          </p:cNvSpPr>
          <p:nvPr>
            <p:ph type="title"/>
          </p:nvPr>
        </p:nvSpPr>
        <p:spPr>
          <a:xfrm>
            <a:off x="0" y="705113"/>
            <a:ext cx="4643437" cy="5197498"/>
          </a:xfrm>
        </p:spPr>
        <p:txBody>
          <a:bodyPr>
            <a:normAutofit fontScale="90000"/>
          </a:bodyPr>
          <a:lstStyle/>
          <a:p>
            <a:pPr algn="ctr"/>
            <a:r>
              <a:rPr lang="es-AR" sz="3200" dirty="0"/>
              <a:t>Linux/ </a:t>
            </a:r>
            <a:r>
              <a:rPr lang="es-ES" sz="3200" dirty="0"/>
              <a:t>Visualización y eliminación de objetos de cola de mensajes a través de la línea de comandos</a:t>
            </a:r>
            <a:endParaRPr lang="es-AR" sz="3200" dirty="0"/>
          </a:p>
        </p:txBody>
      </p:sp>
    </p:spTree>
    <p:extLst>
      <p:ext uri="{BB962C8B-B14F-4D97-AF65-F5344CB8AC3E}">
        <p14:creationId xmlns:p14="http://schemas.microsoft.com/office/powerpoint/2010/main" val="14368465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7FA9AF-A65B-C813-A7CA-7D7F27919F13}"/>
              </a:ext>
            </a:extLst>
          </p:cNvPr>
          <p:cNvSpPr>
            <a:spLocks noGrp="1"/>
          </p:cNvSpPr>
          <p:nvPr>
            <p:ph type="title"/>
          </p:nvPr>
        </p:nvSpPr>
        <p:spPr>
          <a:xfrm>
            <a:off x="642918" y="705113"/>
            <a:ext cx="3671907" cy="5197498"/>
          </a:xfrm>
        </p:spPr>
        <p:txBody>
          <a:bodyPr/>
          <a:lstStyle/>
          <a:p>
            <a:pPr algn="ctr" rtl="0"/>
            <a:r>
              <a:rPr lang="es-ES" sz="2900" dirty="0"/>
              <a:t>LINUX/Obtener información sobre una cola de mensajes</a:t>
            </a:r>
            <a:endParaRPr lang="es-AR" sz="2900" dirty="0"/>
          </a:p>
        </p:txBody>
      </p:sp>
      <p:sp>
        <p:nvSpPr>
          <p:cNvPr id="3" name="Marcador de contenido 2">
            <a:extLst>
              <a:ext uri="{FF2B5EF4-FFF2-40B4-BE49-F238E27FC236}">
                <a16:creationId xmlns:a16="http://schemas.microsoft.com/office/drawing/2014/main" id="{D6A051EF-CAEB-B71F-11A3-3A12906D1A92}"/>
              </a:ext>
            </a:extLst>
          </p:cNvPr>
          <p:cNvSpPr>
            <a:spLocks noGrp="1"/>
          </p:cNvSpPr>
          <p:nvPr>
            <p:ph idx="1"/>
          </p:nvPr>
        </p:nvSpPr>
        <p:spPr/>
        <p:txBody>
          <a:bodyPr/>
          <a:lstStyle/>
          <a:p>
            <a:pPr rtl="0">
              <a:buNone/>
            </a:pPr>
            <a:r>
              <a:rPr lang="es-ES" sz="1800" b="0" i="0" u="none" strike="noStrike" dirty="0">
                <a:solidFill>
                  <a:srgbClr val="000000"/>
                </a:solidFill>
                <a:effectLst/>
                <a:latin typeface="Arial" panose="020B0604020202020204" pitchFamily="34" charset="0"/>
              </a:rPr>
              <a:t>Podemos </a:t>
            </a:r>
            <a:r>
              <a:rPr lang="es-ES" sz="1800" i="0" u="none" strike="noStrike" dirty="0">
                <a:solidFill>
                  <a:srgbClr val="000000"/>
                </a:solidFill>
                <a:effectLst/>
                <a:latin typeface="Arial" panose="020B0604020202020204" pitchFamily="34" charset="0"/>
              </a:rPr>
              <a:t>mostrar</a:t>
            </a:r>
            <a:r>
              <a:rPr lang="es-ES" sz="1800" b="0" i="0" u="none" strike="noStrike" dirty="0">
                <a:solidFill>
                  <a:srgbClr val="000000"/>
                </a:solidFill>
                <a:effectLst/>
                <a:latin typeface="Arial" panose="020B0604020202020204" pitchFamily="34" charset="0"/>
              </a:rPr>
              <a:t> el contenido de los archivos en el sistema de archivos de la cola de mensajes. Cada uno de estos archivos virtuales contiene información sobre la cola de mensajes asociada:</a:t>
            </a:r>
            <a:endParaRPr lang="es-ES" b="0" dirty="0">
              <a:effectLst/>
            </a:endParaRPr>
          </a:p>
          <a:p>
            <a:pPr>
              <a:buNone/>
            </a:pPr>
            <a:br>
              <a:rPr lang="es-ES" dirty="0"/>
            </a:br>
            <a:endParaRPr lang="es-AR" dirty="0"/>
          </a:p>
        </p:txBody>
      </p:sp>
      <p:pic>
        <p:nvPicPr>
          <p:cNvPr id="20482" name="Picture 2">
            <a:extLst>
              <a:ext uri="{FF2B5EF4-FFF2-40B4-BE49-F238E27FC236}">
                <a16:creationId xmlns:a16="http://schemas.microsoft.com/office/drawing/2014/main" id="{5C419479-8ED2-87F2-6C81-9D4FF145B1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4103" y="4249292"/>
            <a:ext cx="7297547" cy="1248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95376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A28A7D0-0597-2E21-5029-7E271AE17509}"/>
              </a:ext>
            </a:extLst>
          </p:cNvPr>
          <p:cNvSpPr>
            <a:spLocks noGrp="1"/>
          </p:cNvSpPr>
          <p:nvPr>
            <p:ph idx="1"/>
          </p:nvPr>
        </p:nvSpPr>
        <p:spPr>
          <a:xfrm>
            <a:off x="5376671" y="471488"/>
            <a:ext cx="6172412" cy="5872161"/>
          </a:xfrm>
        </p:spPr>
        <p:txBody>
          <a:bodyPr>
            <a:normAutofit fontScale="92500"/>
          </a:bodyPr>
          <a:lstStyle/>
          <a:p>
            <a:pPr marL="285750" indent="-285750" rtl="0">
              <a:buFont typeface="Arial" panose="020B0604020202020204" pitchFamily="34" charset="0"/>
              <a:buChar char="•"/>
            </a:pPr>
            <a:r>
              <a:rPr lang="es-ES" sz="1800" b="0" i="0" u="none" strike="noStrike" dirty="0">
                <a:solidFill>
                  <a:srgbClr val="000000"/>
                </a:solidFill>
                <a:effectLst/>
                <a:latin typeface="Arial" panose="020B0604020202020204" pitchFamily="34" charset="0"/>
              </a:rPr>
              <a:t>El campo </a:t>
            </a:r>
            <a:r>
              <a:rPr lang="es-ES" sz="1800" i="0" u="none" strike="noStrike" dirty="0">
                <a:solidFill>
                  <a:srgbClr val="000000"/>
                </a:solidFill>
                <a:effectLst/>
                <a:latin typeface="Arial" panose="020B0604020202020204" pitchFamily="34" charset="0"/>
              </a:rPr>
              <a:t>QSIZE</a:t>
            </a:r>
            <a:r>
              <a:rPr lang="es-ES" sz="1800" b="0" i="0" u="none" strike="noStrike" dirty="0">
                <a:solidFill>
                  <a:srgbClr val="000000"/>
                </a:solidFill>
                <a:effectLst/>
                <a:latin typeface="Arial" panose="020B0604020202020204" pitchFamily="34" charset="0"/>
              </a:rPr>
              <a:t> es un recuento del número total de bytes de datos en la cola. Los campos restantes se relacionan con la notificación de mensajes. Si </a:t>
            </a:r>
            <a:r>
              <a:rPr lang="es-ES" sz="1800" i="0" u="none" strike="noStrike" dirty="0">
                <a:solidFill>
                  <a:srgbClr val="000000"/>
                </a:solidFill>
                <a:effectLst/>
                <a:latin typeface="Arial" panose="020B0604020202020204" pitchFamily="34" charset="0"/>
              </a:rPr>
              <a:t>NOTIFY_PID </a:t>
            </a:r>
            <a:r>
              <a:rPr lang="es-ES" sz="1800" b="0" i="0" u="none" strike="noStrike" dirty="0">
                <a:solidFill>
                  <a:srgbClr val="000000"/>
                </a:solidFill>
                <a:effectLst/>
                <a:latin typeface="Arial" panose="020B0604020202020204" pitchFamily="34" charset="0"/>
              </a:rPr>
              <a:t>es distinto de cero, el proceso con el ID de proceso especificado se ha registrado para la notificación de mensajes de esta cola y los campos restantes proporcionan información sobre el tipo de notificación:</a:t>
            </a:r>
            <a:endParaRPr lang="es-ES" b="0" dirty="0">
              <a:effectLst/>
            </a:endParaRPr>
          </a:p>
          <a:p>
            <a:pPr marL="285750" indent="-285750" rtl="0" fontAlgn="base">
              <a:buFont typeface="Arial" panose="020B0604020202020204" pitchFamily="34" charset="0"/>
              <a:buChar char="•"/>
            </a:pPr>
            <a:r>
              <a:rPr lang="es-ES" sz="1800" i="0" u="none" strike="noStrike" dirty="0">
                <a:solidFill>
                  <a:srgbClr val="000000"/>
                </a:solidFill>
                <a:effectLst/>
                <a:latin typeface="Arial" panose="020B0604020202020204" pitchFamily="34" charset="0"/>
              </a:rPr>
              <a:t>NOTIFY</a:t>
            </a:r>
            <a:r>
              <a:rPr lang="es-ES" sz="1800" b="0" i="0" u="none" strike="noStrike" dirty="0">
                <a:solidFill>
                  <a:srgbClr val="000000"/>
                </a:solidFill>
                <a:effectLst/>
                <a:latin typeface="Arial" panose="020B0604020202020204" pitchFamily="34" charset="0"/>
              </a:rPr>
              <a:t> es un valor correspondiente a una de las </a:t>
            </a:r>
            <a:r>
              <a:rPr lang="es-ES" sz="1800" b="0" i="0" u="none" strike="noStrike" dirty="0" err="1">
                <a:solidFill>
                  <a:srgbClr val="000000"/>
                </a:solidFill>
                <a:effectLst/>
                <a:latin typeface="Arial" panose="020B0604020202020204" pitchFamily="34" charset="0"/>
              </a:rPr>
              <a:t>sigev_notify</a:t>
            </a:r>
            <a:r>
              <a:rPr lang="es-ES" sz="1800" b="0" i="0" u="none" strike="noStrike" dirty="0">
                <a:solidFill>
                  <a:srgbClr val="000000"/>
                </a:solidFill>
                <a:effectLst/>
                <a:latin typeface="Arial" panose="020B0604020202020204" pitchFamily="34" charset="0"/>
              </a:rPr>
              <a:t> constantes: 0 para SIGEV_SIGNAL, 1 para SIGEV_NONE o 2 para SIGEV_THREAD.</a:t>
            </a:r>
          </a:p>
          <a:p>
            <a:pPr marL="285750" indent="-285750" rtl="0" fontAlgn="base">
              <a:buFont typeface="Arial" panose="020B0604020202020204" pitchFamily="34" charset="0"/>
              <a:buChar char="•"/>
            </a:pPr>
            <a:r>
              <a:rPr lang="es-ES" sz="1800" b="0" i="0" u="none" strike="noStrike" dirty="0">
                <a:solidFill>
                  <a:srgbClr val="000000"/>
                </a:solidFill>
                <a:effectLst/>
                <a:latin typeface="Arial" panose="020B0604020202020204" pitchFamily="34" charset="0"/>
              </a:rPr>
              <a:t>Si el método de notificación es SIGEV_SIGNAL, el campo </a:t>
            </a:r>
            <a:r>
              <a:rPr lang="es-ES" sz="1800" i="0" u="none" strike="noStrike" dirty="0">
                <a:solidFill>
                  <a:srgbClr val="000000"/>
                </a:solidFill>
                <a:effectLst/>
                <a:latin typeface="Arial" panose="020B0604020202020204" pitchFamily="34" charset="0"/>
              </a:rPr>
              <a:t>SIGNO</a:t>
            </a:r>
            <a:r>
              <a:rPr lang="es-ES" sz="1800" b="0" i="0" u="none" strike="noStrike" dirty="0">
                <a:solidFill>
                  <a:srgbClr val="000000"/>
                </a:solidFill>
                <a:effectLst/>
                <a:latin typeface="Arial" panose="020B0604020202020204" pitchFamily="34" charset="0"/>
              </a:rPr>
              <a:t> indica qué señal se entrega para la notificación de mensajes.</a:t>
            </a:r>
          </a:p>
        </p:txBody>
      </p:sp>
      <p:sp>
        <p:nvSpPr>
          <p:cNvPr id="4" name="Título 1">
            <a:extLst>
              <a:ext uri="{FF2B5EF4-FFF2-40B4-BE49-F238E27FC236}">
                <a16:creationId xmlns:a16="http://schemas.microsoft.com/office/drawing/2014/main" id="{D0DDB293-DEC3-59EC-9128-1C54EC1BC5A8}"/>
              </a:ext>
            </a:extLst>
          </p:cNvPr>
          <p:cNvSpPr>
            <a:spLocks noGrp="1"/>
          </p:cNvSpPr>
          <p:nvPr>
            <p:ph type="title"/>
          </p:nvPr>
        </p:nvSpPr>
        <p:spPr>
          <a:xfrm>
            <a:off x="642918" y="705113"/>
            <a:ext cx="3671907" cy="5197498"/>
          </a:xfrm>
        </p:spPr>
        <p:txBody>
          <a:bodyPr/>
          <a:lstStyle/>
          <a:p>
            <a:pPr algn="ctr" rtl="0"/>
            <a:r>
              <a:rPr lang="es-ES" sz="2900" dirty="0"/>
              <a:t>LINUX/Obtener información sobre una cola de mensajes</a:t>
            </a:r>
            <a:endParaRPr lang="es-AR" sz="2900" dirty="0"/>
          </a:p>
        </p:txBody>
      </p:sp>
    </p:spTree>
    <p:extLst>
      <p:ext uri="{BB962C8B-B14F-4D97-AF65-F5344CB8AC3E}">
        <p14:creationId xmlns:p14="http://schemas.microsoft.com/office/powerpoint/2010/main" val="1611590795"/>
      </p:ext>
    </p:extLst>
  </p:cSld>
  <p:clrMapOvr>
    <a:masterClrMapping/>
  </p:clrMapOvr>
</p:sld>
</file>

<file path=ppt/theme/theme1.xml><?xml version="1.0" encoding="utf-8"?>
<a:theme xmlns:a="http://schemas.openxmlformats.org/drawingml/2006/main" name="ShojiVTI">
  <a:themeElements>
    <a:clrScheme name="Shoji">
      <a:dk1>
        <a:sysClr val="windowText" lastClr="000000"/>
      </a:dk1>
      <a:lt1>
        <a:sysClr val="window" lastClr="FFFFFF"/>
      </a:lt1>
      <a:dk2>
        <a:srgbClr val="595460"/>
      </a:dk2>
      <a:lt2>
        <a:srgbClr val="EBEDEB"/>
      </a:lt2>
      <a:accent1>
        <a:srgbClr val="97A7B8"/>
      </a:accent1>
      <a:accent2>
        <a:srgbClr val="A5B592"/>
      </a:accent2>
      <a:accent3>
        <a:srgbClr val="CED228"/>
      </a:accent3>
      <a:accent4>
        <a:srgbClr val="D1C499"/>
      </a:accent4>
      <a:accent5>
        <a:srgbClr val="BDB3B6"/>
      </a:accent5>
      <a:accent6>
        <a:srgbClr val="C5A98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ojiVTI" id="{00D0DDEB-E771-48E5-9E96-0647434F08B1}" vid="{9D22D596-7FD0-4F89-958C-AD79A094911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237</TotalTime>
  <Words>2608</Words>
  <Application>Microsoft Office PowerPoint</Application>
  <PresentationFormat>Panorámica</PresentationFormat>
  <Paragraphs>135</Paragraphs>
  <Slides>32</Slides>
  <Notes>10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32</vt:i4>
      </vt:variant>
    </vt:vector>
  </HeadingPairs>
  <TitlesOfParts>
    <vt:vector size="38" baseType="lpstr">
      <vt:lpstr>Meiryo</vt:lpstr>
      <vt:lpstr>Aptos</vt:lpstr>
      <vt:lpstr>Arial</vt:lpstr>
      <vt:lpstr>Corbel</vt:lpstr>
      <vt:lpstr>D-DINExp</vt:lpstr>
      <vt:lpstr>ShojiVTI</vt:lpstr>
      <vt:lpstr>COLA DE MENSAJES EN LINUX</vt:lpstr>
      <vt:lpstr>VISIÓN GENERAL</vt:lpstr>
      <vt:lpstr>FUNCIONES PRINCIPALES</vt:lpstr>
      <vt:lpstr>CARACTERÍSTICAS</vt:lpstr>
      <vt:lpstr>FUNCIONES/ APERTURA</vt:lpstr>
      <vt:lpstr>FUNCIONES/ APERTURA</vt:lpstr>
      <vt:lpstr>FUNCIONES/ CREACIÓN</vt:lpstr>
      <vt:lpstr>FUNCIONES/ CREACIÓN/ Atributos de la cola de mensajes</vt:lpstr>
      <vt:lpstr>FUNCIONES/ CREACIÓN/ Atributos de la cola de mensajes</vt:lpstr>
      <vt:lpstr>FUNCIONES/Recuperación de atributos</vt:lpstr>
      <vt:lpstr>FUNCIONES/Modificación de los atributos </vt:lpstr>
      <vt:lpstr>FUNCIONES/Modificación de los atributos </vt:lpstr>
      <vt:lpstr>FUNCIONES/CREACIÓN</vt:lpstr>
      <vt:lpstr>FUNCIONES/CIERRE</vt:lpstr>
      <vt:lpstr>FUNCIONES/CIERRE</vt:lpstr>
      <vt:lpstr>FUNCIONES/ELIMINANDO</vt:lpstr>
      <vt:lpstr>FUNCIONES/ INTERCAMBIO DE MENSAJES/ENVÍO</vt:lpstr>
      <vt:lpstr>FUNCIONES/ INTERCAMBIO DE MENSAJES/ENVÍO</vt:lpstr>
      <vt:lpstr>FUNCIONES/ INTERCAMBIO DE MENSAJES/ENVÍO</vt:lpstr>
      <vt:lpstr>FUNCIONES/ INTERCAMBIO DE MENSAJES/ RECEPCIÓN</vt:lpstr>
      <vt:lpstr>FUNCIONES/ INTERCAMBIO DE MENSAJES/ RECEPCIÓN</vt:lpstr>
      <vt:lpstr>OTRAS FUNCIONES/Enviar y recibir mensajes con un tiempo de espera</vt:lpstr>
      <vt:lpstr>OTRAS FUNCIONES/Enviar y recibir mensajes con un tiempo de espera</vt:lpstr>
      <vt:lpstr>OTRAS FUNCIONES/ NOTIFICACIONES</vt:lpstr>
      <vt:lpstr>OTRAS FUNCIONES/ NOTIFICACIONES</vt:lpstr>
      <vt:lpstr>OTRAS FUNCIONES/ NOTIFICACIONES</vt:lpstr>
      <vt:lpstr>OTRAS FUNCIONES/ NOTIFICACIONES</vt:lpstr>
      <vt:lpstr>Linux/ Visualización y eliminación de objetos de cola de mensajes a través de la línea de comandos</vt:lpstr>
      <vt:lpstr>Linux/ Visualización y eliminación de objetos de cola de mensajes a través de la línea de comandos</vt:lpstr>
      <vt:lpstr>Linux/ Visualización y eliminación de objetos de cola de mensajes a través de la línea de comandos</vt:lpstr>
      <vt:lpstr>LINUX/Obtener información sobre una cola de mensajes</vt:lpstr>
      <vt:lpstr>LINUX/Obtener información sobre una cola de mensajes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Bruno Svachca</dc:creator>
  <cp:lastModifiedBy>Bruno Svachca</cp:lastModifiedBy>
  <cp:revision>7</cp:revision>
  <dcterms:created xsi:type="dcterms:W3CDTF">2025-03-30T00:10:42Z</dcterms:created>
  <dcterms:modified xsi:type="dcterms:W3CDTF">2025-04-01T14:57:02Z</dcterms:modified>
</cp:coreProperties>
</file>