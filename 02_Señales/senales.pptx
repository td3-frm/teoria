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
      <p:font typeface="Merriweather"/>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Merriweather-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italic.fntdata"/><Relationship Id="rId25" Type="http://schemas.openxmlformats.org/officeDocument/2006/relationships/font" Target="fonts/Merriweather-bold.fntdata"/><Relationship Id="rId27"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6b8e8dadd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6b8e8dadd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350">
                <a:solidFill>
                  <a:srgbClr val="FFFFFF"/>
                </a:solidFill>
                <a:highlight>
                  <a:srgbClr val="4A4A4A"/>
                </a:highlight>
                <a:latin typeface="Roboto"/>
                <a:ea typeface="Roboto"/>
                <a:cs typeface="Roboto"/>
                <a:sym typeface="Roboto"/>
              </a:rPr>
              <a:t>Una señal es una notificación a un proceso de que se ha producido un evento. Las señales a veces se describen como interrupciones de software. Las señales son análogas a las interrupciones de hardware en que interrumpen el flujo normal de ejecución de un programa</a:t>
            </a:r>
            <a:br>
              <a:rPr lang="es" sz="1350">
                <a:solidFill>
                  <a:srgbClr val="FFFFFF"/>
                </a:solidFill>
                <a:highlight>
                  <a:srgbClr val="4A4A4A"/>
                </a:highlight>
                <a:latin typeface="Roboto"/>
                <a:ea typeface="Roboto"/>
                <a:cs typeface="Roboto"/>
                <a:sym typeface="Roboto"/>
              </a:rPr>
            </a:br>
            <a:br>
              <a:rPr lang="es" sz="1350">
                <a:solidFill>
                  <a:srgbClr val="FFFFFF"/>
                </a:solidFill>
                <a:highlight>
                  <a:srgbClr val="4A4A4A"/>
                </a:highlight>
                <a:latin typeface="Roboto"/>
                <a:ea typeface="Roboto"/>
                <a:cs typeface="Roboto"/>
                <a:sym typeface="Roboto"/>
              </a:rPr>
            </a:br>
            <a:r>
              <a:rPr lang="es" sz="1350">
                <a:solidFill>
                  <a:srgbClr val="FFFFFF"/>
                </a:solidFill>
                <a:highlight>
                  <a:srgbClr val="4A4A4A"/>
                </a:highlight>
                <a:latin typeface="Roboto"/>
                <a:ea typeface="Roboto"/>
                <a:cs typeface="Roboto"/>
                <a:sym typeface="Roboto"/>
              </a:rPr>
              <a:t>En la mayoría de los casos, no es posible predecir exactamente cuándo llegará una señal. Un proceso puede (si tiene los permisos adecuados) enviar una señal a otro proceso. En este uso, las señales se pueden emplear como una técnica de sincronización</a:t>
            </a:r>
            <a:br>
              <a:rPr lang="es" sz="1350">
                <a:solidFill>
                  <a:srgbClr val="FFFFFF"/>
                </a:solidFill>
                <a:highlight>
                  <a:srgbClr val="4A4A4A"/>
                </a:highlight>
                <a:latin typeface="Roboto"/>
                <a:ea typeface="Roboto"/>
                <a:cs typeface="Roboto"/>
                <a:sym typeface="Roboto"/>
              </a:rPr>
            </a:br>
            <a:r>
              <a:rPr lang="es" sz="1350">
                <a:solidFill>
                  <a:srgbClr val="FFFFFF"/>
                </a:solidFill>
                <a:highlight>
                  <a:srgbClr val="4A4A4A"/>
                </a:highlight>
                <a:latin typeface="Roboto"/>
                <a:ea typeface="Roboto"/>
                <a:cs typeface="Roboto"/>
                <a:sym typeface="Roboto"/>
              </a:rPr>
              <a:t>También es posible que un proceso se envíe una señal a sí mismo. Sin embargo, la fuente habitual de muchas señales enviadas a un proceso es el kernel.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6bb14a7e9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6bb14a7e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Cada señal se define como un entero único (pequeño), que comienza secuencialmente desde 1. Estos enteros se definen en &lt;signal.h&gt;</a:t>
            </a:r>
            <a:br>
              <a:rPr lang="es"/>
            </a:br>
            <a:br>
              <a:rPr lang="es"/>
            </a:br>
            <a:r>
              <a:rPr lang="es"/>
              <a:t>Las señales se dividen en dos grandes categorías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Se dice que una señal es generada por algún evento. Una vez generada, una señal se entrega posteriormente a un proceso, que luego realiza alguna acción en respuesta a la señal</a:t>
            </a:r>
            <a:br>
              <a:rPr lang="es"/>
            </a:br>
            <a:r>
              <a:rPr lang="es"/>
              <a:t>Normalmente, una señal pendiente se entrega a un proceso tan pronto como se programa su próxima ejecución, o inmediatamente si el proceso ya se está ejecutando</a:t>
            </a:r>
            <a:br>
              <a:rPr lang="es"/>
            </a:br>
            <a:br>
              <a:rPr lang="es"/>
            </a:br>
            <a:r>
              <a:rPr lang="es"/>
              <a:t>, necesitamos asegurarnos de que un segmento de código no sea interrumpido por la entrega de una señal. Para hacer esto, podemos agregar una señal a la máscara de señal del proceso, un conjunto de señales cuya entrega está actualmente bloqueada. Si se genera una señal mientras está bloqueada, permanece pendiente hasta que se desbloquee posteriormente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6bb14a7e9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6bb14a7e9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genera un archivo core dump y el proceso termina. Un archivo core dump contiene una imagen de la memoria virtual del proceso.el término "imagen" hace referencia a una copia exacta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6bb14a7e9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6bb14a7e9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lugar de aceptar el valor predeterminado para una señal en particular, un programa puede cambiar la acción que ocurre cuando se entrega la señal. Esto se conoce como establecer la disposición de la señal.</a:t>
            </a:r>
            <a:br>
              <a:rPr lang="es"/>
            </a:br>
            <a:br>
              <a:rPr lang="es"/>
            </a:br>
            <a:r>
              <a:rPr lang="es"/>
              <a:t>Debería producirse la acción predeterminada. Esto es útil para deshacer un cambio anterior en la disposición de la señal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6bb14a7e9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6bb14a7e9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6bb14a7e9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6bb14a7e9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Los sistemas UNIX proporcionan dos formas de cambiar la disposición de una señal: signal() y sigaction(). La llamada al sistema signal(), que se describe en esta sección, era la API original para establecer la disposición de una señal</a:t>
            </a:r>
            <a:br>
              <a:rPr lang="es"/>
            </a:br>
            <a:br>
              <a:rPr lang="es"/>
            </a:br>
            <a:r>
              <a:rPr lang="es"/>
              <a:t>sigaction() proporciona una funcionalidad que no está disponible con signal(). Además, existen variaciones en el comportamiento de signal()</a:t>
            </a:r>
            <a:br>
              <a:rPr lang="es"/>
            </a:br>
            <a:br>
              <a:rPr lang="es"/>
            </a:br>
            <a:r>
              <a:rPr lang="es"/>
              <a:t>. El primer argumento, sig, identifica la señal cuya disposición deseamos cambiar. El segundo argumento, el controlador, es la dirección de la función a la que se debe llamar cuando se entrega esta señal. Esta función no devuelve nada (void) y toma un argumento entero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El valor de retorno de signal() es la disposición previa de la señal. Al igual que el argumento del controlador, este es un puntero a una función que no devuelve nada y toma un argumento entero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6bb14a7e9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46bb14a7e9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invocación de una senal handler puede interrumpir el flujo principal del programa en cualquier mome</a:t>
            </a:r>
            <a:r>
              <a:rPr lang="es"/>
              <a:t>nto</a:t>
            </a:r>
            <a:r>
              <a:rPr lang="es"/>
              <a:t>; El núcleo llama al manejador en nombre del proceso, y cuando el manejador regresa, la ejecución del programa se reanuda en el punto donde el manejador lo interrumpió</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6bb14a7e9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6bb14a7e9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Exmple </a:t>
            </a:r>
            <a:r>
              <a:rPr lang="es"/>
              <a:t>de una función de una senal hanler  y un programa principal que la establece como el manejador para la señal SIGINT. (El controlador de terminal genera esta señal cuando escribimos el carácter de interrupción del terminal, normalmente Control-C). El manejador simplemente imprime un mensaje y retorna.</a:t>
            </a:r>
            <a:br>
              <a:rPr lang="es"/>
            </a:br>
            <a:br>
              <a:rPr lang="es"/>
            </a:br>
            <a:r>
              <a:rPr lang="es"/>
              <a:t>El programa principal se repite continuamente. En cada iteración, el programa aumenta un contador cuyo valor imprime y, a continuación, el programa se duerme durante unos segundos. (Para dormir de esta manera, usamos la función sleep()</a:t>
            </a:r>
            <a:br>
              <a:rPr lang="es"/>
            </a:br>
            <a:br>
              <a:rPr lang="es"/>
            </a:br>
            <a:r>
              <a:rPr lang="es"/>
              <a:t>Cuando el kernel invoca un controlador de señales, pasa el número de la señal que causó la invocación como un argumento entero al identificador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6bb14a7e9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6bb14a7e9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argumento pid identifica uno o más procesos a los que se va a enviar la señal especificada por sig. Cuatro casos diferentes determinan cómo se interpreta el pid: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6bb14a7e9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6bb14a7e9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cada proceso, el kernel mantiene una máscara de señal, un conjunto de señales cuya entrega al proceso está actualmente bloqueada. Si una señal que está bloqueada se envía a un proceso, la entrega de esa señal se retrasa hasta que se desbloquea al eliminarla de la máscara de señal del proceso.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6bb14a7e9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6bb14a7e9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un proceso recibe una señal que está bloqueada actualmente, esa señal se agrega al conjunto de señales pendientes del proceso. Cuando (y si) la señal se desbloquea más tarde, se entrega al proceso. Para determinar qué señales están pendientes de un proceso, podemos llamar a sigpending()</a:t>
            </a:r>
            <a:br>
              <a:rPr lang="es"/>
            </a:br>
            <a:br>
              <a:rPr lang="es"/>
            </a:br>
            <a:r>
              <a:rPr lang="es"/>
              <a:t>La llamada al sistema sigpending() devuelve el conjunto de señales que están pendientes para el proceso de llamada en la estructura sigset_t apuntada por set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6bb14a7e9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46bb14a7e9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llamada al sistema sigaction() es una alternativa a signal() para establecer la disposición de una señal. Aunque sigaction() es algo más complejo de usar que signal(), a cambio proporciona una mayor flexibilidad. En particular, sigaction() nos permite recuperar la disposición de una señal sin cambiarla, y establecer varios atributos que controlan con precisión lo que sucede cuando se invoca un manejador de señales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6bb14a7e9_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6bb14a7e9_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Señales</a:t>
            </a:r>
            <a:r>
              <a:rPr lang="es"/>
              <a:t> </a:t>
            </a:r>
            <a:endParaRPr/>
          </a:p>
        </p:txBody>
      </p:sp>
      <p:sp>
        <p:nvSpPr>
          <p:cNvPr id="65" name="Google Shape;65;p13"/>
          <p:cNvSpPr txBox="1"/>
          <p:nvPr>
            <p:ph idx="1" type="subTitle"/>
          </p:nvPr>
        </p:nvSpPr>
        <p:spPr>
          <a:xfrm>
            <a:off x="311700" y="1878546"/>
            <a:ext cx="4719600" cy="1046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Lisandro Elmelaj </a:t>
            </a:r>
            <a:endParaRPr/>
          </a:p>
          <a:p>
            <a:pPr indent="0" lvl="0" marL="0" rtl="0" algn="l">
              <a:spcBef>
                <a:spcPts val="0"/>
              </a:spcBef>
              <a:spcAft>
                <a:spcPts val="0"/>
              </a:spcAft>
              <a:buNone/>
            </a:pPr>
            <a:r>
              <a:rPr lang="es"/>
              <a:t>5R5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6" name="Google Shape;66;p13"/>
          <p:cNvSpPr txBox="1"/>
          <p:nvPr/>
        </p:nvSpPr>
        <p:spPr>
          <a:xfrm>
            <a:off x="3972050" y="39513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7" name="Google Shape;67;p13"/>
          <p:cNvSpPr txBox="1"/>
          <p:nvPr/>
        </p:nvSpPr>
        <p:spPr>
          <a:xfrm>
            <a:off x="5414075" y="4126975"/>
            <a:ext cx="3418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rgbClr val="FFFFFF"/>
                </a:solidFill>
                <a:latin typeface="Roboto"/>
                <a:ea typeface="Roboto"/>
                <a:cs typeface="Roboto"/>
                <a:sym typeface="Roboto"/>
              </a:rPr>
              <a:t>The linux programming Interface </a:t>
            </a:r>
            <a:endParaRPr sz="16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Conceptos y descripción general</a:t>
            </a:r>
            <a:endParaRPr/>
          </a:p>
        </p:txBody>
      </p:sp>
      <p:sp>
        <p:nvSpPr>
          <p:cNvPr id="73" name="Google Shape;73;p14"/>
          <p:cNvSpPr txBox="1"/>
          <p:nvPr>
            <p:ph idx="1" type="body"/>
          </p:nvPr>
        </p:nvSpPr>
        <p:spPr>
          <a:xfrm>
            <a:off x="4379125" y="393675"/>
            <a:ext cx="4607700" cy="474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400"/>
              <a:t>Una señal es una notificación a un proceso de que se ha producido un evento</a:t>
            </a:r>
            <a:endParaRPr b="1" sz="1400"/>
          </a:p>
          <a:p>
            <a:pPr indent="0" lvl="0" marL="0" rtl="0" algn="l">
              <a:spcBef>
                <a:spcPts val="1200"/>
              </a:spcBef>
              <a:spcAft>
                <a:spcPts val="0"/>
              </a:spcAft>
              <a:buNone/>
            </a:pPr>
            <a:r>
              <a:rPr b="1" lang="es" sz="1400"/>
              <a:t>Entre los tipos de eventos que hacen que el kernel genere una señal para un proceso se encuentran:</a:t>
            </a:r>
            <a:endParaRPr b="1" sz="1400"/>
          </a:p>
          <a:p>
            <a:pPr indent="-317500" lvl="0" marL="457200" rtl="0" algn="l">
              <a:spcBef>
                <a:spcPts val="1200"/>
              </a:spcBef>
              <a:spcAft>
                <a:spcPts val="0"/>
              </a:spcAft>
              <a:buSzPts val="1400"/>
              <a:buChar char="●"/>
            </a:pPr>
            <a:r>
              <a:rPr b="1" lang="es" sz="1400"/>
              <a:t>Se produjo una excepción de hardware, lo que significa que el hardware detectó una condición de error que se notificó al kernel (</a:t>
            </a:r>
            <a:r>
              <a:rPr b="1" lang="es" sz="1400"/>
              <a:t>División</a:t>
            </a:r>
            <a:r>
              <a:rPr b="1" lang="es" sz="1400"/>
              <a:t> por 0)</a:t>
            </a:r>
            <a:endParaRPr b="1" sz="1400"/>
          </a:p>
          <a:p>
            <a:pPr indent="0" lvl="0" marL="457200" rtl="0" algn="l">
              <a:spcBef>
                <a:spcPts val="1200"/>
              </a:spcBef>
              <a:spcAft>
                <a:spcPts val="0"/>
              </a:spcAft>
              <a:buNone/>
            </a:pPr>
            <a:r>
              <a:t/>
            </a:r>
            <a:endParaRPr b="1" sz="1400"/>
          </a:p>
          <a:p>
            <a:pPr indent="-317500" lvl="0" marL="457200" rtl="0" algn="l">
              <a:spcBef>
                <a:spcPts val="1200"/>
              </a:spcBef>
              <a:spcAft>
                <a:spcPts val="0"/>
              </a:spcAft>
              <a:buSzPts val="1400"/>
              <a:buChar char="●"/>
            </a:pPr>
            <a:r>
              <a:rPr b="1" lang="es" sz="1400"/>
              <a:t>El usuario ha escrito uno de los caracteres especiales del terminal que generan señales. Estos caracteres incluyen el carácter de interrupción (usualmente Control-C)</a:t>
            </a:r>
            <a:endParaRPr b="1" sz="1400"/>
          </a:p>
          <a:p>
            <a:pPr indent="0" lvl="0" marL="457200" rtl="0" algn="l">
              <a:spcBef>
                <a:spcPts val="1200"/>
              </a:spcBef>
              <a:spcAft>
                <a:spcPts val="0"/>
              </a:spcAft>
              <a:buNone/>
            </a:pPr>
            <a:r>
              <a:t/>
            </a:r>
            <a:endParaRPr b="1" sz="1400"/>
          </a:p>
          <a:p>
            <a:pPr indent="-317500" lvl="0" marL="457200" rtl="0" algn="l">
              <a:spcBef>
                <a:spcPts val="1200"/>
              </a:spcBef>
              <a:spcAft>
                <a:spcPts val="0"/>
              </a:spcAft>
              <a:buSzPts val="1400"/>
              <a:buChar char="●"/>
            </a:pPr>
            <a:r>
              <a:rPr b="1" lang="es" sz="1400"/>
              <a:t>Se ha producido un evento de software.</a:t>
            </a:r>
            <a:endParaRPr b="1"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Conceptos y descripción general</a:t>
            </a:r>
            <a:endParaRPr/>
          </a:p>
          <a:p>
            <a:pPr indent="0" lvl="0" marL="0" rtl="0" algn="l">
              <a:spcBef>
                <a:spcPts val="0"/>
              </a:spcBef>
              <a:spcAft>
                <a:spcPts val="0"/>
              </a:spcAft>
              <a:buNone/>
            </a:pPr>
            <a:r>
              <a:t/>
            </a:r>
            <a:endParaRPr/>
          </a:p>
        </p:txBody>
      </p:sp>
      <p:sp>
        <p:nvSpPr>
          <p:cNvPr id="79" name="Google Shape;79;p1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Cada señal se define como un número entero único (pequeño)</a:t>
            </a:r>
            <a:endParaRPr b="1"/>
          </a:p>
          <a:p>
            <a:pPr indent="0" lvl="0" marL="0" rtl="0" algn="l">
              <a:spcBef>
                <a:spcPts val="1200"/>
              </a:spcBef>
              <a:spcAft>
                <a:spcPts val="0"/>
              </a:spcAft>
              <a:buNone/>
            </a:pPr>
            <a:r>
              <a:rPr b="1" lang="es"/>
              <a:t>Estos enteros se definen en &lt;signal.h&gt;</a:t>
            </a:r>
            <a:endParaRPr b="1"/>
          </a:p>
          <a:p>
            <a:pPr indent="0" lvl="0" marL="0" rtl="0" algn="l">
              <a:spcBef>
                <a:spcPts val="1200"/>
              </a:spcBef>
              <a:spcAft>
                <a:spcPts val="0"/>
              </a:spcAft>
              <a:buNone/>
            </a:pPr>
            <a:r>
              <a:rPr b="1" lang="es"/>
              <a:t>La señales se dividen en dos categorías:</a:t>
            </a:r>
            <a:endParaRPr b="1"/>
          </a:p>
          <a:p>
            <a:pPr indent="-317500" lvl="0" marL="457200" rtl="0" algn="l">
              <a:spcBef>
                <a:spcPts val="1200"/>
              </a:spcBef>
              <a:spcAft>
                <a:spcPts val="0"/>
              </a:spcAft>
              <a:buSzPts val="1400"/>
              <a:buChar char="●"/>
            </a:pPr>
            <a:r>
              <a:rPr b="1" lang="es"/>
              <a:t>El primer conjunto constituye las señales tradicionales o estándar</a:t>
            </a:r>
            <a:endParaRPr b="1"/>
          </a:p>
          <a:p>
            <a:pPr indent="-311150" lvl="0" marL="457200" rtl="0" algn="l">
              <a:spcBef>
                <a:spcPts val="0"/>
              </a:spcBef>
              <a:spcAft>
                <a:spcPts val="0"/>
              </a:spcAft>
              <a:buSzPts val="1300"/>
              <a:buChar char="●"/>
            </a:pPr>
            <a:r>
              <a:rPr b="1" lang="es"/>
              <a:t>El otro conjunto de señales consiste en las señales en tiempo real</a:t>
            </a:r>
            <a:endParaRPr b="1"/>
          </a:p>
          <a:p>
            <a:pPr indent="0" lvl="0" marL="0" rtl="0" algn="l">
              <a:spcBef>
                <a:spcPts val="1200"/>
              </a:spcBef>
              <a:spcAft>
                <a:spcPts val="1200"/>
              </a:spcAft>
              <a:buNone/>
            </a:pPr>
            <a:r>
              <a:rPr b="1" lang="es"/>
              <a:t>Se dice que una señal es generada por algún evento</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Conceptos y descripción general</a:t>
            </a:r>
            <a:endParaRPr/>
          </a:p>
          <a:p>
            <a:pPr indent="0" lvl="0" marL="0" rtl="0" algn="l">
              <a:spcBef>
                <a:spcPts val="0"/>
              </a:spcBef>
              <a:spcAft>
                <a:spcPts val="0"/>
              </a:spcAft>
              <a:buNone/>
            </a:pPr>
            <a:r>
              <a:t/>
            </a:r>
            <a:endParaRPr/>
          </a:p>
        </p:txBody>
      </p:sp>
      <p:sp>
        <p:nvSpPr>
          <p:cNvPr id="85" name="Google Shape;85;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Tras la entrega de una señal, un proceso lleva a cabo una de las siguientes acciones predeterminadas, dependiendo de la señal:</a:t>
            </a:r>
            <a:endParaRPr b="1"/>
          </a:p>
          <a:p>
            <a:pPr indent="-317500" lvl="0" marL="457200" rtl="0" algn="l">
              <a:spcBef>
                <a:spcPts val="1200"/>
              </a:spcBef>
              <a:spcAft>
                <a:spcPts val="0"/>
              </a:spcAft>
              <a:buSzPts val="1400"/>
              <a:buChar char="●"/>
            </a:pPr>
            <a:r>
              <a:rPr b="1" lang="es"/>
              <a:t> The signal is ignored; </a:t>
            </a:r>
            <a:endParaRPr b="1"/>
          </a:p>
          <a:p>
            <a:pPr indent="-311150" lvl="0" marL="457200" rtl="0" algn="l">
              <a:spcBef>
                <a:spcPts val="0"/>
              </a:spcBef>
              <a:spcAft>
                <a:spcPts val="0"/>
              </a:spcAft>
              <a:buSzPts val="1300"/>
              <a:buChar char="●"/>
            </a:pPr>
            <a:r>
              <a:rPr b="1" lang="es"/>
              <a:t>El proceso se termina (killed). Esto a veces se denomina terminación anormal del proceso</a:t>
            </a:r>
            <a:endParaRPr b="1"/>
          </a:p>
          <a:p>
            <a:pPr indent="-311150" lvl="0" marL="457200" rtl="0" algn="l">
              <a:spcBef>
                <a:spcPts val="0"/>
              </a:spcBef>
              <a:spcAft>
                <a:spcPts val="0"/>
              </a:spcAft>
              <a:buSzPts val="1300"/>
              <a:buChar char="●"/>
            </a:pPr>
            <a:r>
              <a:rPr b="1" lang="es"/>
              <a:t>Se genera un dump core file de memoria principal y se finaliza el proceso</a:t>
            </a:r>
            <a:endParaRPr b="1"/>
          </a:p>
          <a:p>
            <a:pPr indent="-311150" lvl="0" marL="457200" rtl="0" algn="l">
              <a:spcBef>
                <a:spcPts val="0"/>
              </a:spcBef>
              <a:spcAft>
                <a:spcPts val="0"/>
              </a:spcAft>
              <a:buSzPts val="1300"/>
              <a:buChar char="●"/>
            </a:pPr>
            <a:r>
              <a:rPr b="1" lang="es"/>
              <a:t>El proceso se detiene: se suspende la ejecución del proceso</a:t>
            </a:r>
            <a:endParaRPr b="1"/>
          </a:p>
          <a:p>
            <a:pPr indent="-311150" lvl="0" marL="457200" rtl="0" algn="l">
              <a:spcBef>
                <a:spcPts val="0"/>
              </a:spcBef>
              <a:spcAft>
                <a:spcPts val="0"/>
              </a:spcAft>
              <a:buSzPts val="1300"/>
              <a:buChar char="●"/>
            </a:pPr>
            <a:r>
              <a:rPr b="1" lang="es"/>
              <a:t>La ejecución del proceso se reanuda</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Conceptos y descripción general</a:t>
            </a:r>
            <a:endParaRPr/>
          </a:p>
          <a:p>
            <a:pPr indent="0" lvl="0" marL="0" rtl="0" algn="l">
              <a:spcBef>
                <a:spcPts val="0"/>
              </a:spcBef>
              <a:spcAft>
                <a:spcPts val="0"/>
              </a:spcAft>
              <a:buNone/>
            </a:pPr>
            <a:r>
              <a:t/>
            </a:r>
            <a:endParaRPr/>
          </a:p>
        </p:txBody>
      </p:sp>
      <p:sp>
        <p:nvSpPr>
          <p:cNvPr id="91" name="Google Shape;91;p1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Establecer la disposición de la señal.</a:t>
            </a:r>
            <a:endParaRPr b="1"/>
          </a:p>
          <a:p>
            <a:pPr indent="0" lvl="0" marL="0" rtl="0" algn="l">
              <a:spcBef>
                <a:spcPts val="1200"/>
              </a:spcBef>
              <a:spcAft>
                <a:spcPts val="0"/>
              </a:spcAft>
              <a:buNone/>
            </a:pPr>
            <a:r>
              <a:rPr b="1" lang="es"/>
              <a:t>Un programa puede establecer una de las siguientes disposiciones para una señal:</a:t>
            </a:r>
            <a:endParaRPr b="1"/>
          </a:p>
          <a:p>
            <a:pPr indent="-311150" lvl="0" marL="457200" rtl="0" algn="l">
              <a:spcBef>
                <a:spcPts val="1200"/>
              </a:spcBef>
              <a:spcAft>
                <a:spcPts val="0"/>
              </a:spcAft>
              <a:buSzPts val="1300"/>
              <a:buChar char="●"/>
            </a:pPr>
            <a:r>
              <a:rPr b="1" lang="es"/>
              <a:t>Debería producirse la acción predeterminada</a:t>
            </a:r>
            <a:endParaRPr b="1"/>
          </a:p>
          <a:p>
            <a:pPr indent="-311150" lvl="0" marL="457200" rtl="0" algn="l">
              <a:spcBef>
                <a:spcPts val="0"/>
              </a:spcBef>
              <a:spcAft>
                <a:spcPts val="0"/>
              </a:spcAft>
              <a:buSzPts val="1300"/>
              <a:buChar char="●"/>
            </a:pPr>
            <a:r>
              <a:rPr b="1" lang="es"/>
              <a:t>La señal es ignorada</a:t>
            </a:r>
            <a:endParaRPr b="1"/>
          </a:p>
          <a:p>
            <a:pPr indent="-311150" lvl="0" marL="457200" rtl="0" algn="l">
              <a:spcBef>
                <a:spcPts val="0"/>
              </a:spcBef>
              <a:spcAft>
                <a:spcPts val="0"/>
              </a:spcAft>
              <a:buSzPts val="1300"/>
              <a:buChar char="●"/>
            </a:pPr>
            <a:r>
              <a:rPr b="1" lang="es"/>
              <a:t>Se ejecuta la </a:t>
            </a:r>
            <a:r>
              <a:rPr b="1" lang="es"/>
              <a:t>señal</a:t>
            </a:r>
            <a:r>
              <a:rPr b="1" lang="es"/>
              <a:t> handler</a:t>
            </a:r>
            <a:endParaRPr b="1"/>
          </a:p>
          <a:p>
            <a:pPr indent="0" lvl="0" marL="0" rtl="0" algn="l">
              <a:spcBef>
                <a:spcPts val="1200"/>
              </a:spcBef>
              <a:spcAft>
                <a:spcPts val="1200"/>
              </a:spcAft>
              <a:buNone/>
            </a:pPr>
            <a:r>
              <a:rPr b="1" lang="es"/>
              <a:t>Una </a:t>
            </a:r>
            <a:r>
              <a:rPr b="1" lang="es"/>
              <a:t>señal</a:t>
            </a:r>
            <a:r>
              <a:rPr b="1" lang="es"/>
              <a:t> handler es una función, escrita por el programador, que realiza tareas apropiadas en respuesta a la una señal entregada.</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171825" y="500925"/>
            <a:ext cx="88524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Tipos de señal y acciones predeterminadas</a:t>
            </a:r>
            <a:endParaRPr/>
          </a:p>
          <a:p>
            <a:pPr indent="0" lvl="0" marL="0" rtl="0" algn="l">
              <a:spcBef>
                <a:spcPts val="0"/>
              </a:spcBef>
              <a:spcAft>
                <a:spcPts val="0"/>
              </a:spcAft>
              <a:buNone/>
            </a:pPr>
            <a:r>
              <a:t/>
            </a:r>
            <a:endParaRPr/>
          </a:p>
        </p:txBody>
      </p:sp>
      <p:sp>
        <p:nvSpPr>
          <p:cNvPr id="97" name="Google Shape;97;p18"/>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Las señales estándar están numeradas del 1 al 31 en Linux.</a:t>
            </a:r>
            <a:endParaRPr b="1"/>
          </a:p>
          <a:p>
            <a:pPr indent="0" lvl="0" marL="0" rtl="0" algn="l">
              <a:spcBef>
                <a:spcPts val="1200"/>
              </a:spcBef>
              <a:spcAft>
                <a:spcPts val="1200"/>
              </a:spcAft>
              <a:buNone/>
            </a:pPr>
            <a:r>
              <a:t/>
            </a:r>
            <a:endParaRPr/>
          </a:p>
        </p:txBody>
      </p:sp>
      <p:pic>
        <p:nvPicPr>
          <p:cNvPr id="98" name="Google Shape;98;p18"/>
          <p:cNvPicPr preferRelativeResize="0"/>
          <p:nvPr/>
        </p:nvPicPr>
        <p:blipFill>
          <a:blip r:embed="rId3">
            <a:alphaModFix/>
          </a:blip>
          <a:stretch>
            <a:fillRect/>
          </a:stretch>
        </p:blipFill>
        <p:spPr>
          <a:xfrm>
            <a:off x="5296687" y="1408200"/>
            <a:ext cx="3071325" cy="3633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113275" y="500925"/>
            <a:ext cx="41664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Cambio de las disposiciones de la señal: </a:t>
            </a:r>
            <a:endParaRPr/>
          </a:p>
          <a:p>
            <a:pPr indent="0" lvl="0" marL="0" rtl="0" algn="l">
              <a:spcBef>
                <a:spcPts val="0"/>
              </a:spcBef>
              <a:spcAft>
                <a:spcPts val="0"/>
              </a:spcAft>
              <a:buNone/>
            </a:pPr>
            <a:r>
              <a:rPr lang="es"/>
              <a:t>signal()</a:t>
            </a:r>
            <a:endParaRPr/>
          </a:p>
        </p:txBody>
      </p:sp>
      <p:sp>
        <p:nvSpPr>
          <p:cNvPr id="104" name="Google Shape;104;p19"/>
          <p:cNvSpPr txBox="1"/>
          <p:nvPr>
            <p:ph idx="1" type="body"/>
          </p:nvPr>
        </p:nvSpPr>
        <p:spPr>
          <a:xfrm>
            <a:off x="4644675" y="500925"/>
            <a:ext cx="4166400" cy="4399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a:t>Los sistemas UNIX proporcionan dos formas de cambiar la disposición de una señal: signal() y sigaction().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rPr b="1" lang="es"/>
              <a:t>Una </a:t>
            </a:r>
            <a:r>
              <a:rPr b="1" lang="es"/>
              <a:t>señal</a:t>
            </a:r>
            <a:r>
              <a:rPr b="1" lang="es"/>
              <a:t> handler tiene la siguiente forma general:</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rPr b="1" lang="es"/>
              <a:t>El valor de retorno de signal() es la disposición previa de la señal</a:t>
            </a:r>
            <a:endParaRPr b="1"/>
          </a:p>
          <a:p>
            <a:pPr indent="0" lvl="0" marL="0" rtl="0" algn="l">
              <a:spcBef>
                <a:spcPts val="1200"/>
              </a:spcBef>
              <a:spcAft>
                <a:spcPts val="1200"/>
              </a:spcAft>
              <a:buNone/>
            </a:pPr>
            <a:r>
              <a:t/>
            </a:r>
            <a:endParaRPr b="1"/>
          </a:p>
        </p:txBody>
      </p:sp>
      <p:pic>
        <p:nvPicPr>
          <p:cNvPr id="105" name="Google Shape;105;p19"/>
          <p:cNvPicPr preferRelativeResize="0"/>
          <p:nvPr/>
        </p:nvPicPr>
        <p:blipFill>
          <a:blip r:embed="rId3">
            <a:alphaModFix/>
          </a:blip>
          <a:stretch>
            <a:fillRect/>
          </a:stretch>
        </p:blipFill>
        <p:spPr>
          <a:xfrm>
            <a:off x="4462175" y="1604000"/>
            <a:ext cx="4531401" cy="737309"/>
          </a:xfrm>
          <a:prstGeom prst="rect">
            <a:avLst/>
          </a:prstGeom>
          <a:noFill/>
          <a:ln>
            <a:noFill/>
          </a:ln>
        </p:spPr>
      </p:pic>
      <p:pic>
        <p:nvPicPr>
          <p:cNvPr id="106" name="Google Shape;106;p19"/>
          <p:cNvPicPr preferRelativeResize="0"/>
          <p:nvPr/>
        </p:nvPicPr>
        <p:blipFill>
          <a:blip r:embed="rId4">
            <a:alphaModFix/>
          </a:blip>
          <a:stretch>
            <a:fillRect/>
          </a:stretch>
        </p:blipFill>
        <p:spPr>
          <a:xfrm>
            <a:off x="5408650" y="2823050"/>
            <a:ext cx="2638425" cy="828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Introducción al Manejador de Señales</a:t>
            </a:r>
            <a:endParaRPr/>
          </a:p>
        </p:txBody>
      </p:sp>
      <p:sp>
        <p:nvSpPr>
          <p:cNvPr id="112" name="Google Shape;112;p2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Una </a:t>
            </a:r>
            <a:r>
              <a:rPr b="1" lang="es"/>
              <a:t>señal</a:t>
            </a:r>
            <a:r>
              <a:rPr b="1" lang="es"/>
              <a:t> handler es una función que se llama cuando se entrega una señal específica a un proceso.</a:t>
            </a:r>
            <a:endParaRPr b="1"/>
          </a:p>
          <a:p>
            <a:pPr indent="0" lvl="0" marL="0" rtl="0" algn="l">
              <a:spcBef>
                <a:spcPts val="1200"/>
              </a:spcBef>
              <a:spcAft>
                <a:spcPts val="1200"/>
              </a:spcAft>
              <a:buNone/>
            </a:pPr>
            <a:r>
              <a:rPr b="1" lang="es"/>
              <a:t>La invocación de una </a:t>
            </a:r>
            <a:r>
              <a:rPr b="1" lang="es"/>
              <a:t>señal</a:t>
            </a:r>
            <a:r>
              <a:rPr b="1" lang="es"/>
              <a:t> handler puede interrumpir el flujo principal del programa en cualquier momento</a:t>
            </a:r>
            <a:endParaRPr b="1"/>
          </a:p>
        </p:txBody>
      </p:sp>
      <p:pic>
        <p:nvPicPr>
          <p:cNvPr id="113" name="Google Shape;113;p20"/>
          <p:cNvPicPr preferRelativeResize="0"/>
          <p:nvPr/>
        </p:nvPicPr>
        <p:blipFill>
          <a:blip r:embed="rId3">
            <a:alphaModFix/>
          </a:blip>
          <a:stretch>
            <a:fillRect/>
          </a:stretch>
        </p:blipFill>
        <p:spPr>
          <a:xfrm>
            <a:off x="4962588" y="1806725"/>
            <a:ext cx="3530577" cy="1828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Introducción al Manejador de Señales</a:t>
            </a:r>
            <a:endParaRPr/>
          </a:p>
          <a:p>
            <a:pPr indent="0" lvl="0" marL="0" rtl="0" algn="l">
              <a:spcBef>
                <a:spcPts val="0"/>
              </a:spcBef>
              <a:spcAft>
                <a:spcPts val="0"/>
              </a:spcAft>
              <a:buNone/>
            </a:pPr>
            <a:r>
              <a:t/>
            </a:r>
            <a:endParaRPr/>
          </a:p>
        </p:txBody>
      </p:sp>
      <p:sp>
        <p:nvSpPr>
          <p:cNvPr id="119" name="Google Shape;119;p21"/>
          <p:cNvSpPr txBox="1"/>
          <p:nvPr>
            <p:ph idx="1" type="body"/>
          </p:nvPr>
        </p:nvSpPr>
        <p:spPr>
          <a:xfrm>
            <a:off x="5167625" y="874450"/>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1"/>
          <p:cNvPicPr preferRelativeResize="0"/>
          <p:nvPr/>
        </p:nvPicPr>
        <p:blipFill>
          <a:blip r:embed="rId3">
            <a:alphaModFix/>
          </a:blip>
          <a:stretch>
            <a:fillRect/>
          </a:stretch>
        </p:blipFill>
        <p:spPr>
          <a:xfrm>
            <a:off x="5052489" y="500925"/>
            <a:ext cx="3350773" cy="2508900"/>
          </a:xfrm>
          <a:prstGeom prst="rect">
            <a:avLst/>
          </a:prstGeom>
          <a:noFill/>
          <a:ln>
            <a:noFill/>
          </a:ln>
        </p:spPr>
      </p:pic>
      <p:pic>
        <p:nvPicPr>
          <p:cNvPr id="121" name="Google Shape;121;p21"/>
          <p:cNvPicPr preferRelativeResize="0"/>
          <p:nvPr/>
        </p:nvPicPr>
        <p:blipFill>
          <a:blip r:embed="rId4">
            <a:alphaModFix/>
          </a:blip>
          <a:stretch>
            <a:fillRect/>
          </a:stretch>
        </p:blipFill>
        <p:spPr>
          <a:xfrm>
            <a:off x="4998275" y="3196601"/>
            <a:ext cx="3459225" cy="1431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Señal</a:t>
            </a:r>
            <a:r>
              <a:rPr lang="es"/>
              <a:t> kill()</a:t>
            </a:r>
            <a:endParaRPr/>
          </a:p>
        </p:txBody>
      </p:sp>
      <p:sp>
        <p:nvSpPr>
          <p:cNvPr id="127" name="Google Shape;127;p22"/>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Un proceso puede enviar una señal a otro proceso usando la llamada al sistema kill()</a:t>
            </a:r>
            <a:endParaRPr b="1"/>
          </a:p>
          <a:p>
            <a:pPr indent="-311150" lvl="0" marL="457200" rtl="0" algn="l">
              <a:spcBef>
                <a:spcPts val="1200"/>
              </a:spcBef>
              <a:spcAft>
                <a:spcPts val="0"/>
              </a:spcAft>
              <a:buSzPts val="1300"/>
              <a:buChar char="●"/>
            </a:pPr>
            <a:r>
              <a:rPr b="1" lang="es"/>
              <a:t>Si pid es mayor que 0 La señal se envía al proceso con el ID de proceso especificado por pid.</a:t>
            </a:r>
            <a:endParaRPr b="1"/>
          </a:p>
          <a:p>
            <a:pPr indent="-311150" lvl="0" marL="457200" rtl="0" algn="l">
              <a:spcBef>
                <a:spcPts val="0"/>
              </a:spcBef>
              <a:spcAft>
                <a:spcPts val="0"/>
              </a:spcAft>
              <a:buSzPts val="1300"/>
              <a:buChar char="●"/>
            </a:pPr>
            <a:r>
              <a:rPr b="1" lang="es"/>
              <a:t>Si pid es igual a 0, la señal se envía a todos los procesos del mismo grupo de procesos que el proceso que llama</a:t>
            </a:r>
            <a:endParaRPr b="1"/>
          </a:p>
          <a:p>
            <a:pPr indent="0" lvl="0" marL="0" rtl="0" algn="l">
              <a:spcBef>
                <a:spcPts val="1200"/>
              </a:spcBef>
              <a:spcAft>
                <a:spcPts val="0"/>
              </a:spcAft>
              <a:buNone/>
            </a:pPr>
            <a:r>
              <a:t/>
            </a:r>
            <a:endParaRPr b="1"/>
          </a:p>
          <a:p>
            <a:pPr indent="-311150" lvl="0" marL="457200" rtl="0" algn="l">
              <a:spcBef>
                <a:spcPts val="1200"/>
              </a:spcBef>
              <a:spcAft>
                <a:spcPts val="0"/>
              </a:spcAft>
              <a:buSzPts val="1300"/>
              <a:buChar char="●"/>
            </a:pPr>
            <a:r>
              <a:rPr b="1" lang="es"/>
              <a:t>Si pid es igual a –1, la señal se envía a todos los procesos para los que el proceso de llamada tiene permiso para enviar una señal, excepto init (ID de proceso 1) y el proceso de llamada.</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15527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t>
            </a:r>
            <a:r>
              <a:rPr lang="es"/>
              <a:t>áscara de señal (bloqueo de </a:t>
            </a:r>
            <a:r>
              <a:rPr lang="es"/>
              <a:t>señal</a:t>
            </a:r>
            <a:r>
              <a:rPr lang="es"/>
              <a:t> delivery)</a:t>
            </a:r>
            <a:endParaRPr/>
          </a:p>
        </p:txBody>
      </p:sp>
      <p:sp>
        <p:nvSpPr>
          <p:cNvPr id="133" name="Google Shape;133;p23"/>
          <p:cNvSpPr txBox="1"/>
          <p:nvPr>
            <p:ph idx="1" type="body"/>
          </p:nvPr>
        </p:nvSpPr>
        <p:spPr>
          <a:xfrm>
            <a:off x="4644675" y="500925"/>
            <a:ext cx="4166400" cy="4530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a:t>Para cada proceso, el kernel mantiene una máscara de señal, un conjunto de señales cuya entrega al proceso está actualmente bloqueada.</a:t>
            </a:r>
            <a:br>
              <a:rPr b="1" lang="es"/>
            </a:br>
            <a:br>
              <a:rPr b="1" lang="es"/>
            </a:br>
            <a:r>
              <a:rPr b="1" lang="es"/>
              <a:t>Una señal puede añadirse a la </a:t>
            </a:r>
            <a:r>
              <a:rPr b="1" lang="es"/>
              <a:t>señal máscara</a:t>
            </a:r>
            <a:r>
              <a:rPr b="1" lang="es"/>
              <a:t> de las siguientes maneras:</a:t>
            </a:r>
            <a:endParaRPr b="1"/>
          </a:p>
          <a:p>
            <a:pPr indent="-311150" lvl="0" marL="457200" rtl="0" algn="l">
              <a:spcBef>
                <a:spcPts val="1200"/>
              </a:spcBef>
              <a:spcAft>
                <a:spcPts val="0"/>
              </a:spcAft>
              <a:buSzPts val="1300"/>
              <a:buChar char="●"/>
            </a:pPr>
            <a:r>
              <a:rPr b="1" lang="es"/>
              <a:t>Cuando se invoca una </a:t>
            </a:r>
            <a:r>
              <a:rPr b="1" lang="es"/>
              <a:t>señal</a:t>
            </a:r>
            <a:r>
              <a:rPr b="1" lang="es"/>
              <a:t> handler, la señal que causó su invocación se puede agregar automáticamente a la</a:t>
            </a:r>
            <a:r>
              <a:rPr b="1" lang="es"/>
              <a:t> máscara de señal</a:t>
            </a:r>
            <a:endParaRPr b="1"/>
          </a:p>
          <a:p>
            <a:pPr indent="-311150" lvl="0" marL="457200" rtl="0" algn="l">
              <a:spcBef>
                <a:spcPts val="0"/>
              </a:spcBef>
              <a:spcAft>
                <a:spcPts val="0"/>
              </a:spcAft>
              <a:buSzPts val="1300"/>
              <a:buChar char="●"/>
            </a:pPr>
            <a:r>
              <a:rPr b="1" lang="es"/>
              <a:t>Cuando se establece </a:t>
            </a:r>
            <a:r>
              <a:rPr b="1" lang="es"/>
              <a:t>una </a:t>
            </a:r>
            <a:r>
              <a:rPr b="1" lang="es"/>
              <a:t>señal</a:t>
            </a:r>
            <a:r>
              <a:rPr b="1" lang="es"/>
              <a:t> </a:t>
            </a:r>
            <a:r>
              <a:rPr b="1" lang="es"/>
              <a:t>handler</a:t>
            </a:r>
            <a:r>
              <a:rPr b="1" lang="es"/>
              <a:t>  con sigaction(), es posible especificar un conjunto adicional de señales que se van a bloquear cuando se invoca el </a:t>
            </a:r>
            <a:r>
              <a:rPr b="1" lang="es"/>
              <a:t>handler</a:t>
            </a:r>
            <a:r>
              <a:rPr b="1" lang="es"/>
              <a:t>.</a:t>
            </a:r>
            <a:endParaRPr b="1"/>
          </a:p>
          <a:p>
            <a:pPr indent="-311150" lvl="0" marL="457200" rtl="0" algn="l">
              <a:spcBef>
                <a:spcPts val="0"/>
              </a:spcBef>
              <a:spcAft>
                <a:spcPts val="0"/>
              </a:spcAft>
              <a:buSzPts val="1300"/>
              <a:buChar char="●"/>
            </a:pPr>
            <a:r>
              <a:rPr b="1" lang="es"/>
              <a:t>La llamada al sistema sigprocmask() se puede utilizar en cualquier momento para agregar y eliminar señales explícitas de la máscara de señal</a:t>
            </a:r>
            <a:endParaRPr b="1"/>
          </a:p>
          <a:p>
            <a:pPr indent="0" lvl="0" marL="0" rtl="0" algn="l">
              <a:spcBef>
                <a:spcPts val="1200"/>
              </a:spcBef>
              <a:spcAft>
                <a:spcPts val="1200"/>
              </a:spcAft>
              <a:buNone/>
            </a:pPr>
            <a:r>
              <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Señales pendientes</a:t>
            </a:r>
            <a:endParaRPr/>
          </a:p>
        </p:txBody>
      </p:sp>
      <p:sp>
        <p:nvSpPr>
          <p:cNvPr id="139" name="Google Shape;139;p2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
              <a:t>Si un proceso recibe una señal que está siendo bloqueada actualmente, esa señal se agrega al conjunto de señales pendientes del </a:t>
            </a:r>
            <a:r>
              <a:rPr b="1" lang="es"/>
              <a:t>proceso</a:t>
            </a:r>
            <a:endParaRPr b="1"/>
          </a:p>
        </p:txBody>
      </p:sp>
      <p:pic>
        <p:nvPicPr>
          <p:cNvPr id="140" name="Google Shape;140;p24"/>
          <p:cNvPicPr preferRelativeResize="0"/>
          <p:nvPr/>
        </p:nvPicPr>
        <p:blipFill>
          <a:blip r:embed="rId3">
            <a:alphaModFix/>
          </a:blip>
          <a:stretch>
            <a:fillRect/>
          </a:stretch>
        </p:blipFill>
        <p:spPr>
          <a:xfrm>
            <a:off x="4520075" y="1615625"/>
            <a:ext cx="4415600" cy="791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Cambiar las disposiciones de la señal: sigaction()</a:t>
            </a:r>
            <a:endParaRPr/>
          </a:p>
        </p:txBody>
      </p:sp>
      <p:sp>
        <p:nvSpPr>
          <p:cNvPr id="146" name="Google Shape;146;p2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La llamada al sistema sigaction() es una alternativa a signal() para establecer la disposición de una señal</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1200"/>
              </a:spcAft>
              <a:buNone/>
            </a:pPr>
            <a:r>
              <a:rPr b="1" lang="es"/>
              <a:t>El argumento sig identifica la señal cuya disposición queremos recuperar o cambiar..</a:t>
            </a:r>
            <a:endParaRPr b="1"/>
          </a:p>
        </p:txBody>
      </p:sp>
      <p:pic>
        <p:nvPicPr>
          <p:cNvPr id="147" name="Google Shape;147;p25"/>
          <p:cNvPicPr preferRelativeResize="0"/>
          <p:nvPr/>
        </p:nvPicPr>
        <p:blipFill>
          <a:blip r:embed="rId3">
            <a:alphaModFix/>
          </a:blip>
          <a:stretch>
            <a:fillRect/>
          </a:stretch>
        </p:blipFill>
        <p:spPr>
          <a:xfrm>
            <a:off x="4803825" y="1489325"/>
            <a:ext cx="3848100" cy="752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Esperando una señal: pause()</a:t>
            </a:r>
            <a:endParaRPr/>
          </a:p>
        </p:txBody>
      </p:sp>
      <p:sp>
        <p:nvSpPr>
          <p:cNvPr id="153" name="Google Shape;153;p2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Llamar a pause() suspende la ejecución del proceso hasta que la llamada sea interrumpida por una </a:t>
            </a:r>
            <a:r>
              <a:rPr b="1" lang="es"/>
              <a:t>señal</a:t>
            </a:r>
            <a:r>
              <a:rPr b="1" lang="es"/>
              <a:t> handler(o hasta que una señal no manejada termine el proceso).</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1200"/>
              </a:spcAft>
              <a:buNone/>
            </a:pPr>
            <a:r>
              <a:rPr b="1" lang="es"/>
              <a:t>Cuando se maneja una señal, pause() se interrumpe y siempre devuelve –1 con errno establecido en EINTR.</a:t>
            </a:r>
            <a:endParaRPr b="1"/>
          </a:p>
        </p:txBody>
      </p:sp>
      <p:pic>
        <p:nvPicPr>
          <p:cNvPr id="154" name="Google Shape;154;p26"/>
          <p:cNvPicPr preferRelativeResize="0"/>
          <p:nvPr/>
        </p:nvPicPr>
        <p:blipFill>
          <a:blip r:embed="rId3">
            <a:alphaModFix/>
          </a:blip>
          <a:stretch>
            <a:fillRect/>
          </a:stretch>
        </p:blipFill>
        <p:spPr>
          <a:xfrm>
            <a:off x="4784775" y="1698425"/>
            <a:ext cx="3886200" cy="704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