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svg" ContentType="image/svg"/>
  <Override PartName="/ppt/media/image4.png" ContentType="image/png"/>
  <Override PartName="/ppt/media/image5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2B369A-618A-47FC-A0E5-CB08D21BEB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6B7A94-4BDA-4C02-9696-3389EBBC73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25E1E03-FDD9-4799-8804-145D38FF0E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AR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D0F4949-836F-45F8-8C2C-8B9744832E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BED2FD0-F68A-43DC-A1FF-4FBCC847B7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AR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AR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9A4F845-0B5A-409C-97A3-E2F75D7855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8708838-DAA0-4740-BA2F-8AAC687CAE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01134EF-330A-4FE4-8353-8EA114F068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A436FD5-92F8-4EDD-BEF7-C9062E53AD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9FA6E23-E3C3-4386-90DC-9904B51715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DC8CEE4-C8CF-4A02-994A-35B78DE1F0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s-ES" sz="6000" spc="-1" strike="noStrike">
                <a:solidFill>
                  <a:schemeClr val="dk1"/>
                </a:solidFill>
                <a:latin typeface="Aptos Display"/>
              </a:rPr>
              <a:t>Haga clic para modificar el estilo de título del patrón</a:t>
            </a:r>
            <a:endParaRPr b="0" lang="es-AR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BE8824-8E49-44D3-9ACA-4FCEEDD61D1C}" type="slidenum"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s-AR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s-AR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s-AR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s-AR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s-AR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s-AR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s-AR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ptos Display"/>
              </a:rPr>
              <a:t>Haga clic para modificar el estilo de título del patrón</a:t>
            </a:r>
            <a:endParaRPr b="0" lang="es-A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A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Segundo nivel</a:t>
            </a:r>
            <a:endParaRPr b="0" lang="es-A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Tercer nivel</a:t>
            </a:r>
            <a:endParaRPr b="0" lang="es-A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Cuarto nivel</a:t>
            </a:r>
            <a:endParaRPr b="0" lang="es-A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Quinto nivel</a:t>
            </a:r>
            <a:endParaRPr b="0" lang="es-A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288013-205E-4BF3-94EA-821690E81EAB}" type="slidenum"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ptos Display"/>
              </a:rPr>
              <a:t>Haga clic para modificar el estilo de título del patrón</a:t>
            </a:r>
            <a:endParaRPr b="0" lang="es-A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A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Segundo nivel</a:t>
            </a:r>
            <a:endParaRPr b="0" lang="es-A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Tercer nivel</a:t>
            </a:r>
            <a:endParaRPr b="0" lang="es-A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Cuarto nivel</a:t>
            </a:r>
            <a:endParaRPr b="0" lang="es-A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Quinto nivel</a:t>
            </a:r>
            <a:endParaRPr b="0" lang="es-A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E5BD6C-ED36-4CA8-818E-474889E6F30E}" type="slidenum"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ptos Display"/>
              </a:rPr>
              <a:t>Haga clic para modificar el estilo de título del patrón</a:t>
            </a:r>
            <a:endParaRPr b="0" lang="es-A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A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Segundo nivel</a:t>
            </a:r>
            <a:endParaRPr b="0" lang="es-A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Tercer nivel</a:t>
            </a:r>
            <a:endParaRPr b="0" lang="es-A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Cuarto nivel</a:t>
            </a:r>
            <a:endParaRPr b="0" lang="es-A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Quinto nivel</a:t>
            </a:r>
            <a:endParaRPr b="0" lang="es-A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5029ED-BEDD-45FC-9588-744C437D2EA7}" type="slidenum"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6000" spc="-1" strike="noStrike">
                <a:solidFill>
                  <a:schemeClr val="dk1"/>
                </a:solidFill>
                <a:latin typeface="Aptos Display"/>
              </a:rPr>
              <a:t>Haga clic para modificar el estilo de título del patrón</a:t>
            </a:r>
            <a:endParaRPr b="0" lang="es-AR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Haga clic para modificar los estilos de texto del patrón</a:t>
            </a:r>
            <a:endParaRPr b="0" lang="es-AR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480821-B2A0-4462-B791-4FBB9E816E16}" type="slidenum"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ptos Display"/>
              </a:rPr>
              <a:t>Haga clic para modificar el estilo de título del patrón</a:t>
            </a:r>
            <a:endParaRPr b="0" lang="es-A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A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Segundo nivel</a:t>
            </a:r>
            <a:endParaRPr b="0" lang="es-A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Tercer nivel</a:t>
            </a:r>
            <a:endParaRPr b="0" lang="es-A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Cuarto nivel</a:t>
            </a:r>
            <a:endParaRPr b="0" lang="es-A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Quinto nivel</a:t>
            </a:r>
            <a:endParaRPr b="0" lang="es-A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A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Segundo nivel</a:t>
            </a:r>
            <a:endParaRPr b="0" lang="es-A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Tercer nivel</a:t>
            </a:r>
            <a:endParaRPr b="0" lang="es-A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Cuarto nivel</a:t>
            </a:r>
            <a:endParaRPr b="0" lang="es-A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Quinto nivel</a:t>
            </a:r>
            <a:endParaRPr b="0" lang="es-A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EC5D5B-6CEF-4ECF-9B15-3C76E49F5FBD}" type="slidenum"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ptos Display"/>
              </a:rPr>
              <a:t>Haga clic para modificar el estilo de título del patrón</a:t>
            </a:r>
            <a:endParaRPr b="0" lang="es-A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AR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A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Segundo nivel</a:t>
            </a:r>
            <a:endParaRPr b="0" lang="es-A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Tercer nivel</a:t>
            </a:r>
            <a:endParaRPr b="0" lang="es-A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Cuarto nivel</a:t>
            </a:r>
            <a:endParaRPr b="0" lang="es-A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Quinto nivel</a:t>
            </a:r>
            <a:endParaRPr b="0" lang="es-A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AR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A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Segundo nivel</a:t>
            </a:r>
            <a:endParaRPr b="0" lang="es-AR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Tercer nivel</a:t>
            </a:r>
            <a:endParaRPr b="0" lang="es-AR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Cuarto nivel</a:t>
            </a:r>
            <a:endParaRPr b="0" lang="es-AR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Quinto nivel</a:t>
            </a:r>
            <a:endParaRPr b="0" lang="es-A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CDA44C-845F-4ECD-8995-22D4A4017033}" type="slidenum"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ptos Display"/>
              </a:rPr>
              <a:t>Haga clic para modificar el estilo de título del patrón</a:t>
            </a:r>
            <a:endParaRPr b="0" lang="es-A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2B8208-DCF9-463C-90B8-95DFFEB5CF29}" type="slidenum"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678044-7F7D-4AA0-9204-9FEAAC1CCE58}" type="slidenum"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3200" spc="-1" strike="noStrike">
                <a:solidFill>
                  <a:schemeClr val="dk1"/>
                </a:solidFill>
                <a:latin typeface="Aptos Display"/>
              </a:rPr>
              <a:t>Haga clic para modificar el estilo de título del patrón</a:t>
            </a:r>
            <a:endParaRPr b="0" lang="es-AR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32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AR" sz="32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Segundo nivel</a:t>
            </a:r>
            <a:endParaRPr b="0" lang="es-AR" sz="28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Tercer nivel</a:t>
            </a:r>
            <a:endParaRPr b="0" lang="es-AR" sz="24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Cuarto nivel</a:t>
            </a:r>
            <a:endParaRPr b="0" lang="es-AR" sz="20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Quinto nivel</a:t>
            </a:r>
            <a:endParaRPr b="0" lang="es-AR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AR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61623F-2CEE-4099-AC00-3BB04CAF1362}" type="slidenum"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3200" spc="-1" strike="noStrike">
                <a:solidFill>
                  <a:schemeClr val="dk1"/>
                </a:solidFill>
                <a:latin typeface="Aptos Display"/>
              </a:rPr>
              <a:t>Haga clic para modificar el estilo de título del patrón</a:t>
            </a:r>
            <a:endParaRPr b="0" lang="es-AR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s-AR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32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s-AR" sz="32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s-AR" sz="32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32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s-AR" sz="32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s-AR" sz="32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s-AR" sz="32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s-AR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AR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837D0A-D0F8-47B8-A3A1-0FAB86165486}" type="slidenum">
              <a:rPr b="0" lang="es-A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sv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svg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451440"/>
            <a:ext cx="10512360" cy="406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6600" spc="-1" strike="noStrike">
                <a:solidFill>
                  <a:schemeClr val="dk1"/>
                </a:solidFill>
                <a:latin typeface="Aptos Display"/>
              </a:rPr>
              <a:t>Sistemas Operativos de Tiempo Real</a:t>
            </a:r>
            <a:endParaRPr b="0" lang="es-AR" sz="6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838080" y="4983120"/>
            <a:ext cx="10512360" cy="112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Técnicas Digitales III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080" y="4718520"/>
            <a:ext cx="5409720" cy="18000"/>
          </a:xfrm>
          <a:custGeom>
            <a:avLst/>
            <a:gdLst>
              <a:gd name="textAreaLeft" fmla="*/ 0 w 5409720"/>
              <a:gd name="textAreaRight" fmla="*/ 5410080 w 540972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5410200" h="18288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stroke="0" w="5410200" h="18288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20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1" name="sketchy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72440" cy="18000"/>
          </a:xfrm>
          <a:custGeom>
            <a:avLst/>
            <a:gdLst>
              <a:gd name="textAreaLeft" fmla="*/ 0 w 10972440"/>
              <a:gd name="textAreaRight" fmla="*/ 10972800 w 1097244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rgbClr val="e97132">
                <a:alpha val="7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ptos Display"/>
              </a:rPr>
              <a:t>Gestión de Tiempo</a:t>
            </a:r>
            <a:endParaRPr b="0" lang="es-AR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6167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s-AR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En FreeRTOS disponemos principalmente de dos funciones:</a:t>
            </a:r>
            <a:endParaRPr b="0" lang="es-AR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vTaskDelay() para retardos absolutos</a:t>
            </a:r>
            <a:endParaRPr b="0" lang="es-AR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vTaskDelayUntil() para tareas periódicas</a:t>
            </a:r>
            <a:endParaRPr b="0" lang="es-AR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s-AR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s-AR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s-AR" sz="2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74" name="Picture 2" descr="6 RTO best practices: Why it's time to revisit application RTOs | Cohesity"/>
          <p:cNvPicPr/>
          <p:nvPr/>
        </p:nvPicPr>
        <p:blipFill>
          <a:blip r:embed="rId1"/>
          <a:srcRect l="29782" t="11961" r="24417" b="11002"/>
          <a:stretch/>
        </p:blipFill>
        <p:spPr>
          <a:xfrm>
            <a:off x="6455520" y="2397960"/>
            <a:ext cx="4684320" cy="374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20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6" name="sketchy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72440" cy="18000"/>
          </a:xfrm>
          <a:custGeom>
            <a:avLst/>
            <a:gdLst>
              <a:gd name="textAreaLeft" fmla="*/ 0 w 10972440"/>
              <a:gd name="textAreaRight" fmla="*/ 10972800 w 1097244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rgbClr val="e97132">
                <a:alpha val="7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7" name="Marcador de contenido 4"/>
          <p:cNvSpPr/>
          <p:nvPr/>
        </p:nvSpPr>
        <p:spPr>
          <a:xfrm>
            <a:off x="838080" y="1825560"/>
            <a:ext cx="10515240" cy="180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vTaskDelay bloquea la tarea un tiempo determinado por su argumento, xTicksToDelay</a:t>
            </a:r>
            <a:r>
              <a:rPr b="0" lang="es-AR" sz="2800" spc="-1" strike="noStrike">
                <a:solidFill>
                  <a:schemeClr val="dk1"/>
                </a:solidFill>
                <a:latin typeface="Aptos"/>
              </a:rPr>
              <a:t>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AR" sz="2800" spc="-1" strike="noStrike">
                <a:solidFill>
                  <a:schemeClr val="dk1"/>
                </a:solidFill>
                <a:latin typeface="Aptos"/>
              </a:rPr>
              <a:t>El tiempo que permanece bloqueada es absoluto, independiente del momento en el que se llame a la función.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ptos Display"/>
              </a:rPr>
              <a:t>vTaskDelay</a:t>
            </a:r>
            <a:endParaRPr b="0" lang="es-AR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79" name="Gráfico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080000" y="3812040"/>
            <a:ext cx="10028520" cy="286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20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1" name="sketchy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72440" cy="18000"/>
          </a:xfrm>
          <a:custGeom>
            <a:avLst/>
            <a:gdLst>
              <a:gd name="textAreaLeft" fmla="*/ 0 w 10972440"/>
              <a:gd name="textAreaRight" fmla="*/ 10972800 w 1097244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rgbClr val="e97132">
                <a:alpha val="7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2" name="Marcador de contenido 4"/>
          <p:cNvSpPr/>
          <p:nvPr/>
        </p:nvSpPr>
        <p:spPr>
          <a:xfrm>
            <a:off x="838080" y="1825560"/>
            <a:ext cx="10515240" cy="180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6763" lnSpcReduction="2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vTaskDelayUntil bloquea la tarea hasta que los ticks del sistema alcanzan el valor pxPreviousWakeTime +  xTimeIncrement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pxPreviousWakeTime se debe actualizar cuando una tarea pasa al estado Running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ptos Display"/>
              </a:rPr>
              <a:t>vTaskDelayUntil</a:t>
            </a:r>
            <a:endParaRPr b="0" lang="es-AR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84" name="Gráfico 15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836000" y="3821040"/>
            <a:ext cx="8013240" cy="284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20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6" name="sketchy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72440" cy="18000"/>
          </a:xfrm>
          <a:custGeom>
            <a:avLst/>
            <a:gdLst>
              <a:gd name="textAreaLeft" fmla="*/ 0 w 10972440"/>
              <a:gd name="textAreaRight" fmla="*/ 10972800 w 10972440"/>
              <a:gd name="textAreaTop" fmla="*/ 0 h 18000"/>
              <a:gd name="textAreaBottom" fmla="*/ 18360 h 18000"/>
            </a:gdLst>
            <a:ahLst/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rgbClr val="e97132">
                <a:alpha val="7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7" name="Marcador de contenido 4"/>
          <p:cNvSpPr/>
          <p:nvPr/>
        </p:nvSpPr>
        <p:spPr>
          <a:xfrm>
            <a:off x="838080" y="1825560"/>
            <a:ext cx="10515240" cy="180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De esta manera el tiempo que la tarea permanece bloqueada es variable, pasando al estado Running cada xTimeIncrement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ptos Display"/>
              </a:rPr>
              <a:t>vTaskDelayUntil</a:t>
            </a:r>
            <a:endParaRPr b="0" lang="es-AR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89" name="Gráfico 15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836000" y="3821040"/>
            <a:ext cx="8013240" cy="284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1948</TotalTime>
  <Application>LibreOffice/24.2.7.2$Linux_X86_64 LibreOffice_project/420$Build-2</Application>
  <AppVersion>15.0000</AppVersion>
  <Words>111</Words>
  <Paragraphs>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2025-05-24T01:32:13Z</dcterms:created>
  <dc:creator>Mario Sebastián Tobar</dc:creator>
  <dc:description/>
  <dc:language>en-US</dc:language>
  <cp:lastModifiedBy>Mario Sebastián Tobar</cp:lastModifiedBy>
  <dcterms:modified xsi:type="dcterms:W3CDTF">2025-06-10T22:21:14Z</dcterms:modified>
  <cp:revision>20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5</vt:i4>
  </property>
</Properties>
</file>