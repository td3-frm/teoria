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6" r:id="rId2"/>
    <p:sldId id="302" r:id="rId3"/>
    <p:sldId id="301" r:id="rId4"/>
    <p:sldId id="343" r:id="rId5"/>
    <p:sldId id="344" r:id="rId6"/>
    <p:sldId id="345" r:id="rId7"/>
    <p:sldId id="303" r:id="rId8"/>
    <p:sldId id="304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256" d="100"/>
          <a:sy n="256" d="100"/>
        </p:scale>
        <p:origin x="-6624" y="-4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F87E49E-8985-0252-522F-025C7C207F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A3F487-09A1-CB88-ED38-49B9DC1B3F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5ECDE-4297-4219-90AD-32903A49531D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D9651A-C102-8FB2-98F9-8079F73806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AAE9F6-5712-622E-76AA-572CBFB77E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E8181-CF1C-4A2A-BF2A-54183008705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06632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C643E-5FF1-B22F-8A3B-510D5AE0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4F4C6C-20FE-3F9B-401E-714394A2D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B84318-81E4-943E-6A19-D97DC969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DD3FF2-5939-53B2-2970-E008FF8B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8B139-8763-D55F-41D8-45B9CA86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083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4C036-7E2E-BBAC-C98D-66CA0CF0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AC1E1-D349-07DF-76D8-E6BAC5F9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F99CB-021A-309D-DD16-9E5481A3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3D415F-DA49-143E-AA2B-EB527C0C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9DF840-EAD5-C839-EFB3-BAF646F0E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95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63480-7E3B-11D4-218F-5FCE04B2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CAC9BB-75BF-6D7A-9AAE-7593115F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502648-BCF2-442E-C59A-A092B356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2F0141-9B79-C6C0-7A25-1AD13FE1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03A596-4951-A1BE-52BA-943907C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538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22569-C463-0287-7FC4-C2E76BA0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BDD900-BAA1-4F0B-27A2-7385E6F88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AD906-FD26-367A-6C35-7D1335944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A5192D-19D7-46F6-C92B-854CA831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DE08B4-EFB3-8DF8-4807-EC0676AA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0EBF9C-2B0C-4037-323B-D580695E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296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B3371-F717-6F3C-78F2-7486C64F9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3D60E-147F-80BD-3073-0993EF8DD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C35609-B668-250D-BE96-356812D69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41746B-85FE-310F-89FC-30B75DF56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42FE20-AB3C-AF4F-588B-7E16381C0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DF03298-8D1D-926C-D795-9DFB02D7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C9CE9F1-4CF3-23F0-439B-CA49B067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B13010-4F64-D59B-8FF0-BF69B132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5680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836F1-963A-342F-3324-53450AB3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6C32DC-A4C3-1F36-7BF7-E6417470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2C8713-9FD0-4810-9D2B-45725FB2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C5DB18-D43B-B5C2-CC99-AD7564A4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25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03B251-915C-38AA-BEA4-09E7A032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8B076F-40BF-0951-BB73-7DC8C75E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8FC27A-CDA4-A398-94EB-A2C730C7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703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332D6-FE7C-D571-0ED8-D076C741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A3E9E2-DD2B-79E8-1095-9A77A3C3A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B18D3D-CFE4-FD76-6E14-A51EBE96B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3D2CC9-AD90-BC39-D87F-5099FFC2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343DE-7298-DAA3-09C0-AF478306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45BD4A-67C0-0632-0B1C-C4AF677A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962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62772-60A6-97C2-0D4C-8E2748F6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C5CFE5-9FBC-B114-BF52-1CE3D36CB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262891-5B2D-1886-BA3B-596B84CDF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DA2BAD-7918-E114-FCA8-A7ED3959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647996-1BA6-62CC-E834-BF8148DF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517825-E7AB-7B22-A415-9C134D65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61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7AA0D-9878-C356-331E-568DEFB1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0181F9-1667-6A3A-8477-502CD414C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204322-FDBF-FB64-23B2-21E0287E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C462F-27FB-54CD-9072-34DCDE96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3E9B2-FE66-E975-FE81-FDBF2F179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452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0807A2-1241-802F-E56D-CA62EFC0E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064806-B24C-6424-97BE-ECDA01A79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F12600-BF2C-E33D-0200-C0A19800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44D043-1F91-8E32-F83C-D5ED6AD7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8D3A00-748B-F716-9488-FCB0B24BC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69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605B94-D215-8ECC-BABF-836CCB86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39A7FE-855E-0AC1-0B6C-E5C78CEB3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71BC05-4837-2808-9946-28C0B720F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796F3-4B98-4636-A38B-14741E4A4758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CA237-15D5-98A1-7B39-915D97CE0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096454-F595-4074-4CDC-31AFAA94A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108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592C15-1569-725F-60C5-AAE28C9AC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s-ES" sz="6600" dirty="0"/>
              <a:t>Sistemas Operativos de Tiempo Real</a:t>
            </a:r>
            <a:endParaRPr lang="es-AR" sz="6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96F99A-BE33-C75B-DC88-08AC45351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s-ES" dirty="0"/>
              <a:t>Técnicas Digitales III</a:t>
            </a:r>
            <a:endParaRPr lang="es-A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08C44-6AE5-0455-63CC-2289138C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4EE52111-F538-AD32-519F-AB5C913DE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sketchy line">
            <a:extLst>
              <a:ext uri="{FF2B5EF4-FFF2-40B4-BE49-F238E27FC236}">
                <a16:creationId xmlns:a16="http://schemas.microsoft.com/office/drawing/2014/main" id="{503CD92F-FCFC-1161-0857-21DAFD7AD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3">
            <a:extLst>
              <a:ext uri="{FF2B5EF4-FFF2-40B4-BE49-F238E27FC236}">
                <a16:creationId xmlns:a16="http://schemas.microsoft.com/office/drawing/2014/main" id="{5CCE3343-454A-35EB-4C78-8E806C76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Detalles de semáforos</a:t>
            </a:r>
            <a:endParaRPr lang="es-AR" dirty="0"/>
          </a:p>
        </p:txBody>
      </p:sp>
      <p:sp>
        <p:nvSpPr>
          <p:cNvPr id="9" name="Marcador de contenido 4">
            <a:extLst>
              <a:ext uri="{FF2B5EF4-FFF2-40B4-BE49-F238E27FC236}">
                <a16:creationId xmlns:a16="http://schemas.microsoft.com/office/drawing/2014/main" id="{2AEE5DC7-2CFD-38CF-5C6A-560E53C5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endParaRPr lang="es-ES" dirty="0"/>
          </a:p>
          <a:p>
            <a:r>
              <a:rPr lang="es-ES" dirty="0"/>
              <a:t>La finalidad principal de los semáforos es proteger zonas críticas de código.</a:t>
            </a:r>
          </a:p>
          <a:p>
            <a:endParaRPr lang="es-ES" dirty="0"/>
          </a:p>
          <a:p>
            <a:r>
              <a:rPr lang="es-ES" dirty="0"/>
              <a:t>Sin embargo, también pueden utilizarse para sincronizar tareas (serializar)</a:t>
            </a:r>
          </a:p>
          <a:p>
            <a:endParaRPr lang="es-ES" dirty="0"/>
          </a:p>
          <a:p>
            <a:endParaRPr lang="es-ES" dirty="0"/>
          </a:p>
          <a:p>
            <a:pPr lvl="1"/>
            <a:endParaRPr lang="es-AR" b="1" dirty="0"/>
          </a:p>
        </p:txBody>
      </p:sp>
      <p:pic>
        <p:nvPicPr>
          <p:cNvPr id="1026" name="Picture 2" descr="Semaphore - Free flags icons">
            <a:extLst>
              <a:ext uri="{FF2B5EF4-FFF2-40B4-BE49-F238E27FC236}">
                <a16:creationId xmlns:a16="http://schemas.microsoft.com/office/drawing/2014/main" id="{BA435D34-B11E-3F51-CBCA-5C6B0F48D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460" y="1825625"/>
            <a:ext cx="4230806" cy="423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64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44773-F4E2-AD48-D893-3239F4BA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Marcador de contenido 4">
            <a:extLst>
              <a:ext uri="{FF2B5EF4-FFF2-40B4-BE49-F238E27FC236}">
                <a16:creationId xmlns:a16="http://schemas.microsoft.com/office/drawing/2014/main" id="{A24E23E0-A519-EEF7-BDB8-617E206592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s-AR" sz="1800" b="1" dirty="0" err="1">
                <a:latin typeface="Consolas" panose="020B0609020204030204" pitchFamily="49" charset="0"/>
              </a:rPr>
              <a:t>ImprimeHora</a:t>
            </a:r>
            <a:r>
              <a:rPr lang="es-AR" sz="1800" b="1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	...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</a:t>
            </a:r>
            <a:r>
              <a:rPr lang="es-AR" sz="1800" b="1" dirty="0" err="1">
                <a:latin typeface="Consolas" panose="020B0609020204030204" pitchFamily="49" charset="0"/>
              </a:rPr>
              <a:t>while</a:t>
            </a:r>
            <a:r>
              <a:rPr lang="es-AR" sz="1800" b="1" dirty="0">
                <a:latin typeface="Consolas" panose="020B0609020204030204" pitchFamily="49" charset="0"/>
              </a:rPr>
              <a:t>(1){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    </a:t>
            </a:r>
            <a:r>
              <a:rPr lang="es-AR" sz="1800" b="1" dirty="0" err="1">
                <a:latin typeface="Consolas" panose="020B0609020204030204" pitchFamily="49" charset="0"/>
              </a:rPr>
              <a:t>if</a:t>
            </a:r>
            <a:r>
              <a:rPr lang="es-AR" sz="1800" b="1" dirty="0">
                <a:latin typeface="Consolas" panose="020B0609020204030204" pitchFamily="49" charset="0"/>
              </a:rPr>
              <a:t>(</a:t>
            </a:r>
            <a:r>
              <a:rPr lang="es-AR" sz="1800" b="1" dirty="0" err="1">
                <a:latin typeface="Consolas" panose="020B0609020204030204" pitchFamily="49" charset="0"/>
              </a:rPr>
              <a:t>xSemaphoreTake</a:t>
            </a:r>
            <a:r>
              <a:rPr lang="es-AR" sz="1800" b="1" dirty="0">
                <a:latin typeface="Consolas" panose="020B0609020204030204" pitchFamily="49" charset="0"/>
              </a:rPr>
              <a:t>(</a:t>
            </a:r>
            <a:r>
              <a:rPr lang="es-AR" sz="1800" b="1" dirty="0" err="1">
                <a:latin typeface="Consolas" panose="020B0609020204030204" pitchFamily="49" charset="0"/>
              </a:rPr>
              <a:t>sem_hora</a:t>
            </a:r>
            <a:r>
              <a:rPr lang="es-AR" sz="1800" b="1" dirty="0">
                <a:latin typeface="Consolas" panose="020B0609020204030204" pitchFamily="49" charset="0"/>
              </a:rPr>
              <a:t> , (</a:t>
            </a:r>
            <a:r>
              <a:rPr lang="es-AR" sz="1800" b="1" dirty="0" err="1">
                <a:latin typeface="Consolas" panose="020B0609020204030204" pitchFamily="49" charset="0"/>
              </a:rPr>
              <a:t>portTickType</a:t>
            </a:r>
            <a:r>
              <a:rPr lang="es-AR" sz="1800" b="1" dirty="0">
                <a:latin typeface="Consolas" panose="020B0609020204030204" pitchFamily="49" charset="0"/>
              </a:rPr>
              <a:t>) 2000 ) == </a:t>
            </a:r>
            <a:r>
              <a:rPr lang="es-AR" sz="1800" b="1" dirty="0" err="1">
                <a:latin typeface="Consolas" panose="020B0609020204030204" pitchFamily="49" charset="0"/>
              </a:rPr>
              <a:t>pdTRUE</a:t>
            </a:r>
            <a:r>
              <a:rPr lang="es-AR" sz="1800" b="1" dirty="0">
                <a:latin typeface="Consolas" panose="020B0609020204030204" pitchFamily="49" charset="0"/>
              </a:rPr>
              <a:t> ){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        /* Ha saltado una nueva interrupción de tiempo */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        </a:t>
            </a:r>
            <a:r>
              <a:rPr lang="es-AR" sz="1800" b="1" dirty="0" err="1">
                <a:latin typeface="Consolas" panose="020B0609020204030204" pitchFamily="49" charset="0"/>
              </a:rPr>
              <a:t>DisableInt</a:t>
            </a:r>
            <a:r>
              <a:rPr lang="es-AR" sz="1800" b="1" dirty="0">
                <a:latin typeface="Consolas" panose="020B06090202040302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        </a:t>
            </a:r>
            <a:r>
              <a:rPr lang="es-AR" sz="1800" b="1" dirty="0" err="1">
                <a:latin typeface="Consolas" panose="020B0609020204030204" pitchFamily="49" charset="0"/>
              </a:rPr>
              <a:t>copia_hora</a:t>
            </a:r>
            <a:r>
              <a:rPr lang="es-AR" sz="1800" b="1" dirty="0">
                <a:latin typeface="Consolas" panose="020B0609020204030204" pitchFamily="49" charset="0"/>
              </a:rPr>
              <a:t> = </a:t>
            </a:r>
            <a:r>
              <a:rPr lang="es-AR" sz="1800" b="1" dirty="0" err="1">
                <a:latin typeface="Consolas" panose="020B0609020204030204" pitchFamily="49" charset="0"/>
              </a:rPr>
              <a:t>hora_act</a:t>
            </a:r>
            <a:r>
              <a:rPr lang="es-AR" sz="1800" b="1" dirty="0"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        </a:t>
            </a:r>
            <a:r>
              <a:rPr lang="es-AR" sz="1800" b="1" dirty="0" err="1">
                <a:latin typeface="Consolas" panose="020B0609020204030204" pitchFamily="49" charset="0"/>
              </a:rPr>
              <a:t>EnableInt</a:t>
            </a:r>
            <a:r>
              <a:rPr lang="es-AR" sz="1800" b="1" dirty="0">
                <a:latin typeface="Consolas" panose="020B06090202040302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        ...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	    }</a:t>
            </a:r>
            <a:r>
              <a:rPr lang="es-AR" sz="1800" b="1" dirty="0" err="1">
                <a:latin typeface="Consolas" panose="020B0609020204030204" pitchFamily="49" charset="0"/>
              </a:rPr>
              <a:t>else</a:t>
            </a:r>
            <a:r>
              <a:rPr lang="es-AR" sz="1800" b="1" dirty="0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        /* Después de 2000 </a:t>
            </a:r>
            <a:r>
              <a:rPr lang="es-AR" sz="1800" b="1" dirty="0" err="1">
                <a:latin typeface="Consolas" panose="020B0609020204030204" pitchFamily="49" charset="0"/>
              </a:rPr>
              <a:t>ticks</a:t>
            </a:r>
            <a:r>
              <a:rPr lang="es-AR" sz="1800" b="1" dirty="0">
                <a:latin typeface="Consolas" panose="020B0609020204030204" pitchFamily="49" charset="0"/>
              </a:rPr>
              <a:t> no se ha obtenido el semáforo. */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    }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}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ítulo 3">
            <a:extLst>
              <a:ext uri="{FF2B5EF4-FFF2-40B4-BE49-F238E27FC236}">
                <a16:creationId xmlns:a16="http://schemas.microsoft.com/office/drawing/2014/main" id="{13F10DE9-B814-76C0-4384-0F5BB6C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Detalles de semáforos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73588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F0B6A-3E8E-7684-F0B3-D35EB4B3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97910537-A309-B349-0FC3-D97E3E940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sketchy line">
            <a:extLst>
              <a:ext uri="{FF2B5EF4-FFF2-40B4-BE49-F238E27FC236}">
                <a16:creationId xmlns:a16="http://schemas.microsoft.com/office/drawing/2014/main" id="{79B8815C-4FC2-B006-06FE-06A62095B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Marcador de contenido 4">
            <a:extLst>
              <a:ext uri="{FF2B5EF4-FFF2-40B4-BE49-F238E27FC236}">
                <a16:creationId xmlns:a16="http://schemas.microsoft.com/office/drawing/2014/main" id="{CF513FEE-80E0-944F-319E-19E76595E73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2518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s-AR" sz="1800" b="1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__</a:t>
            </a:r>
            <a:r>
              <a:rPr lang="es-AR" sz="1800" b="1" dirty="0" err="1">
                <a:latin typeface="Consolas" panose="020B0609020204030204" pitchFamily="49" charset="0"/>
              </a:rPr>
              <a:t>declspec</a:t>
            </a:r>
            <a:r>
              <a:rPr lang="es-AR" sz="1800" b="1" dirty="0">
                <a:latin typeface="Consolas" panose="020B0609020204030204" pitchFamily="49" charset="0"/>
              </a:rPr>
              <a:t>(</a:t>
            </a:r>
            <a:r>
              <a:rPr lang="es-AR" sz="1800" b="1" dirty="0" err="1">
                <a:latin typeface="Consolas" panose="020B0609020204030204" pitchFamily="49" charset="0"/>
              </a:rPr>
              <a:t>interrupt</a:t>
            </a:r>
            <a:r>
              <a:rPr lang="es-AR" sz="1800" b="1" dirty="0">
                <a:latin typeface="Consolas" panose="020B0609020204030204" pitchFamily="49" charset="0"/>
              </a:rPr>
              <a:t>) IntPIT0(</a:t>
            </a:r>
            <a:r>
              <a:rPr lang="es-AR" sz="1800" b="1" dirty="0" err="1">
                <a:latin typeface="Consolas" panose="020B0609020204030204" pitchFamily="49" charset="0"/>
              </a:rPr>
              <a:t>void</a:t>
            </a:r>
            <a:r>
              <a:rPr lang="es-AR" sz="1800" b="1" dirty="0"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/* Interacciona con el HW */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/* Actualiza la hora */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    </a:t>
            </a:r>
            <a:r>
              <a:rPr lang="es-AR" sz="1800" b="1" dirty="0" err="1">
                <a:latin typeface="Consolas" panose="020B0609020204030204" pitchFamily="49" charset="0"/>
              </a:rPr>
              <a:t>xSemaphoreGiveFromISR</a:t>
            </a:r>
            <a:r>
              <a:rPr lang="es-AR" sz="1800" b="1" dirty="0">
                <a:latin typeface="Consolas" panose="020B0609020204030204" pitchFamily="49" charset="0"/>
              </a:rPr>
              <a:t>(</a:t>
            </a:r>
            <a:r>
              <a:rPr lang="es-AR" sz="1800" b="1" dirty="0" err="1">
                <a:latin typeface="Consolas" panose="020B0609020204030204" pitchFamily="49" charset="0"/>
              </a:rPr>
              <a:t>sem_hora</a:t>
            </a:r>
            <a:r>
              <a:rPr lang="es-AR" sz="1800" b="1" dirty="0">
                <a:latin typeface="Consolas" panose="020B0609020204030204" pitchFamily="49" charset="0"/>
              </a:rPr>
              <a:t> , </a:t>
            </a:r>
            <a:r>
              <a:rPr lang="es-AR" sz="1800" b="1" dirty="0" err="1">
                <a:latin typeface="Consolas" panose="020B0609020204030204" pitchFamily="49" charset="0"/>
              </a:rPr>
              <a:t>pdFALSE</a:t>
            </a:r>
            <a:r>
              <a:rPr lang="es-AR" sz="1800" b="1" dirty="0"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s-AR" sz="18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ítulo 3">
            <a:extLst>
              <a:ext uri="{FF2B5EF4-FFF2-40B4-BE49-F238E27FC236}">
                <a16:creationId xmlns:a16="http://schemas.microsoft.com/office/drawing/2014/main" id="{B65A23E6-3644-9B52-FBC4-4498ACFF4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Detalles de semáforos</a:t>
            </a:r>
            <a:endParaRPr lang="es-AR" dirty="0"/>
          </a:p>
        </p:txBody>
      </p:sp>
      <p:sp>
        <p:nvSpPr>
          <p:cNvPr id="3" name="Marcador de contenido 4">
            <a:extLst>
              <a:ext uri="{FF2B5EF4-FFF2-40B4-BE49-F238E27FC236}">
                <a16:creationId xmlns:a16="http://schemas.microsoft.com/office/drawing/2014/main" id="{2CE63CA1-A337-965F-EF72-ECD5E9EBF670}"/>
              </a:ext>
            </a:extLst>
          </p:cNvPr>
          <p:cNvSpPr txBox="1">
            <a:spLocks/>
          </p:cNvSpPr>
          <p:nvPr/>
        </p:nvSpPr>
        <p:spPr>
          <a:xfrm>
            <a:off x="838199" y="4506723"/>
            <a:ext cx="10515599" cy="16702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En este caso de uso el semáforo se toma y se libera en funciones diferentes.</a:t>
            </a:r>
          </a:p>
          <a:p>
            <a:r>
              <a:rPr lang="es-ES" dirty="0"/>
              <a:t>Observar además el uso del </a:t>
            </a:r>
            <a:r>
              <a:rPr lang="es-ES" dirty="0" err="1"/>
              <a:t>timeout</a:t>
            </a:r>
            <a:r>
              <a:rPr lang="es-ES" dirty="0"/>
              <a:t>. Se debe </a:t>
            </a:r>
            <a:r>
              <a:rPr lang="es-ES" b="1" dirty="0"/>
              <a:t>siempre</a:t>
            </a:r>
            <a:r>
              <a:rPr lang="es-ES" dirty="0"/>
              <a:t> verificar el valor de retorno de la función.</a:t>
            </a:r>
          </a:p>
        </p:txBody>
      </p:sp>
    </p:spTree>
    <p:extLst>
      <p:ext uri="{BB962C8B-B14F-4D97-AF65-F5344CB8AC3E}">
        <p14:creationId xmlns:p14="http://schemas.microsoft.com/office/powerpoint/2010/main" val="4213837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F7846-9FC6-6802-1E53-ADC2A704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9D8C7218-1688-071A-8D26-BA6AD2FD5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sketchy line">
            <a:extLst>
              <a:ext uri="{FF2B5EF4-FFF2-40B4-BE49-F238E27FC236}">
                <a16:creationId xmlns:a16="http://schemas.microsoft.com/office/drawing/2014/main" id="{065E3F0F-A793-9CDA-A7B1-F5A682FB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ítulo 3">
            <a:extLst>
              <a:ext uri="{FF2B5EF4-FFF2-40B4-BE49-F238E27FC236}">
                <a16:creationId xmlns:a16="http://schemas.microsoft.com/office/drawing/2014/main" id="{E90B5330-3100-1E44-8D97-CA0FFF20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Detalles de semáforos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68A0A8-D744-3AB9-F0B7-C30EEDB6E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52" y="1904340"/>
            <a:ext cx="6774495" cy="44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2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C95A1-F4E9-2726-5B8D-D57F53B2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3C114AC2-0711-AD1C-B5B3-FF6FD3412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sketchy line">
            <a:extLst>
              <a:ext uri="{FF2B5EF4-FFF2-40B4-BE49-F238E27FC236}">
                <a16:creationId xmlns:a16="http://schemas.microsoft.com/office/drawing/2014/main" id="{29154C3B-6E71-0564-FA1A-6657372F0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ítulo 3">
            <a:extLst>
              <a:ext uri="{FF2B5EF4-FFF2-40B4-BE49-F238E27FC236}">
                <a16:creationId xmlns:a16="http://schemas.microsoft.com/office/drawing/2014/main" id="{F9393D58-9744-E68E-241C-408034E7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Detalles de semáforos</a:t>
            </a:r>
            <a:endParaRPr lang="es-AR" dirty="0"/>
          </a:p>
        </p:txBody>
      </p:sp>
      <p:sp>
        <p:nvSpPr>
          <p:cNvPr id="3" name="Marcador de contenido 4">
            <a:extLst>
              <a:ext uri="{FF2B5EF4-FFF2-40B4-BE49-F238E27FC236}">
                <a16:creationId xmlns:a16="http://schemas.microsoft.com/office/drawing/2014/main" id="{2B09819B-76B4-C04D-448B-B07E13E82559}"/>
              </a:ext>
            </a:extLst>
          </p:cNvPr>
          <p:cNvSpPr txBox="1">
            <a:spLocks/>
          </p:cNvSpPr>
          <p:nvPr/>
        </p:nvSpPr>
        <p:spPr>
          <a:xfrm>
            <a:off x="838199" y="2055813"/>
            <a:ext cx="6381467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r>
              <a:rPr lang="es-ES" dirty="0"/>
              <a:t>Los semáforos binarios son la mejor opción para implementar sincronización</a:t>
            </a:r>
          </a:p>
          <a:p>
            <a:endParaRPr lang="es-ES" dirty="0"/>
          </a:p>
          <a:p>
            <a:r>
              <a:rPr lang="es-ES" dirty="0"/>
              <a:t>Los </a:t>
            </a:r>
            <a:r>
              <a:rPr lang="es-ES" dirty="0" err="1"/>
              <a:t>mutexes</a:t>
            </a:r>
            <a:r>
              <a:rPr lang="es-ES" dirty="0"/>
              <a:t> son la mejor opción para implementar simple exclusión mutua.</a:t>
            </a:r>
          </a:p>
        </p:txBody>
      </p:sp>
      <p:pic>
        <p:nvPicPr>
          <p:cNvPr id="3074" name="Picture 2" descr="Synchronization - Free technology icons">
            <a:extLst>
              <a:ext uri="{FF2B5EF4-FFF2-40B4-BE49-F238E27FC236}">
                <a16:creationId xmlns:a16="http://schemas.microsoft.com/office/drawing/2014/main" id="{3CEC6217-98E4-88D8-50B6-C8D065334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018" y="2232997"/>
            <a:ext cx="3766782" cy="3766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4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491E2-2E31-0E62-99C1-2C1AB994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D3392A10-D1FD-A095-7996-5001E5AFD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sketchy line">
            <a:extLst>
              <a:ext uri="{FF2B5EF4-FFF2-40B4-BE49-F238E27FC236}">
                <a16:creationId xmlns:a16="http://schemas.microsoft.com/office/drawing/2014/main" id="{BC5B9379-6BB2-11A8-8167-F91AF4345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Marcador de contenido 4">
            <a:extLst>
              <a:ext uri="{FF2B5EF4-FFF2-40B4-BE49-F238E27FC236}">
                <a16:creationId xmlns:a16="http://schemas.microsoft.com/office/drawing/2014/main" id="{240F346B-E31B-B5B1-BB1B-5AAB87672DEE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66407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Según la guía </a:t>
            </a:r>
            <a:r>
              <a:rPr lang="es-ES" dirty="0" err="1"/>
              <a:t>Mastering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FreeRTOS</a:t>
            </a:r>
            <a:r>
              <a:rPr lang="es-ES" dirty="0"/>
              <a:t> Real Time </a:t>
            </a:r>
            <a:r>
              <a:rPr lang="es-ES" dirty="0" err="1"/>
              <a:t>Kernel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Never call a </a:t>
            </a:r>
            <a:r>
              <a:rPr lang="en-US" i="1" dirty="0" err="1"/>
              <a:t>FreeRTOS</a:t>
            </a:r>
            <a:r>
              <a:rPr lang="en-US" i="1" dirty="0"/>
              <a:t> API function that does not have "</a:t>
            </a:r>
            <a:r>
              <a:rPr lang="en-US" i="1" dirty="0" err="1"/>
              <a:t>FromISR</a:t>
            </a:r>
            <a:r>
              <a:rPr lang="en-US" i="1" dirty="0"/>
              <a:t>" in its name from an ISR.</a:t>
            </a:r>
            <a:endParaRPr lang="es-ES" i="1" dirty="0"/>
          </a:p>
          <a:p>
            <a:endParaRPr lang="es-ES" dirty="0"/>
          </a:p>
          <a:p>
            <a:pPr lvl="1"/>
            <a:endParaRPr lang="es-AR" b="1" dirty="0"/>
          </a:p>
        </p:txBody>
      </p:sp>
      <p:sp>
        <p:nvSpPr>
          <p:cNvPr id="10" name="Título 3">
            <a:extLst>
              <a:ext uri="{FF2B5EF4-FFF2-40B4-BE49-F238E27FC236}">
                <a16:creationId xmlns:a16="http://schemas.microsoft.com/office/drawing/2014/main" id="{8C3C0E1F-0DE9-0A65-C64F-FA83CBE2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ISR</a:t>
            </a:r>
            <a:endParaRPr lang="es-AR" dirty="0"/>
          </a:p>
        </p:txBody>
      </p:sp>
      <p:pic>
        <p:nvPicPr>
          <p:cNvPr id="2050" name="Picture 2" descr="RT programming: Interrupts">
            <a:extLst>
              <a:ext uri="{FF2B5EF4-FFF2-40B4-BE49-F238E27FC236}">
                <a16:creationId xmlns:a16="http://schemas.microsoft.com/office/drawing/2014/main" id="{32856069-532E-D0B2-1DB0-1755A9C6C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972" y="2490219"/>
            <a:ext cx="4381500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04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3ECF4-A73C-5D1E-D227-6BD7E602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44560DB0-9F78-3D10-28F8-C712694CA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sketchy line">
            <a:extLst>
              <a:ext uri="{FF2B5EF4-FFF2-40B4-BE49-F238E27FC236}">
                <a16:creationId xmlns:a16="http://schemas.microsoft.com/office/drawing/2014/main" id="{6D932471-6FC5-E9A7-8200-80D1B92B1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Marcador de contenido 4">
            <a:extLst>
              <a:ext uri="{FF2B5EF4-FFF2-40B4-BE49-F238E27FC236}">
                <a16:creationId xmlns:a16="http://schemas.microsoft.com/office/drawing/2014/main" id="{C510BC8D-8218-DCED-1E7F-72B04B09D2B9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579461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s-ES" sz="2800" dirty="0"/>
          </a:p>
          <a:p>
            <a:pPr lvl="1"/>
            <a:r>
              <a:rPr lang="es-ES" sz="2800" dirty="0"/>
              <a:t>¿A nivel </a:t>
            </a:r>
            <a:r>
              <a:rPr lang="es-ES" sz="2800" dirty="0" err="1"/>
              <a:t>assembler</a:t>
            </a:r>
            <a:r>
              <a:rPr lang="es-ES" sz="2800" dirty="0"/>
              <a:t>, qué instrucción se utiliza para retornar de una interrupción?</a:t>
            </a:r>
          </a:p>
          <a:p>
            <a:pPr lvl="1"/>
            <a:endParaRPr lang="es-ES" sz="2800" dirty="0"/>
          </a:p>
          <a:p>
            <a:pPr lvl="1"/>
            <a:r>
              <a:rPr lang="es-ES" sz="2800" dirty="0"/>
              <a:t>¿Qué sucede si se desbloquea (o bloquea) una tarea?</a:t>
            </a:r>
          </a:p>
          <a:p>
            <a:pPr lvl="1"/>
            <a:endParaRPr lang="es-AR" sz="2800" dirty="0"/>
          </a:p>
        </p:txBody>
      </p:sp>
      <p:sp>
        <p:nvSpPr>
          <p:cNvPr id="10" name="Título 3">
            <a:extLst>
              <a:ext uri="{FF2B5EF4-FFF2-40B4-BE49-F238E27FC236}">
                <a16:creationId xmlns:a16="http://schemas.microsoft.com/office/drawing/2014/main" id="{7CEEB3C7-A458-5F15-73B2-BE755E4F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ISR</a:t>
            </a:r>
            <a:endParaRPr lang="es-AR" dirty="0"/>
          </a:p>
        </p:txBody>
      </p:sp>
      <p:pic>
        <p:nvPicPr>
          <p:cNvPr id="1026" name="Picture 2" descr="Reminders, notification, alert, alarm, remember, planning, timetable icon -  Download on Iconfinder">
            <a:extLst>
              <a:ext uri="{FF2B5EF4-FFF2-40B4-BE49-F238E27FC236}">
                <a16:creationId xmlns:a16="http://schemas.microsoft.com/office/drawing/2014/main" id="{E05DD5D7-34A1-0AD1-5AB9-82FB64E35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496" y="2055813"/>
            <a:ext cx="3690582" cy="369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3055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276</Words>
  <Application>Microsoft Office PowerPoint</Application>
  <PresentationFormat>Panorámica</PresentationFormat>
  <Paragraphs>49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Tema de Office</vt:lpstr>
      <vt:lpstr>Sistemas Operativos de Tiempo Real</vt:lpstr>
      <vt:lpstr>Detalles de semáforos</vt:lpstr>
      <vt:lpstr>Detalles de semáforos</vt:lpstr>
      <vt:lpstr>Detalles de semáforos</vt:lpstr>
      <vt:lpstr>Detalles de semáforos</vt:lpstr>
      <vt:lpstr>Detalles de semáforos</vt:lpstr>
      <vt:lpstr>ISR</vt:lpstr>
      <vt:lpstr>ISR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Sebastián Tobar</dc:creator>
  <cp:lastModifiedBy>Mario Sebastián Tobar</cp:lastModifiedBy>
  <cp:revision>22</cp:revision>
  <dcterms:created xsi:type="dcterms:W3CDTF">2025-05-24T01:32:13Z</dcterms:created>
  <dcterms:modified xsi:type="dcterms:W3CDTF">2025-06-18T00:09:52Z</dcterms:modified>
</cp:coreProperties>
</file>