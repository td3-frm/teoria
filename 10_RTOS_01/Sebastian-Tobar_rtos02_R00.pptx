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4.png" ContentType="image/png"/>
  <Override PartName="/ppt/media/image1.png" ContentType="image/png"/>
  <Override PartName="/ppt/media/image31.png" ContentType="image/png"/>
  <Override PartName="/ppt/media/image11.png" ContentType="image/png"/>
  <Override PartName="/ppt/media/image12.png" ContentType="image/png"/>
  <Override PartName="/ppt/media/image7.png" ContentType="image/png"/>
  <Override PartName="/ppt/media/image37.png" ContentType="image/png"/>
  <Override PartName="/ppt/media/image13.png" ContentType="image/png"/>
  <Override PartName="/ppt/media/image8.png" ContentType="image/png"/>
  <Override PartName="/ppt/media/image38.png" ContentType="image/png"/>
  <Override PartName="/ppt/media/image40.png" ContentType="image/png"/>
  <Override PartName="/ppt/media/image9.png" ContentType="image/png"/>
  <Override PartName="/ppt/media/image39.png" ContentType="image/png"/>
  <Override PartName="/ppt/media/image41.png" ContentType="image/png"/>
  <Override PartName="/ppt/media/image30.png" ContentType="image/png"/>
  <Override PartName="/ppt/media/image28.png" ContentType="image/png"/>
  <Override PartName="/ppt/media/image42.png" ContentType="image/png"/>
  <Override PartName="/ppt/media/image36.png" ContentType="image/png"/>
  <Override PartName="/ppt/media/image6.png" ContentType="image/png"/>
  <Override PartName="/ppt/media/image29.png" ContentType="image/png"/>
  <Override PartName="/ppt/media/image10.png" ContentType="image/png"/>
  <Override PartName="/ppt/media/image5.png" ContentType="image/png"/>
  <Override PartName="/ppt/media/image35.png" ContentType="image/png"/>
  <Override PartName="/ppt/media/image34.png" ContentType="image/png"/>
  <Override PartName="/ppt/media/image4.png" ContentType="image/png"/>
  <Override PartName="/ppt/media/image27.png" ContentType="image/png"/>
  <Override PartName="/ppt/media/image33.png" ContentType="image/png"/>
  <Override PartName="/ppt/media/image3.png" ContentType="image/png"/>
  <Override PartName="/ppt/media/image26.png" ContentType="image/png"/>
  <Override PartName="/ppt/media/image32.png" ContentType="image/png"/>
  <Override PartName="/ppt/media/image2.png" ContentType="image/png"/>
  <Override PartName="/ppt/media/image25.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_rels/slide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33.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34.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20.xml.rels" ContentType="application/vnd.openxmlformats-package.relationships+xml"/>
  <Override PartName="/ppt/slides/_rels/slide29.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3.xml.rels" ContentType="application/vnd.openxmlformats-package.relationships+xml"/>
  <Override PartName="/ppt/slides/_rels/slide38.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37.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1.xml.rels" ContentType="application/vnd.openxmlformats-package.relationships+xml"/>
  <Override PartName="/ppt/slides/_rels/slide36.xml.rels" ContentType="application/vnd.openxmlformats-package.relationships+xml"/>
  <Override PartName="/ppt/slides/_rels/slide27.xml.rels" ContentType="application/vnd.openxmlformats-package.relationships+xml"/>
  <Override PartName="/ppt/slides/_rels/slide43.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32.xml.rels" ContentType="application/vnd.openxmlformats-package.relationships+xml"/>
  <Override PartName="/ppt/slides/_rels/slide25.xml.rels" ContentType="application/vnd.openxmlformats-package.relationships+xml"/>
  <Override PartName="/ppt/slides/_rels/slide16.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13.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38.xml" ContentType="application/vnd.openxmlformats-officedocument.presentationml.slide+xml"/>
  <Override PartName="/ppt/slides/slide2.xml" ContentType="application/vnd.openxmlformats-officedocument.presentationml.slide+xml"/>
  <Override PartName="/ppt/slides/slide3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92C68EE-7AA5-42AA-B119-1E091C54D7B7}"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22F97A6-58FB-4C65-9A31-D566131EF11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D2F03C9-2DB2-40A3-B08A-3053E6068D0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29B3BBA-6441-4565-BD4D-04AB64946402}"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B179F40-37C8-432F-8ABB-F6BC608BF800}"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1FA9009-C80B-4725-A6F0-6BA80502C1E4}"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E80F5BB-97C4-4D5B-B48D-2D06D0C4F7FF}"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EC421AD-58B3-489C-8134-FD6471686CCA}"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EE397C1E-D9B7-4A0F-A9C3-BB534AE64BED}"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F540E962-12E2-493F-979F-33DAA2A8A56E}"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161D5FF6-0165-4404-9BB7-AB0CB38B279B}"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236F9249-3C19-4622-BB3E-88177481E278}" type="slidenum">
              <a:t>&lt;#&gt;</a:t>
            </a:fld>
          </a:p>
        </p:txBody>
      </p:sp>
      <p:sp>
        <p:nvSpPr>
          <p:cNvPr id="11" name="PlaceHolder 10"/>
          <p:cNvSpPr>
            <a:spLocks noGrp="1"/>
          </p:cNvSpPr>
          <p:nvPr>
            <p:ph type="dt" idx="1"/>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3704583-E4E0-4BE1-9F92-815E71A0ECEE}"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C281965-62D1-417C-AD72-4560335CB40C}"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8A392D5-3D6A-4B2D-B023-99285D2597EE}"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F83CCB08-3EB9-4101-AF67-BED2927B2F22}"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6A417C8-9222-4B8B-A511-34D785E2B0E2}"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50031B7-DDE8-42A0-8145-E69BF9D96E7C}" type="slidenum">
              <a:t>&lt;#&gt;</a:t>
            </a:fld>
          </a:p>
        </p:txBody>
      </p:sp>
      <p:sp>
        <p:nvSpPr>
          <p:cNvPr id="5" name="PlaceHolder 4"/>
          <p:cNvSpPr>
            <a:spLocks noGrp="1"/>
          </p:cNvSpPr>
          <p:nvPr>
            <p:ph type="dt" idx="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8A58127-969A-4447-8C10-76DD10FD6FE6}"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C9A5B09-372E-43A8-968A-DC0593A7DA23}"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C0CA392C-9383-411A-8BF6-8C2432A1BA9D}" type="slidenum">
              <a:t>&lt;#&gt;</a:t>
            </a:fld>
          </a:p>
        </p:txBody>
      </p:sp>
      <p:sp>
        <p:nvSpPr>
          <p:cNvPr id="8" name="PlaceHolder 7"/>
          <p:cNvSpPr>
            <a:spLocks noGrp="1"/>
          </p:cNvSpPr>
          <p:nvPr>
            <p:ph type="dt" idx="4"/>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3517DC9-16DC-423B-9A46-C83BE0FE7136}"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6E95B620-E287-4936-951B-61DCCAB157BE}" type="slidenum">
              <a:t>&lt;#&gt;</a:t>
            </a:fld>
          </a:p>
        </p:txBody>
      </p:sp>
      <p:sp>
        <p:nvSpPr>
          <p:cNvPr id="9" name="PlaceHolder 8"/>
          <p:cNvSpPr>
            <a:spLocks noGrp="1"/>
          </p:cNvSpPr>
          <p:nvPr>
            <p:ph type="dt" idx="4"/>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s-AR" sz="1800" spc="-1" strike="noStrike">
              <a:solidFill>
                <a:srgbClr val="000000"/>
              </a:solidFill>
              <a:latin typeface="Aptos"/>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s-AR" sz="2800" spc="-1" strike="noStrike">
              <a:solidFill>
                <a:srgbClr val="000000"/>
              </a:solidFill>
              <a:latin typeface="Aptos"/>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E24A343A-E4BC-45F7-B471-FFC3DFB10A11}" type="slidenum">
              <a:t>&lt;#&gt;</a:t>
            </a:fld>
          </a:p>
        </p:txBody>
      </p:sp>
      <p:sp>
        <p:nvSpPr>
          <p:cNvPr id="11" name="PlaceHolder 10"/>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anchor="b">
            <a:noAutofit/>
          </a:bodyPr>
          <a:p>
            <a:pPr algn="ctr">
              <a:lnSpc>
                <a:spcPct val="90000"/>
              </a:lnSpc>
              <a:buNone/>
            </a:pPr>
            <a:r>
              <a:rPr b="0" lang="es-ES" sz="6000" spc="-1" strike="noStrike">
                <a:solidFill>
                  <a:srgbClr val="000000"/>
                </a:solidFill>
                <a:latin typeface="Aptos Display"/>
              </a:rPr>
              <a:t>Haga clic para modificar el </a:t>
            </a:r>
            <a:r>
              <a:rPr b="0" lang="es-ES" sz="6000" spc="-1" strike="noStrike">
                <a:solidFill>
                  <a:srgbClr val="000000"/>
                </a:solidFill>
                <a:latin typeface="Aptos Display"/>
              </a:rPr>
              <a:t>estilo de título del patrón</a:t>
            </a:r>
            <a:endParaRPr b="0" lang="es-AR" sz="6000" spc="-1" strike="noStrike">
              <a:solidFill>
                <a:srgbClr val="000000"/>
              </a:solidFill>
              <a:latin typeface="Aptos"/>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b="0" lang="es-AR" sz="1200" spc="-1" strike="noStrike">
                <a:solidFill>
                  <a:srgbClr val="787878"/>
                </a:solidFill>
                <a:latin typeface="Aptos"/>
              </a:defRPr>
            </a:lvl1pPr>
          </a:lstStyle>
          <a:p>
            <a:pPr>
              <a:lnSpc>
                <a:spcPct val="100000"/>
              </a:lnSpc>
              <a:buNone/>
            </a:pPr>
            <a:r>
              <a:rPr b="0" lang="es-AR" sz="1200" spc="-1" strike="noStrike">
                <a:solidFill>
                  <a:srgbClr val="787878"/>
                </a:solidFill>
                <a:latin typeface="Aptos"/>
              </a:rPr>
              <a:t>&lt;date/time&gt;</a:t>
            </a:r>
            <a:endParaRPr b="0" lang="en-US" sz="1200" spc="-1" strike="noStrike">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b="0" lang="es-AR" sz="1200" spc="-1" strike="noStrike">
                <a:solidFill>
                  <a:srgbClr val="787878"/>
                </a:solidFill>
                <a:latin typeface="Aptos"/>
              </a:defRPr>
            </a:lvl1pPr>
          </a:lstStyle>
          <a:p>
            <a:pPr algn="r">
              <a:lnSpc>
                <a:spcPct val="100000"/>
              </a:lnSpc>
              <a:buNone/>
            </a:pPr>
            <a:fld id="{77B8321B-3741-462A-87AD-82EC1B745104}" type="slidenum">
              <a:rPr b="0" lang="es-AR" sz="1200" spc="-1" strike="noStrike">
                <a:solidFill>
                  <a:srgbClr val="787878"/>
                </a:solidFill>
                <a:latin typeface="Aptos"/>
              </a:rPr>
              <a:t>&lt;number&gt;</a:t>
            </a:fld>
            <a:endParaRPr b="0" lang="en-US"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s-AR" sz="2800" spc="-1" strike="noStrike">
                <a:solidFill>
                  <a:srgbClr val="000000"/>
                </a:solidFill>
                <a:latin typeface="Aptos"/>
              </a:rPr>
              <a:t>Click to edit the outline </a:t>
            </a:r>
            <a:r>
              <a:rPr b="0" lang="es-AR" sz="2800" spc="-1" strike="noStrike">
                <a:solidFill>
                  <a:srgbClr val="000000"/>
                </a:solidFill>
                <a:latin typeface="Aptos"/>
              </a:rPr>
              <a:t>text format</a:t>
            </a:r>
            <a:endParaRPr b="0" lang="es-AR" sz="2800" spc="-1" strike="noStrike">
              <a:solidFill>
                <a:srgbClr val="000000"/>
              </a:solidFill>
              <a:latin typeface="Aptos"/>
            </a:endParaRPr>
          </a:p>
          <a:p>
            <a:pPr lvl="1" marL="864000" indent="-324000">
              <a:lnSpc>
                <a:spcPct val="90000"/>
              </a:lnSpc>
              <a:spcBef>
                <a:spcPts val="1134"/>
              </a:spcBef>
              <a:buClr>
                <a:srgbClr val="000000"/>
              </a:buClr>
              <a:buSzPct val="75000"/>
              <a:buFont typeface="Symbol" charset="2"/>
              <a:buChar char=""/>
            </a:pPr>
            <a:r>
              <a:rPr b="0" lang="es-AR" sz="2000" spc="-1" strike="noStrike">
                <a:solidFill>
                  <a:srgbClr val="000000"/>
                </a:solidFill>
                <a:latin typeface="Aptos"/>
              </a:rPr>
              <a:t>Second Outline Level</a:t>
            </a:r>
            <a:endParaRPr b="0" lang="es-AR" sz="2000" spc="-1" strike="noStrike">
              <a:solidFill>
                <a:srgbClr val="000000"/>
              </a:solidFill>
              <a:latin typeface="Aptos"/>
            </a:endParaRPr>
          </a:p>
          <a:p>
            <a:pPr lvl="2" marL="1296000" indent="-288000">
              <a:lnSpc>
                <a:spcPct val="90000"/>
              </a:lnSpc>
              <a:spcBef>
                <a:spcPts val="850"/>
              </a:spcBef>
              <a:buClr>
                <a:srgbClr val="000000"/>
              </a:buClr>
              <a:buSzPct val="45000"/>
              <a:buFont typeface="Wingdings" charset="2"/>
              <a:buChar char=""/>
            </a:pPr>
            <a:r>
              <a:rPr b="0" lang="es-AR" sz="1800" spc="-1" strike="noStrike">
                <a:solidFill>
                  <a:srgbClr val="000000"/>
                </a:solidFill>
                <a:latin typeface="Aptos"/>
              </a:rPr>
              <a:t>Third Outline Level</a:t>
            </a:r>
            <a:endParaRPr b="0" lang="es-AR" sz="1800" spc="-1" strike="noStrike">
              <a:solidFill>
                <a:srgbClr val="000000"/>
              </a:solidFill>
              <a:latin typeface="Aptos"/>
            </a:endParaRPr>
          </a:p>
          <a:p>
            <a:pPr lvl="3" marL="1728000" indent="-216000">
              <a:lnSpc>
                <a:spcPct val="90000"/>
              </a:lnSpc>
              <a:spcBef>
                <a:spcPts val="567"/>
              </a:spcBef>
              <a:buClr>
                <a:srgbClr val="000000"/>
              </a:buClr>
              <a:buSzPct val="75000"/>
              <a:buFont typeface="Symbol" charset="2"/>
              <a:buChar char=""/>
            </a:pPr>
            <a:r>
              <a:rPr b="0" lang="es-AR" sz="1800" spc="-1" strike="noStrike">
                <a:solidFill>
                  <a:srgbClr val="000000"/>
                </a:solidFill>
                <a:latin typeface="Aptos"/>
              </a:rPr>
              <a:t>Fourth Outline Level</a:t>
            </a:r>
            <a:endParaRPr b="0" lang="es-AR" sz="1800" spc="-1" strike="noStrike">
              <a:solidFill>
                <a:srgbClr val="000000"/>
              </a:solidFill>
              <a:latin typeface="Aptos"/>
            </a:endParaRPr>
          </a:p>
          <a:p>
            <a:pPr lvl="4" marL="2160000" indent="-216000">
              <a:lnSpc>
                <a:spcPct val="90000"/>
              </a:lnSpc>
              <a:spcBef>
                <a:spcPts val="283"/>
              </a:spcBef>
              <a:buClr>
                <a:srgbClr val="000000"/>
              </a:buClr>
              <a:buSzPct val="45000"/>
              <a:buFont typeface="Wingdings" charset="2"/>
              <a:buChar char=""/>
            </a:pPr>
            <a:r>
              <a:rPr b="0" lang="es-AR" sz="2000" spc="-1" strike="noStrike">
                <a:solidFill>
                  <a:srgbClr val="000000"/>
                </a:solidFill>
                <a:latin typeface="Aptos"/>
              </a:rPr>
              <a:t>Fifth Outline Level</a:t>
            </a:r>
            <a:endParaRPr b="0" lang="es-AR" sz="2000" spc="-1" strike="noStrike">
              <a:solidFill>
                <a:srgbClr val="000000"/>
              </a:solidFill>
              <a:latin typeface="Aptos"/>
            </a:endParaRPr>
          </a:p>
          <a:p>
            <a:pPr lvl="5" marL="2592000" indent="-216000">
              <a:lnSpc>
                <a:spcPct val="90000"/>
              </a:lnSpc>
              <a:spcBef>
                <a:spcPts val="283"/>
              </a:spcBef>
              <a:buClr>
                <a:srgbClr val="000000"/>
              </a:buClr>
              <a:buSzPct val="45000"/>
              <a:buFont typeface="Wingdings" charset="2"/>
              <a:buChar char=""/>
            </a:pPr>
            <a:r>
              <a:rPr b="0" lang="es-AR" sz="2000" spc="-1" strike="noStrike">
                <a:solidFill>
                  <a:srgbClr val="000000"/>
                </a:solidFill>
                <a:latin typeface="Aptos"/>
              </a:rPr>
              <a:t>Sixth Outline Level</a:t>
            </a:r>
            <a:endParaRPr b="0" lang="es-AR" sz="2000" spc="-1" strike="noStrike">
              <a:solidFill>
                <a:srgbClr val="000000"/>
              </a:solidFill>
              <a:latin typeface="Aptos"/>
            </a:endParaRPr>
          </a:p>
          <a:p>
            <a:pPr lvl="6" marL="3024000" indent="-216000">
              <a:lnSpc>
                <a:spcPct val="90000"/>
              </a:lnSpc>
              <a:spcBef>
                <a:spcPts val="283"/>
              </a:spcBef>
              <a:buClr>
                <a:srgbClr val="000000"/>
              </a:buClr>
              <a:buSzPct val="45000"/>
              <a:buFont typeface="Wingdings" charset="2"/>
              <a:buChar char=""/>
            </a:pPr>
            <a:r>
              <a:rPr b="0" lang="es-AR" sz="2000" spc="-1" strike="noStrike">
                <a:solidFill>
                  <a:srgbClr val="000000"/>
                </a:solidFill>
                <a:latin typeface="Aptos"/>
              </a:rPr>
              <a:t>Seventh </a:t>
            </a:r>
            <a:r>
              <a:rPr b="0" lang="es-AR" sz="2000" spc="-1" strike="noStrike">
                <a:solidFill>
                  <a:srgbClr val="000000"/>
                </a:solidFill>
                <a:latin typeface="Aptos"/>
              </a:rPr>
              <a:t>Outline Level</a:t>
            </a:r>
            <a:endParaRPr b="0" lang="es-AR" sz="2000" spc="-1" strike="noStrike">
              <a:solidFill>
                <a:srgbClr val="000000"/>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Haga clic para modificar el estilo de título del patrón</a:t>
            </a:r>
            <a:endParaRPr b="0" lang="es-AR" sz="4400" spc="-1" strike="noStrike">
              <a:solidFill>
                <a:srgbClr val="000000"/>
              </a:solidFill>
              <a:latin typeface="Aptos"/>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Haga clic para modificar los estilos de texto del patrón</a:t>
            </a:r>
            <a:endParaRPr b="0" lang="es-AR" sz="2800" spc="-1" strike="noStrike">
              <a:solidFill>
                <a:srgbClr val="000000"/>
              </a:solidFill>
              <a:latin typeface="Aptos"/>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Segundo nivel</a:t>
            </a:r>
            <a:endParaRPr b="0" lang="es-AR" sz="2400" spc="-1" strike="noStrike">
              <a:solidFill>
                <a:srgbClr val="000000"/>
              </a:solidFill>
              <a:latin typeface="Aptos"/>
            </a:endParaRPr>
          </a:p>
          <a:p>
            <a:pPr lvl="2" marL="1143000" indent="-228600">
              <a:lnSpc>
                <a:spcPct val="90000"/>
              </a:lnSpc>
              <a:spcBef>
                <a:spcPts val="499"/>
              </a:spcBef>
              <a:buClr>
                <a:srgbClr val="000000"/>
              </a:buClr>
              <a:buFont typeface="Arial"/>
              <a:buChar char="•"/>
            </a:pPr>
            <a:r>
              <a:rPr b="0" lang="es-ES" sz="2000" spc="-1" strike="noStrike">
                <a:solidFill>
                  <a:srgbClr val="000000"/>
                </a:solidFill>
                <a:latin typeface="Aptos"/>
              </a:rPr>
              <a:t>Tercer nivel</a:t>
            </a:r>
            <a:endParaRPr b="0" lang="es-AR" sz="2000" spc="-1" strike="noStrike">
              <a:solidFill>
                <a:srgbClr val="000000"/>
              </a:solidFill>
              <a:latin typeface="Aptos"/>
            </a:endParaRPr>
          </a:p>
          <a:p>
            <a:pPr lvl="3" marL="1600200" indent="-228600">
              <a:lnSpc>
                <a:spcPct val="90000"/>
              </a:lnSpc>
              <a:spcBef>
                <a:spcPts val="499"/>
              </a:spcBef>
              <a:buClr>
                <a:srgbClr val="000000"/>
              </a:buClr>
              <a:buFont typeface="Arial"/>
              <a:buChar char="•"/>
            </a:pPr>
            <a:r>
              <a:rPr b="0" lang="es-ES" sz="1800" spc="-1" strike="noStrike">
                <a:solidFill>
                  <a:srgbClr val="000000"/>
                </a:solidFill>
                <a:latin typeface="Aptos"/>
              </a:rPr>
              <a:t>Cuarto nivel</a:t>
            </a:r>
            <a:endParaRPr b="0" lang="es-AR" sz="1800" spc="-1" strike="noStrike">
              <a:solidFill>
                <a:srgbClr val="000000"/>
              </a:solidFill>
              <a:latin typeface="Aptos"/>
            </a:endParaRPr>
          </a:p>
          <a:p>
            <a:pPr lvl="4" marL="2057400" indent="-228600">
              <a:lnSpc>
                <a:spcPct val="90000"/>
              </a:lnSpc>
              <a:spcBef>
                <a:spcPts val="499"/>
              </a:spcBef>
              <a:buClr>
                <a:srgbClr val="000000"/>
              </a:buClr>
              <a:buFont typeface="Arial"/>
              <a:buChar char="•"/>
            </a:pPr>
            <a:r>
              <a:rPr b="0" lang="es-ES" sz="1800" spc="-1" strike="noStrike">
                <a:solidFill>
                  <a:srgbClr val="000000"/>
                </a:solidFill>
                <a:latin typeface="Aptos"/>
              </a:rPr>
              <a:t>Quinto nivel</a:t>
            </a:r>
            <a:endParaRPr b="0" lang="es-AR" sz="1800" spc="-1" strike="noStrike">
              <a:solidFill>
                <a:srgbClr val="000000"/>
              </a:solidFill>
              <a:latin typeface="Aptos"/>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b="0" lang="es-AR" sz="1200" spc="-1" strike="noStrike">
                <a:solidFill>
                  <a:srgbClr val="787878"/>
                </a:solidFill>
                <a:latin typeface="Aptos"/>
              </a:defRPr>
            </a:lvl1pPr>
          </a:lstStyle>
          <a:p>
            <a:pPr>
              <a:lnSpc>
                <a:spcPct val="100000"/>
              </a:lnSpc>
              <a:buNone/>
            </a:pPr>
            <a:r>
              <a:rPr b="0" lang="es-AR" sz="1200" spc="-1" strike="noStrike">
                <a:solidFill>
                  <a:srgbClr val="787878"/>
                </a:solidFill>
                <a:latin typeface="Aptos"/>
              </a:rPr>
              <a:t>&lt;date/time&gt;</a:t>
            </a:r>
            <a:endParaRPr b="0" lang="en-US" sz="1200" spc="-1" strike="noStrike">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b="0" lang="es-AR" sz="1200" spc="-1" strike="noStrike">
                <a:solidFill>
                  <a:srgbClr val="787878"/>
                </a:solidFill>
                <a:latin typeface="Aptos"/>
              </a:defRPr>
            </a:lvl1pPr>
          </a:lstStyle>
          <a:p>
            <a:pPr algn="r">
              <a:lnSpc>
                <a:spcPct val="100000"/>
              </a:lnSpc>
              <a:buNone/>
            </a:pPr>
            <a:fld id="{A33B3FA6-9454-420B-B783-8BDD86885436}" type="slidenum">
              <a:rPr b="0" lang="es-AR" sz="1200" spc="-1" strike="noStrike">
                <a:solidFill>
                  <a:srgbClr val="787878"/>
                </a:solidFill>
                <a:latin typeface="Aptos"/>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Rectangle 7"/>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83" name="PlaceHolder 1"/>
          <p:cNvSpPr>
            <a:spLocks noGrp="1"/>
          </p:cNvSpPr>
          <p:nvPr>
            <p:ph type="title"/>
          </p:nvPr>
        </p:nvSpPr>
        <p:spPr>
          <a:xfrm>
            <a:off x="838080" y="451440"/>
            <a:ext cx="10512360" cy="4066200"/>
          </a:xfrm>
          <a:prstGeom prst="rect">
            <a:avLst/>
          </a:prstGeom>
          <a:noFill/>
          <a:ln w="0">
            <a:noFill/>
          </a:ln>
        </p:spPr>
        <p:txBody>
          <a:bodyPr anchor="b">
            <a:normAutofit/>
          </a:bodyPr>
          <a:p>
            <a:pPr>
              <a:lnSpc>
                <a:spcPct val="90000"/>
              </a:lnSpc>
              <a:buNone/>
            </a:pPr>
            <a:r>
              <a:rPr b="0" lang="es-ES" sz="6600" spc="-1" strike="noStrike">
                <a:solidFill>
                  <a:srgbClr val="000000"/>
                </a:solidFill>
                <a:latin typeface="Aptos Display"/>
              </a:rPr>
              <a:t>Sistemas Operativos de Tiempo Real (2)</a:t>
            </a:r>
            <a:endParaRPr b="0" lang="es-AR" sz="6600" spc="-1" strike="noStrike">
              <a:solidFill>
                <a:srgbClr val="000000"/>
              </a:solidFill>
              <a:latin typeface="Aptos"/>
            </a:endParaRPr>
          </a:p>
        </p:txBody>
      </p:sp>
      <p:sp>
        <p:nvSpPr>
          <p:cNvPr id="84" name="PlaceHolder 2"/>
          <p:cNvSpPr>
            <a:spLocks noGrp="1"/>
          </p:cNvSpPr>
          <p:nvPr>
            <p:ph type="subTitle"/>
          </p:nvPr>
        </p:nvSpPr>
        <p:spPr>
          <a:xfrm>
            <a:off x="838080" y="4983120"/>
            <a:ext cx="10512360" cy="1126440"/>
          </a:xfrm>
          <a:prstGeom prst="rect">
            <a:avLst/>
          </a:prstGeom>
          <a:noFill/>
          <a:ln w="0">
            <a:noFill/>
          </a:ln>
        </p:spPr>
        <p:txBody>
          <a:bodyPr anchor="t">
            <a:normAutofit/>
          </a:bodyPr>
          <a:p>
            <a:pPr>
              <a:lnSpc>
                <a:spcPct val="90000"/>
              </a:lnSpc>
              <a:spcBef>
                <a:spcPts val="1001"/>
              </a:spcBef>
              <a:buNone/>
              <a:tabLst>
                <a:tab algn="l" pos="0"/>
              </a:tabLst>
            </a:pPr>
            <a:r>
              <a:rPr b="0" lang="es-ES" sz="2400" spc="-1" strike="noStrike">
                <a:solidFill>
                  <a:srgbClr val="000000"/>
                </a:solidFill>
                <a:latin typeface="Aptos"/>
              </a:rPr>
              <a:t>Técnicas Digitales III</a:t>
            </a:r>
            <a:endParaRPr b="0" lang="en-US" sz="2400" spc="-1" strike="noStrike">
              <a:latin typeface="Arial"/>
            </a:endParaRPr>
          </a:p>
        </p:txBody>
      </p:sp>
      <p:sp>
        <p:nvSpPr>
          <p:cNvPr id="85" name="sketch line"/>
          <p:cNvSpPr/>
          <p:nvPr/>
        </p:nvSpPr>
        <p:spPr>
          <a:xfrm>
            <a:off x="838080" y="4718520"/>
            <a:ext cx="5409720" cy="18000"/>
          </a:xfrm>
          <a:custGeom>
            <a:avLst/>
            <a:gdLst/>
            <a:ahLst/>
            <a:rect l="l" t="t" r="r" b="b"/>
            <a:pathLst>
              <a:path fill="none" w="5410200" h="18288">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stroke="0" w="5410200" h="18288">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cap="rnd" w="41275">
            <a:solidFill>
              <a:srgbClr val="e97132"/>
            </a:solidFill>
            <a:round/>
          </a:ln>
        </p:spPr>
        <p:style>
          <a:lnRef idx="2">
            <a:schemeClr val="accent1">
              <a:shade val="50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8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88"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RTOS: Características</a:t>
            </a:r>
            <a:endParaRPr b="0" lang="es-AR" sz="4400" spc="-1" strike="noStrike">
              <a:solidFill>
                <a:srgbClr val="000000"/>
              </a:solidFill>
              <a:latin typeface="Aptos"/>
            </a:endParaRPr>
          </a:p>
        </p:txBody>
      </p:sp>
      <p:sp>
        <p:nvSpPr>
          <p:cNvPr id="89" name="PlaceHolder 2"/>
          <p:cNvSpPr>
            <a:spLocks noGrp="1"/>
          </p:cNvSpPr>
          <p:nvPr>
            <p:ph/>
          </p:nvPr>
        </p:nvSpPr>
        <p:spPr>
          <a:xfrm>
            <a:off x="838080" y="1825560"/>
            <a:ext cx="52574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Está diseñado específicamente para garantizar el tiempo de respuesta requerido por estas aplicaciones críticas</a:t>
            </a:r>
            <a:endParaRPr b="0" lang="es-AR" sz="2800" spc="-1" strike="noStrike">
              <a:solidFill>
                <a:srgbClr val="000000"/>
              </a:solidFill>
              <a:latin typeface="Aptos"/>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Estructura:  se asemeja más a una biblioteca de funciones enlazada con la aplicación principal</a:t>
            </a:r>
            <a:endParaRPr b="0" lang="es-AR" sz="2800" spc="-1" strike="noStrike">
              <a:solidFill>
                <a:srgbClr val="000000"/>
              </a:solidFill>
              <a:latin typeface="Aptos"/>
            </a:endParaRPr>
          </a:p>
          <a:p>
            <a:pPr>
              <a:lnSpc>
                <a:spcPct val="90000"/>
              </a:lnSpc>
              <a:spcBef>
                <a:spcPts val="1001"/>
              </a:spcBef>
              <a:buNone/>
            </a:pPr>
            <a:endParaRPr b="0" lang="es-AR" sz="2800" spc="-1" strike="noStrike">
              <a:solidFill>
                <a:srgbClr val="000000"/>
              </a:solidFill>
              <a:latin typeface="Aptos"/>
            </a:endParaRPr>
          </a:p>
          <a:p>
            <a:pPr>
              <a:lnSpc>
                <a:spcPct val="90000"/>
              </a:lnSpc>
              <a:spcBef>
                <a:spcPts val="1001"/>
              </a:spcBef>
              <a:buNone/>
            </a:pPr>
            <a:endParaRPr b="0" lang="es-AR" sz="2800" spc="-1" strike="noStrike">
              <a:solidFill>
                <a:srgbClr val="000000"/>
              </a:solidFill>
              <a:latin typeface="Aptos"/>
            </a:endParaRPr>
          </a:p>
          <a:p>
            <a:pPr>
              <a:lnSpc>
                <a:spcPct val="90000"/>
              </a:lnSpc>
              <a:spcBef>
                <a:spcPts val="1417"/>
              </a:spcBef>
              <a:buNone/>
            </a:pPr>
            <a:endParaRPr b="0" lang="es-AR" sz="2400" spc="-1" strike="noStrike">
              <a:solidFill>
                <a:srgbClr val="000000"/>
              </a:solidFill>
              <a:latin typeface="Aptos"/>
            </a:endParaRPr>
          </a:p>
        </p:txBody>
      </p:sp>
      <p:pic>
        <p:nvPicPr>
          <p:cNvPr id="90" name="Picture 2" descr="Download Free Dynamic Link Library Icons in PNG &amp; SVG"/>
          <p:cNvPicPr/>
          <p:nvPr/>
        </p:nvPicPr>
        <p:blipFill>
          <a:blip r:embed="rId1"/>
          <a:stretch/>
        </p:blipFill>
        <p:spPr>
          <a:xfrm>
            <a:off x="7176960" y="2304360"/>
            <a:ext cx="3930840" cy="39308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9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pic>
        <p:nvPicPr>
          <p:cNvPr id="93" name="Picture 4" descr=""/>
          <p:cNvPicPr/>
          <p:nvPr/>
        </p:nvPicPr>
        <p:blipFill>
          <a:blip r:embed="rId1"/>
          <a:srcRect l="3794" t="0" r="-5" b="-5"/>
          <a:stretch/>
        </p:blipFill>
        <p:spPr>
          <a:xfrm>
            <a:off x="7412760" y="1953000"/>
            <a:ext cx="3940560" cy="4096080"/>
          </a:xfrm>
          <a:prstGeom prst="rect">
            <a:avLst/>
          </a:prstGeom>
          <a:ln w="0">
            <a:noFill/>
          </a:ln>
        </p:spPr>
      </p:pic>
      <p:sp>
        <p:nvSpPr>
          <p:cNvPr id="94" name="Marcador de contenido 4"/>
          <p:cNvSpPr/>
          <p:nvPr/>
        </p:nvSpPr>
        <p:spPr>
          <a:xfrm>
            <a:off x="838080" y="1825560"/>
            <a:ext cx="6264720" cy="4350960"/>
          </a:xfrm>
          <a:prstGeom prst="rect">
            <a:avLst/>
          </a:prstGeom>
          <a:noFill/>
          <a:ln w="0">
            <a:noFill/>
          </a:ln>
        </p:spPr>
        <p:style>
          <a:lnRef idx="0"/>
          <a:fillRef idx="0"/>
          <a:effectRef idx="0"/>
          <a:fontRef idx="minor"/>
        </p:style>
        <p:txBody>
          <a:bodyPr anchor="t">
            <a:norm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La mayoría de los SOTR para sistemas empotrados no se protegen frente a errores de las aplicaciones para simplificar su diseño y el hardware necesario.</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Componentes:</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Mecanismos para compartir datos.</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Soporte de ISR.</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Funciones para gestión de tiempo.</a:t>
            </a:r>
            <a:endParaRPr b="0" lang="en-US" sz="2400" spc="-1" strike="noStrike">
              <a:latin typeface="Arial"/>
            </a:endParaRPr>
          </a:p>
          <a:p>
            <a:pPr>
              <a:lnSpc>
                <a:spcPct val="90000"/>
              </a:lnSpc>
              <a:spcBef>
                <a:spcPts val="1001"/>
              </a:spcBef>
              <a:buNone/>
            </a:pPr>
            <a:endParaRPr b="0" lang="en-US" sz="2800" spc="-1" strike="noStrike">
              <a:latin typeface="Arial"/>
            </a:endParaRPr>
          </a:p>
          <a:p>
            <a:pPr>
              <a:lnSpc>
                <a:spcPct val="90000"/>
              </a:lnSpc>
              <a:spcBef>
                <a:spcPts val="1001"/>
              </a:spcBef>
              <a:buNone/>
            </a:pPr>
            <a:endParaRPr b="0" lang="en-US" sz="2800" spc="-1" strike="noStrike">
              <a:latin typeface="Arial"/>
            </a:endParaRPr>
          </a:p>
          <a:p>
            <a:pPr>
              <a:lnSpc>
                <a:spcPct val="90000"/>
              </a:lnSpc>
              <a:spcBef>
                <a:spcPts val="499"/>
              </a:spcBef>
              <a:buNone/>
            </a:pPr>
            <a:endParaRPr b="0" lang="en-US" sz="2400" spc="-1" strike="noStrike">
              <a:latin typeface="Arial"/>
            </a:endParaRPr>
          </a:p>
        </p:txBody>
      </p:sp>
      <p:sp>
        <p:nvSpPr>
          <p:cNvPr id="95"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RTOS: Características</a:t>
            </a:r>
            <a:endParaRPr b="0" lang="es-AR" sz="4400" spc="-1" strike="noStrike">
              <a:solidFill>
                <a:srgbClr val="000000"/>
              </a:solidFill>
              <a:latin typeface="Apto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9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98" name="Marcador de contenido 4"/>
          <p:cNvSpPr/>
          <p:nvPr/>
        </p:nvSpPr>
        <p:spPr>
          <a:xfrm>
            <a:off x="838080" y="1825560"/>
            <a:ext cx="6264720" cy="4350960"/>
          </a:xfrm>
          <a:prstGeom prst="rect">
            <a:avLst/>
          </a:prstGeom>
          <a:noFill/>
          <a:ln w="0">
            <a:noFill/>
          </a:ln>
        </p:spPr>
        <p:style>
          <a:lnRef idx="0"/>
          <a:fillRef idx="0"/>
          <a:effectRef idx="0"/>
          <a:fontRef idx="minor"/>
        </p:style>
        <p:txBody>
          <a:bodyPr anchor="t">
            <a:normAutofit fontScale="80000"/>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Tareas: </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El bloque básico de un programa basado en SOTR es la tarea.</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Una tarea es una función de C que contiene un bucle infinito y nunca termina.</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Las tareas se inicializan mediante llamadas al sistema operativo, especificando su prioridad, memoria necesaria y punto de entrada.</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Los SOTR pueden ejecutar un número arbitrario de tareas, limitado por la memoria.</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El número de prioridades puede ser configurable y limitado, ya que cada nivel consume memoria</a:t>
            </a:r>
            <a:endParaRPr b="0" lang="en-US" sz="2400" spc="-1" strike="noStrike">
              <a:latin typeface="Arial"/>
            </a:endParaRPr>
          </a:p>
          <a:p>
            <a:pPr>
              <a:lnSpc>
                <a:spcPct val="90000"/>
              </a:lnSpc>
              <a:spcBef>
                <a:spcPts val="1001"/>
              </a:spcBef>
              <a:buNone/>
            </a:pPr>
            <a:endParaRPr b="0" lang="en-US" sz="2800" spc="-1" strike="noStrike">
              <a:latin typeface="Arial"/>
            </a:endParaRPr>
          </a:p>
          <a:p>
            <a:pPr>
              <a:lnSpc>
                <a:spcPct val="90000"/>
              </a:lnSpc>
              <a:spcBef>
                <a:spcPts val="499"/>
              </a:spcBef>
              <a:buNone/>
            </a:pPr>
            <a:endParaRPr b="0" lang="en-US" sz="2400" spc="-1" strike="noStrike">
              <a:latin typeface="Arial"/>
            </a:endParaRPr>
          </a:p>
        </p:txBody>
      </p:sp>
      <p:sp>
        <p:nvSpPr>
          <p:cNvPr id="9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RTOS: Características</a:t>
            </a:r>
            <a:endParaRPr b="0" lang="es-AR" sz="4400" spc="-1" strike="noStrike">
              <a:solidFill>
                <a:srgbClr val="000000"/>
              </a:solidFill>
              <a:latin typeface="Aptos"/>
            </a:endParaRPr>
          </a:p>
        </p:txBody>
      </p:sp>
      <p:pic>
        <p:nvPicPr>
          <p:cNvPr id="100" name="Picture 2" descr="Process Running Icons - Free SVG &amp; PNG Process Running Images - Noun Project"/>
          <p:cNvPicPr/>
          <p:nvPr/>
        </p:nvPicPr>
        <p:blipFill>
          <a:blip r:embed="rId1"/>
          <a:stretch/>
        </p:blipFill>
        <p:spPr>
          <a:xfrm>
            <a:off x="7805160" y="2205720"/>
            <a:ext cx="3411720" cy="341172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0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03" name="Marcador de contenido 4"/>
          <p:cNvSpPr/>
          <p:nvPr/>
        </p:nvSpPr>
        <p:spPr>
          <a:xfrm>
            <a:off x="838080" y="1825560"/>
            <a:ext cx="6264720" cy="4350960"/>
          </a:xfrm>
          <a:prstGeom prst="rect">
            <a:avLst/>
          </a:prstGeom>
          <a:noFill/>
          <a:ln w="0">
            <a:noFill/>
          </a:ln>
        </p:spPr>
        <p:style>
          <a:lnRef idx="0"/>
          <a:fillRef idx="0"/>
          <a:effectRef idx="0"/>
          <a:fontRef idx="minor"/>
        </p:style>
        <p:txBody>
          <a:bodyPr anchor="t">
            <a:norm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Planificador:</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Es un componente principal que controla el estado de cada tarea (Ejecución, Lista, Bloqueada) y decide cuándo una tarea pasa al estado de ejecución.</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La regla general es que la tarea con mayor prioridad que está lista (</a:t>
            </a:r>
            <a:r>
              <a:rPr b="0" i="1" lang="es-ES" sz="2400" spc="-1" strike="noStrike">
                <a:solidFill>
                  <a:srgbClr val="000000"/>
                </a:solidFill>
                <a:latin typeface="Aptos"/>
              </a:rPr>
              <a:t>ready</a:t>
            </a:r>
            <a:r>
              <a:rPr b="0" lang="es-ES" sz="2400" spc="-1" strike="noStrike">
                <a:solidFill>
                  <a:srgbClr val="000000"/>
                </a:solidFill>
                <a:latin typeface="Aptos"/>
              </a:rPr>
              <a:t>) para ejecutarse es la que se ejecuta.</a:t>
            </a:r>
            <a:endParaRPr b="0" lang="en-US" sz="2400" spc="-1" strike="noStrike">
              <a:latin typeface="Arial"/>
            </a:endParaRPr>
          </a:p>
          <a:p>
            <a:pPr>
              <a:lnSpc>
                <a:spcPct val="90000"/>
              </a:lnSpc>
              <a:spcBef>
                <a:spcPts val="499"/>
              </a:spcBef>
              <a:buNone/>
            </a:pPr>
            <a:endParaRPr b="0" lang="en-US" sz="2400" spc="-1" strike="noStrike">
              <a:latin typeface="Arial"/>
            </a:endParaRPr>
          </a:p>
        </p:txBody>
      </p:sp>
      <p:sp>
        <p:nvSpPr>
          <p:cNvPr id="10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RTOS: Características</a:t>
            </a:r>
            <a:endParaRPr b="0" lang="es-AR" sz="4400" spc="-1" strike="noStrike">
              <a:solidFill>
                <a:srgbClr val="000000"/>
              </a:solidFill>
              <a:latin typeface="Aptos"/>
            </a:endParaRPr>
          </a:p>
        </p:txBody>
      </p:sp>
      <p:pic>
        <p:nvPicPr>
          <p:cNvPr id="105" name="Picture 2" descr="Schedule - Free time and date icons"/>
          <p:cNvPicPr/>
          <p:nvPr/>
        </p:nvPicPr>
        <p:blipFill>
          <a:blip r:embed="rId1"/>
          <a:stretch/>
        </p:blipFill>
        <p:spPr>
          <a:xfrm>
            <a:off x="7103520" y="2097360"/>
            <a:ext cx="3807360" cy="38073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0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08" name="Marcador de contenido 4"/>
          <p:cNvSpPr/>
          <p:nvPr/>
        </p:nvSpPr>
        <p:spPr>
          <a:xfrm>
            <a:off x="838080" y="1825560"/>
            <a:ext cx="10515240" cy="4350960"/>
          </a:xfrm>
          <a:prstGeom prst="rect">
            <a:avLst/>
          </a:prstGeom>
          <a:noFill/>
          <a:ln w="0">
            <a:noFill/>
          </a:ln>
        </p:spPr>
        <p:style>
          <a:lnRef idx="0"/>
          <a:fillRef idx="0"/>
          <a:effectRef idx="0"/>
          <a:fontRef idx="minor"/>
        </p:style>
        <p:txBody>
          <a:bodyPr anchor="t">
            <a:norm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Una tarea se bloquea mediante una llamada al sistema operativo, generalmente cuando espera un evento (como datos de una cola) o un período de tiempo.</a:t>
            </a:r>
            <a:endParaRPr b="0" lang="en-US" sz="2800" spc="-1" strike="noStrike">
              <a:latin typeface="Arial"/>
            </a:endParaRPr>
          </a:p>
          <a:p>
            <a:pPr>
              <a:lnSpc>
                <a:spcPct val="90000"/>
              </a:lnSpc>
              <a:spcBef>
                <a:spcPts val="1001"/>
              </a:spcBef>
              <a:buNone/>
              <a:tabLst>
                <a:tab algn="l" pos="0"/>
              </a:tabLst>
            </a:pPr>
            <a:endParaRPr b="0" lang="en-US" sz="2800" spc="-1" strike="noStrike">
              <a:latin typeface="Arial"/>
            </a:endParaRPr>
          </a:p>
        </p:txBody>
      </p:sp>
      <p:sp>
        <p:nvSpPr>
          <p:cNvPr id="10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RTOS: Características</a:t>
            </a:r>
            <a:endParaRPr b="0" lang="es-AR" sz="4400" spc="-1" strike="noStrike">
              <a:solidFill>
                <a:srgbClr val="000000"/>
              </a:solidFill>
              <a:latin typeface="Aptos"/>
            </a:endParaRPr>
          </a:p>
        </p:txBody>
      </p:sp>
      <p:pic>
        <p:nvPicPr>
          <p:cNvPr id="110" name="Imagen 6" descr=""/>
          <p:cNvPicPr/>
          <p:nvPr/>
        </p:nvPicPr>
        <p:blipFill>
          <a:blip r:embed="rId1"/>
          <a:stretch/>
        </p:blipFill>
        <p:spPr>
          <a:xfrm>
            <a:off x="3176640" y="3189600"/>
            <a:ext cx="6111000" cy="34563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1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13" name="Marcador de contenido 4"/>
          <p:cNvSpPr/>
          <p:nvPr/>
        </p:nvSpPr>
        <p:spPr>
          <a:xfrm>
            <a:off x="838080" y="1825560"/>
            <a:ext cx="10515240" cy="4350960"/>
          </a:xfrm>
          <a:prstGeom prst="rect">
            <a:avLst/>
          </a:prstGeom>
          <a:noFill/>
          <a:ln w="0">
            <a:noFill/>
          </a:ln>
        </p:spPr>
        <p:style>
          <a:lnRef idx="0"/>
          <a:fillRef idx="0"/>
          <a:effectRef idx="0"/>
          <a:fontRef idx="minor"/>
        </p:style>
        <p:txBody>
          <a:bodyPr anchor="t">
            <a:norm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Una tarea bloqueada pasa al estado lista cuando el evento esperado ocurre o el tiempo de espera termina.</a:t>
            </a:r>
            <a:endParaRPr b="0" lang="en-US" sz="2800" spc="-1" strike="noStrike">
              <a:latin typeface="Arial"/>
            </a:endParaRPr>
          </a:p>
        </p:txBody>
      </p:sp>
      <p:sp>
        <p:nvSpPr>
          <p:cNvPr id="11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RTOS: Características</a:t>
            </a:r>
            <a:endParaRPr b="0" lang="es-AR" sz="4400" spc="-1" strike="noStrike">
              <a:solidFill>
                <a:srgbClr val="000000"/>
              </a:solidFill>
              <a:latin typeface="Aptos"/>
            </a:endParaRPr>
          </a:p>
        </p:txBody>
      </p:sp>
      <p:pic>
        <p:nvPicPr>
          <p:cNvPr id="115" name="Imagen 2" descr=""/>
          <p:cNvPicPr/>
          <p:nvPr/>
        </p:nvPicPr>
        <p:blipFill>
          <a:blip r:embed="rId1"/>
          <a:stretch/>
        </p:blipFill>
        <p:spPr>
          <a:xfrm>
            <a:off x="3261600" y="3173040"/>
            <a:ext cx="6111000" cy="34563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1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18" name="Marcador de contenido 4"/>
          <p:cNvSpPr/>
          <p:nvPr/>
        </p:nvSpPr>
        <p:spPr>
          <a:xfrm>
            <a:off x="838080" y="1825560"/>
            <a:ext cx="10515240" cy="4350960"/>
          </a:xfrm>
          <a:prstGeom prst="rect">
            <a:avLst/>
          </a:prstGeom>
          <a:noFill/>
          <a:ln w="0">
            <a:noFill/>
          </a:ln>
        </p:spPr>
        <p:style>
          <a:lnRef idx="0"/>
          <a:fillRef idx="0"/>
          <a:effectRef idx="0"/>
          <a:fontRef idx="minor"/>
        </p:style>
        <p:txBody>
          <a:bodyPr anchor="t">
            <a:norm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Si todas las tareas están bloqueadas, se ejecuta una tarea inactiva (</a:t>
            </a:r>
            <a:r>
              <a:rPr b="0" i="1" lang="es-ES" sz="2800" spc="-1" strike="noStrike">
                <a:solidFill>
                  <a:srgbClr val="000000"/>
                </a:solidFill>
                <a:latin typeface="Aptos"/>
              </a:rPr>
              <a:t>idle task</a:t>
            </a:r>
            <a:r>
              <a:rPr b="0" lang="es-ES" sz="2800" spc="-1" strike="noStrike">
                <a:solidFill>
                  <a:srgbClr val="000000"/>
                </a:solidFill>
                <a:latin typeface="Aptos"/>
              </a:rPr>
              <a:t>) .</a:t>
            </a:r>
            <a:endParaRPr b="0" lang="en-US" sz="2800" spc="-1" strike="noStrike">
              <a:latin typeface="Arial"/>
            </a:endParaRPr>
          </a:p>
        </p:txBody>
      </p:sp>
      <p:sp>
        <p:nvSpPr>
          <p:cNvPr id="11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RTOS: Características</a:t>
            </a:r>
            <a:endParaRPr b="0" lang="es-AR" sz="4400" spc="-1" strike="noStrike">
              <a:solidFill>
                <a:srgbClr val="000000"/>
              </a:solidFill>
              <a:latin typeface="Aptos"/>
            </a:endParaRPr>
          </a:p>
        </p:txBody>
      </p:sp>
      <p:pic>
        <p:nvPicPr>
          <p:cNvPr id="120" name="Imagen 2" descr=""/>
          <p:cNvPicPr/>
          <p:nvPr/>
        </p:nvPicPr>
        <p:blipFill>
          <a:blip r:embed="rId1"/>
          <a:stretch/>
        </p:blipFill>
        <p:spPr>
          <a:xfrm>
            <a:off x="3176640" y="3189600"/>
            <a:ext cx="6111000" cy="34563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2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23" name="Marcador de contenido 4"/>
          <p:cNvSpPr/>
          <p:nvPr/>
        </p:nvSpPr>
        <p:spPr>
          <a:xfrm>
            <a:off x="838080" y="1825560"/>
            <a:ext cx="5757120" cy="4350960"/>
          </a:xfrm>
          <a:prstGeom prst="rect">
            <a:avLst/>
          </a:prstGeom>
          <a:noFill/>
          <a:ln w="0">
            <a:noFill/>
          </a:ln>
        </p:spPr>
        <p:style>
          <a:lnRef idx="0"/>
          <a:fillRef idx="0"/>
          <a:effectRef idx="0"/>
          <a:fontRef idx="minor"/>
        </p:style>
        <p:txBody>
          <a:bodyPr anchor="t">
            <a:normAutofit/>
          </a:bodyPr>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Cooperativo</a:t>
            </a:r>
            <a:r>
              <a:rPr b="0" lang="es-ES" sz="2800" spc="-1" strike="noStrike">
                <a:solidFill>
                  <a:srgbClr val="000000"/>
                </a:solidFill>
                <a:latin typeface="Aptos"/>
              </a:rPr>
              <a:t>:</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Las tareas deben ceder explícitamente el control del procesador.</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Es más simple y eficiente en recursos limitados.</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La latencia depende de cuán a menudo las tareas ceden la CPU.</a:t>
            </a:r>
            <a:endParaRPr b="0" lang="en-US" sz="2400" spc="-1" strike="noStrike">
              <a:latin typeface="Arial"/>
            </a:endParaRPr>
          </a:p>
        </p:txBody>
      </p:sp>
      <p:sp>
        <p:nvSpPr>
          <p:cNvPr id="12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Tipos de planificador</a:t>
            </a:r>
            <a:endParaRPr b="0" lang="es-AR" sz="4400" spc="-1" strike="noStrike">
              <a:solidFill>
                <a:srgbClr val="000000"/>
              </a:solidFill>
              <a:latin typeface="Aptos"/>
            </a:endParaRPr>
          </a:p>
        </p:txBody>
      </p:sp>
      <p:pic>
        <p:nvPicPr>
          <p:cNvPr id="125" name="Picture 4" descr="Partnership - Free business and finance icons"/>
          <p:cNvPicPr/>
          <p:nvPr/>
        </p:nvPicPr>
        <p:blipFill>
          <a:blip r:embed="rId1"/>
          <a:stretch/>
        </p:blipFill>
        <p:spPr>
          <a:xfrm>
            <a:off x="7270200" y="2232360"/>
            <a:ext cx="3585240" cy="35852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2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28" name="Marcador de contenido 4"/>
          <p:cNvSpPr/>
          <p:nvPr/>
        </p:nvSpPr>
        <p:spPr>
          <a:xfrm>
            <a:off x="838080" y="1825560"/>
            <a:ext cx="575712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Expropiativo</a:t>
            </a:r>
            <a:r>
              <a:rPr b="0" lang="es-ES" sz="2800" spc="-1" strike="noStrike">
                <a:solidFill>
                  <a:srgbClr val="000000"/>
                </a:solidFill>
                <a:latin typeface="Aptos"/>
              </a:rPr>
              <a:t> (</a:t>
            </a:r>
            <a:r>
              <a:rPr b="0" i="1" lang="es-ES" sz="2800" spc="-1" strike="noStrike">
                <a:solidFill>
                  <a:srgbClr val="000000"/>
                </a:solidFill>
                <a:latin typeface="Aptos"/>
              </a:rPr>
              <a:t>Preemptive</a:t>
            </a:r>
            <a:r>
              <a:rPr b="0" lang="es-ES" sz="2800" spc="-1" strike="noStrike">
                <a:solidFill>
                  <a:srgbClr val="000000"/>
                </a:solidFill>
                <a:latin typeface="Aptos"/>
              </a:rPr>
              <a:t>):</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El planificador se ejecuta periódicamente mediante una interrupción de temporizador.</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Puede interrumpir una tarea de menor prioridad para ejecutar una de mayor prioridad que está en estado </a:t>
            </a:r>
            <a:r>
              <a:rPr b="0" i="1" lang="es-ES" sz="2400" spc="-1" strike="noStrike">
                <a:solidFill>
                  <a:srgbClr val="000000"/>
                </a:solidFill>
                <a:latin typeface="Aptos"/>
              </a:rPr>
              <a:t>lista</a:t>
            </a:r>
            <a:r>
              <a:rPr b="0" lang="es-ES" sz="2400" spc="-1" strike="noStrike">
                <a:solidFill>
                  <a:srgbClr val="000000"/>
                </a:solidFill>
                <a:latin typeface="Aptos"/>
              </a:rPr>
              <a:t>.</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Mejora la latencia de las tareas de mayor prioridad. El intervalo de tiempo (</a:t>
            </a:r>
            <a:r>
              <a:rPr b="0" i="1" lang="es-ES" sz="2400" spc="-1" strike="noStrike">
                <a:solidFill>
                  <a:srgbClr val="000000"/>
                </a:solidFill>
                <a:latin typeface="Aptos"/>
              </a:rPr>
              <a:t>time slice</a:t>
            </a:r>
            <a:r>
              <a:rPr b="0" lang="es-ES" sz="2400" spc="-1" strike="noStrike">
                <a:solidFill>
                  <a:srgbClr val="000000"/>
                </a:solidFill>
                <a:latin typeface="Aptos"/>
              </a:rPr>
              <a:t>) es configurable, impactando la latencia y la sobrecarga del sistema.</a:t>
            </a:r>
            <a:endParaRPr b="0" lang="en-US" sz="2400" spc="-1" strike="noStrike">
              <a:latin typeface="Arial"/>
            </a:endParaRPr>
          </a:p>
        </p:txBody>
      </p:sp>
      <p:sp>
        <p:nvSpPr>
          <p:cNvPr id="12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Tipos de planificador</a:t>
            </a:r>
            <a:endParaRPr b="0" lang="es-AR" sz="4400" spc="-1" strike="noStrike">
              <a:solidFill>
                <a:srgbClr val="000000"/>
              </a:solidFill>
              <a:latin typeface="Aptos"/>
            </a:endParaRPr>
          </a:p>
        </p:txBody>
      </p:sp>
      <p:pic>
        <p:nvPicPr>
          <p:cNvPr id="130" name="Picture 2" descr="preemption Vector Icons free download in SVG, PNG Format"/>
          <p:cNvPicPr/>
          <p:nvPr/>
        </p:nvPicPr>
        <p:blipFill>
          <a:blip r:embed="rId1"/>
          <a:stretch/>
        </p:blipFill>
        <p:spPr>
          <a:xfrm>
            <a:off x="7255080" y="2228760"/>
            <a:ext cx="3544560" cy="35445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Marcador de contenido 4"/>
          <p:cNvSpPr/>
          <p:nvPr/>
        </p:nvSpPr>
        <p:spPr>
          <a:xfrm>
            <a:off x="838080" y="1825560"/>
            <a:ext cx="575712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400" spc="-1" strike="noStrike">
                <a:solidFill>
                  <a:srgbClr val="000000"/>
                </a:solidFill>
                <a:latin typeface="Aptos"/>
              </a:rPr>
              <a:t>Compartir datos entre tareas paralelas requiere precauciones. Las técnicas incluyen: </a:t>
            </a:r>
            <a:endParaRPr b="0" lang="en-US" sz="2400" spc="-1" strike="noStrike">
              <a:latin typeface="Arial"/>
            </a:endParaRPr>
          </a:p>
          <a:p>
            <a:pPr lvl="2" marL="648000" indent="-216000">
              <a:lnSpc>
                <a:spcPct val="90000"/>
              </a:lnSpc>
              <a:spcBef>
                <a:spcPts val="1001"/>
              </a:spcBef>
              <a:buClr>
                <a:srgbClr val="000000"/>
              </a:buClr>
              <a:buSzPct val="45000"/>
              <a:buFont typeface="Wingdings" charset="2"/>
              <a:buChar char=""/>
            </a:pPr>
            <a:r>
              <a:rPr b="0" lang="es-ES" sz="2400" spc="-1" strike="noStrike">
                <a:solidFill>
                  <a:srgbClr val="000000"/>
                </a:solidFill>
                <a:latin typeface="Aptos"/>
              </a:rPr>
              <a:t>deshabilitar interrupciones (simple, pero afecta a todo el sistema), </a:t>
            </a:r>
            <a:endParaRPr b="0" lang="en-US" sz="2400" spc="-1" strike="noStrike">
              <a:latin typeface="Arial"/>
            </a:endParaRPr>
          </a:p>
          <a:p>
            <a:pPr lvl="2" marL="648000" indent="-216000">
              <a:lnSpc>
                <a:spcPct val="90000"/>
              </a:lnSpc>
              <a:spcBef>
                <a:spcPts val="1001"/>
              </a:spcBef>
              <a:buClr>
                <a:srgbClr val="000000"/>
              </a:buClr>
              <a:buSzPct val="45000"/>
              <a:buFont typeface="Wingdings" charset="2"/>
              <a:buChar char=""/>
            </a:pPr>
            <a:r>
              <a:rPr b="0" lang="es-ES" sz="2400" spc="-1" strike="noStrike">
                <a:solidFill>
                  <a:srgbClr val="000000"/>
                </a:solidFill>
                <a:latin typeface="Aptos"/>
              </a:rPr>
              <a:t>deshabilitar la conmutación de tareas (menos drástico, afecta solo a tareas de primer plano), </a:t>
            </a:r>
            <a:endParaRPr b="0" lang="en-US" sz="2400" spc="-1" strike="noStrike">
              <a:latin typeface="Arial"/>
            </a:endParaRPr>
          </a:p>
          <a:p>
            <a:pPr lvl="2" marL="648000" indent="-216000">
              <a:lnSpc>
                <a:spcPct val="90000"/>
              </a:lnSpc>
              <a:spcBef>
                <a:spcPts val="1001"/>
              </a:spcBef>
              <a:buClr>
                <a:srgbClr val="000000"/>
              </a:buClr>
              <a:buSzPct val="45000"/>
              <a:buFont typeface="Wingdings" charset="2"/>
              <a:buChar char=""/>
            </a:pPr>
            <a:r>
              <a:rPr b="0" lang="es-ES" sz="2400" spc="-1" strike="noStrike">
                <a:solidFill>
                  <a:srgbClr val="000000"/>
                </a:solidFill>
                <a:latin typeface="Aptos"/>
              </a:rPr>
              <a:t>o usar mecanismos de sincronización como semáforos.</a:t>
            </a:r>
            <a:endParaRPr b="0" lang="en-US" sz="2400" spc="-1" strike="noStrike">
              <a:latin typeface="Arial"/>
            </a:endParaRPr>
          </a:p>
        </p:txBody>
      </p:sp>
      <p:sp>
        <p:nvSpPr>
          <p:cNvPr id="132"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33"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3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Recursos compartidos</a:t>
            </a:r>
            <a:endParaRPr b="0" lang="es-AR" sz="4400" spc="-1" strike="noStrike">
              <a:solidFill>
                <a:srgbClr val="000000"/>
              </a:solidFill>
              <a:latin typeface="Aptos"/>
            </a:endParaRPr>
          </a:p>
        </p:txBody>
      </p:sp>
      <p:pic>
        <p:nvPicPr>
          <p:cNvPr id="135" name="Picture 2" descr="Sharing - Free gestures icons"/>
          <p:cNvPicPr/>
          <p:nvPr/>
        </p:nvPicPr>
        <p:blipFill>
          <a:blip r:embed="rId1"/>
          <a:stretch/>
        </p:blipFill>
        <p:spPr>
          <a:xfrm>
            <a:off x="6992640" y="2031840"/>
            <a:ext cx="4144680" cy="41446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3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38" name="Marcador de contenido 4"/>
          <p:cNvSpPr/>
          <p:nvPr/>
        </p:nvSpPr>
        <p:spPr>
          <a:xfrm>
            <a:off x="838080" y="1825560"/>
            <a:ext cx="796068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400" spc="-1" strike="noStrike">
                <a:solidFill>
                  <a:srgbClr val="000000"/>
                </a:solidFill>
                <a:latin typeface="Aptos"/>
              </a:rPr>
              <a:t>Operación cooperativa o expropiativa</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Segmentación de tiempo opcional (time-slicing)</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Asignación muy flexible de prioridades de tareas</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Mecanismos de notificación de tareas flexibles, rápidos y livianos</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Colas (Queues)</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Semáforos binarios</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Semáforos contadores</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Mutexes (exclusión mutua)</a:t>
            </a:r>
            <a:endParaRPr b="0" lang="en-US" sz="2400" spc="-1" strike="noStrike">
              <a:latin typeface="Arial"/>
            </a:endParaRPr>
          </a:p>
          <a:p>
            <a:pPr>
              <a:lnSpc>
                <a:spcPct val="90000"/>
              </a:lnSpc>
              <a:spcBef>
                <a:spcPts val="1001"/>
              </a:spcBef>
              <a:buNone/>
            </a:pPr>
            <a:r>
              <a:rPr b="0" lang="es-ES" sz="2400" spc="-1" strike="noStrike">
                <a:solidFill>
                  <a:srgbClr val="000000"/>
                </a:solidFill>
                <a:latin typeface="Aptos"/>
              </a:rPr>
              <a:t>Mutexes recursivos</a:t>
            </a:r>
            <a:endParaRPr b="0" lang="en-US" sz="2400" spc="-1" strike="noStrike">
              <a:latin typeface="Arial"/>
            </a:endParaRPr>
          </a:p>
        </p:txBody>
      </p:sp>
      <p:sp>
        <p:nvSpPr>
          <p:cNvPr id="13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Características FreeRTOS</a:t>
            </a:r>
            <a:endParaRPr b="0" lang="es-AR" sz="4400" spc="-1" strike="noStrike">
              <a:solidFill>
                <a:srgbClr val="000000"/>
              </a:solidFill>
              <a:latin typeface="Aptos"/>
            </a:endParaRPr>
          </a:p>
        </p:txBody>
      </p:sp>
      <p:pic>
        <p:nvPicPr>
          <p:cNvPr id="140" name="Picture 3" descr="Download Free Information Technology Icons in PNG &amp; SVG"/>
          <p:cNvPicPr/>
          <p:nvPr/>
        </p:nvPicPr>
        <p:blipFill>
          <a:blip r:embed="rId1"/>
          <a:stretch/>
        </p:blipFill>
        <p:spPr>
          <a:xfrm>
            <a:off x="9106920" y="3738600"/>
            <a:ext cx="2437920" cy="24379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4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43" name="Marcador de contenido 4"/>
          <p:cNvSpPr/>
          <p:nvPr/>
        </p:nvSpPr>
        <p:spPr>
          <a:xfrm>
            <a:off x="838080" y="1825560"/>
            <a:ext cx="796068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Temporizadores por software Grupos de eventos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Buffers de flujo (stream buffers)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Buffers de mensajes (message buffers)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Co-rutinas (en desuso / obsoletas)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Funciones hook para el tick del sistema</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Funciones hook para la tarea en estado inactivo (idle)</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Verificación de desbordamiento de pila (stack overflow)</a:t>
            </a:r>
            <a:endParaRPr b="0" lang="en-US" sz="2800" spc="-1" strike="noStrike">
              <a:latin typeface="Arial"/>
            </a:endParaRPr>
          </a:p>
          <a:p>
            <a:pPr>
              <a:lnSpc>
                <a:spcPct val="90000"/>
              </a:lnSpc>
              <a:spcBef>
                <a:spcPts val="1001"/>
              </a:spcBef>
              <a:buNone/>
            </a:pPr>
            <a:endParaRPr b="0" lang="en-US" sz="2800" spc="-1" strike="noStrike">
              <a:latin typeface="Arial"/>
            </a:endParaRPr>
          </a:p>
        </p:txBody>
      </p:sp>
      <p:sp>
        <p:nvSpPr>
          <p:cNvPr id="14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Características FreeRTOS</a:t>
            </a:r>
            <a:endParaRPr b="0" lang="es-AR" sz="4400" spc="-1" strike="noStrike">
              <a:solidFill>
                <a:srgbClr val="000000"/>
              </a:solidFill>
              <a:latin typeface="Aptos"/>
            </a:endParaRPr>
          </a:p>
        </p:txBody>
      </p:sp>
      <p:pic>
        <p:nvPicPr>
          <p:cNvPr id="145" name="Picture 3" descr="Download Free Information Technology Icons in PNG &amp; SVG"/>
          <p:cNvPicPr/>
          <p:nvPr/>
        </p:nvPicPr>
        <p:blipFill>
          <a:blip r:embed="rId1"/>
          <a:stretch/>
        </p:blipFill>
        <p:spPr>
          <a:xfrm>
            <a:off x="9106920" y="3738600"/>
            <a:ext cx="2437920" cy="24379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4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48" name="Marcador de contenido 4"/>
          <p:cNvSpPr/>
          <p:nvPr/>
        </p:nvSpPr>
        <p:spPr>
          <a:xfrm>
            <a:off x="838080" y="1825560"/>
            <a:ext cx="796068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Macros de trazado (trace macros)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Recolección de estadísticas de tiempo de ejecución de tareas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Licenciamiento y soporte comercial opcional</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Modelo completo de anidamiento de interrupciones (para algunas arquitecturas)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Capacidad sin ticks (tick-less) para aplicaciones de ultra bajo consumo (en algunas arquitecturas)</a:t>
            </a:r>
            <a:endParaRPr b="0" lang="en-US" sz="2800" spc="-1" strike="noStrike">
              <a:latin typeface="Arial"/>
            </a:endParaRPr>
          </a:p>
          <a:p>
            <a:pPr>
              <a:lnSpc>
                <a:spcPct val="90000"/>
              </a:lnSpc>
              <a:spcBef>
                <a:spcPts val="1001"/>
              </a:spcBef>
              <a:buNone/>
            </a:pPr>
            <a:endParaRPr b="0" lang="en-US" sz="2800" spc="-1" strike="noStrike">
              <a:latin typeface="Arial"/>
            </a:endParaRPr>
          </a:p>
        </p:txBody>
      </p:sp>
      <p:sp>
        <p:nvSpPr>
          <p:cNvPr id="14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Características FreeRTOS</a:t>
            </a:r>
            <a:endParaRPr b="0" lang="es-AR" sz="4400" spc="-1" strike="noStrike">
              <a:solidFill>
                <a:srgbClr val="000000"/>
              </a:solidFill>
              <a:latin typeface="Aptos"/>
            </a:endParaRPr>
          </a:p>
        </p:txBody>
      </p:sp>
      <p:pic>
        <p:nvPicPr>
          <p:cNvPr id="150" name="Picture 3" descr="Download Free Information Technology Icons in PNG &amp; SVG"/>
          <p:cNvPicPr/>
          <p:nvPr/>
        </p:nvPicPr>
        <p:blipFill>
          <a:blip r:embed="rId1"/>
          <a:stretch/>
        </p:blipFill>
        <p:spPr>
          <a:xfrm>
            <a:off x="9106920" y="3738600"/>
            <a:ext cx="2437920" cy="24379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5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53" name="Marcador de contenido 4"/>
          <p:cNvSpPr/>
          <p:nvPr/>
        </p:nvSpPr>
        <p:spPr>
          <a:xfrm>
            <a:off x="838080" y="1825560"/>
            <a:ext cx="796068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Soporte para la Unidad de Protección de Memoria (MPU) para aislar tareas y aumentar la seguridad de la aplicación (en algunas arquitecturas)</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Pila de interrupciones gestionada por software cuando es apropiado (esto puede ayudar a ahorrar RAM)</a:t>
            </a: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Capacidad de crear objetos del RTOS usando memoria asignada estática o dinámicamente</a:t>
            </a:r>
            <a:endParaRPr b="0" lang="en-US" sz="2800" spc="-1" strike="noStrike">
              <a:latin typeface="Arial"/>
            </a:endParaRPr>
          </a:p>
          <a:p>
            <a:pPr>
              <a:lnSpc>
                <a:spcPct val="90000"/>
              </a:lnSpc>
              <a:spcBef>
                <a:spcPts val="1001"/>
              </a:spcBef>
              <a:buNone/>
            </a:pPr>
            <a:endParaRPr b="0" lang="en-US" sz="2800" spc="-1" strike="noStrike">
              <a:latin typeface="Arial"/>
            </a:endParaRPr>
          </a:p>
        </p:txBody>
      </p:sp>
      <p:sp>
        <p:nvSpPr>
          <p:cNvPr id="15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Características FreeRTOS</a:t>
            </a:r>
            <a:endParaRPr b="0" lang="es-AR" sz="4400" spc="-1" strike="noStrike">
              <a:solidFill>
                <a:srgbClr val="000000"/>
              </a:solidFill>
              <a:latin typeface="Aptos"/>
            </a:endParaRPr>
          </a:p>
        </p:txBody>
      </p:sp>
      <p:pic>
        <p:nvPicPr>
          <p:cNvPr id="155" name="Picture 3" descr="Download Free Information Technology Icons in PNG &amp; SVG"/>
          <p:cNvPicPr/>
          <p:nvPr/>
        </p:nvPicPr>
        <p:blipFill>
          <a:blip r:embed="rId1"/>
          <a:stretch/>
        </p:blipFill>
        <p:spPr>
          <a:xfrm>
            <a:off x="9106920" y="3738600"/>
            <a:ext cx="2437920" cy="24379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5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58" name="Marcador de contenido 4"/>
          <p:cNvSpPr/>
          <p:nvPr/>
        </p:nvSpPr>
        <p:spPr>
          <a:xfrm>
            <a:off x="838080" y="1825560"/>
            <a:ext cx="687240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Bloque Básico de Programa: </a:t>
            </a:r>
            <a:r>
              <a:rPr b="0" lang="es-ES" sz="2800" spc="-1" strike="noStrike">
                <a:solidFill>
                  <a:srgbClr val="000000"/>
                </a:solidFill>
                <a:latin typeface="Aptos"/>
              </a:rPr>
              <a:t>Una tarea es el elemento fundamental de un programa que se ejecuta sobre un sistema operativo en tiempo real.</a:t>
            </a: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Función C Infinita: </a:t>
            </a:r>
            <a:r>
              <a:rPr b="0" lang="es-ES" sz="2800" spc="-1" strike="noStrike">
                <a:solidFill>
                  <a:srgbClr val="000000"/>
                </a:solidFill>
                <a:latin typeface="Aptos"/>
              </a:rPr>
              <a:t>En esencia, una tarea no es más que una función en lenguaje C que nunca termina, es decir, contiene un bucle infinito donde realiza sus acciones. Aunque puede llamar a otras funciones, la tarea en sí misma no debe retornar</a:t>
            </a:r>
            <a:endParaRPr b="0" lang="en-US" sz="2800" spc="-1" strike="noStrike">
              <a:latin typeface="Arial"/>
            </a:endParaRPr>
          </a:p>
        </p:txBody>
      </p:sp>
      <p:sp>
        <p:nvSpPr>
          <p:cNvPr id="15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Tareas FreeRTOS</a:t>
            </a:r>
            <a:endParaRPr b="0" lang="es-AR" sz="4400" spc="-1" strike="noStrike">
              <a:solidFill>
                <a:srgbClr val="000000"/>
              </a:solidFill>
              <a:latin typeface="Aptos"/>
            </a:endParaRPr>
          </a:p>
        </p:txBody>
      </p:sp>
      <p:pic>
        <p:nvPicPr>
          <p:cNvPr id="160" name="Picture 2" descr="C ++ - Iconos gratis de archivos y carpetas"/>
          <p:cNvPicPr/>
          <p:nvPr/>
        </p:nvPicPr>
        <p:blipFill>
          <a:blip r:embed="rId1"/>
          <a:stretch/>
        </p:blipFill>
        <p:spPr>
          <a:xfrm>
            <a:off x="8074080" y="2475360"/>
            <a:ext cx="3120120" cy="31201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6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63" name="Marcador de contenido 4"/>
          <p:cNvSpPr/>
          <p:nvPr/>
        </p:nvSpPr>
        <p:spPr>
          <a:xfrm>
            <a:off x="838080" y="1825560"/>
            <a:ext cx="607176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Ejecución Paralela: </a:t>
            </a:r>
            <a:r>
              <a:rPr b="0" lang="es-ES" sz="2800" spc="-1" strike="noStrike">
                <a:solidFill>
                  <a:srgbClr val="000000"/>
                </a:solidFill>
                <a:latin typeface="Aptos"/>
              </a:rPr>
              <a:t>Los SOTR, como FreeRTOS, permiten la ejecución de un número arbitrario de tareas "en paralelo", limitado únicamente por la memoria disponible en el sistema</a:t>
            </a:r>
            <a:endParaRPr b="0" lang="en-US" sz="2800" spc="-1" strike="noStrike">
              <a:latin typeface="Arial"/>
            </a:endParaRPr>
          </a:p>
        </p:txBody>
      </p:sp>
      <p:sp>
        <p:nvSpPr>
          <p:cNvPr id="16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Tareas FreeRTOS</a:t>
            </a:r>
            <a:endParaRPr b="0" lang="es-AR" sz="4400" spc="-1" strike="noStrike">
              <a:solidFill>
                <a:srgbClr val="000000"/>
              </a:solidFill>
              <a:latin typeface="Aptos"/>
            </a:endParaRPr>
          </a:p>
        </p:txBody>
      </p:sp>
      <p:pic>
        <p:nvPicPr>
          <p:cNvPr id="165" name="Picture 2" descr="Parallel - Free arrows icons"/>
          <p:cNvPicPr/>
          <p:nvPr/>
        </p:nvPicPr>
        <p:blipFill>
          <a:blip r:embed="rId1"/>
          <a:stretch/>
        </p:blipFill>
        <p:spPr>
          <a:xfrm>
            <a:off x="7024320" y="2145960"/>
            <a:ext cx="4030920" cy="403092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6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68" name="Marcador de contenido 4"/>
          <p:cNvSpPr/>
          <p:nvPr/>
        </p:nvSpPr>
        <p:spPr>
          <a:xfrm>
            <a:off x="838080" y="1825560"/>
            <a:ext cx="10515240" cy="158472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Llamada al Sistema Operativo: </a:t>
            </a:r>
            <a:r>
              <a:rPr b="0" lang="es-ES" sz="2800" spc="-1" strike="noStrike">
                <a:solidFill>
                  <a:srgbClr val="000000"/>
                </a:solidFill>
                <a:latin typeface="Aptos"/>
              </a:rPr>
              <a:t>Una tarea se inicializa mediante una llamada al SOTR. En FreeRTOS, esto se realiza comúnmente con la función xTaskCreate.</a:t>
            </a:r>
            <a:endParaRPr b="0" lang="en-US" sz="2800" spc="-1" strike="noStrike">
              <a:latin typeface="Arial"/>
            </a:endParaRPr>
          </a:p>
        </p:txBody>
      </p:sp>
      <p:sp>
        <p:nvSpPr>
          <p:cNvPr id="16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Creación de tareas</a:t>
            </a:r>
            <a:endParaRPr b="0" lang="es-AR" sz="4400" spc="-1" strike="noStrike">
              <a:solidFill>
                <a:srgbClr val="000000"/>
              </a:solidFill>
              <a:latin typeface="Aptos"/>
            </a:endParaRPr>
          </a:p>
        </p:txBody>
      </p:sp>
      <p:sp>
        <p:nvSpPr>
          <p:cNvPr id="170" name="CuadroTexto 3"/>
          <p:cNvSpPr/>
          <p:nvPr/>
        </p:nvSpPr>
        <p:spPr>
          <a:xfrm>
            <a:off x="836640" y="3536640"/>
            <a:ext cx="10515240" cy="2649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s-AR" sz="2400" spc="-1" strike="noStrike">
                <a:solidFill>
                  <a:srgbClr val="000000"/>
                </a:solidFill>
                <a:latin typeface="CourierNewPS-BoldMT"/>
              </a:rPr>
              <a:t>BaseType_t xTaskCreate( TaskFunction_t pvTaskCode,</a:t>
            </a:r>
            <a:br>
              <a:rPr sz="2400"/>
            </a:b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const char * const pcName,</a:t>
            </a:r>
            <a:br>
              <a:rPr sz="2400"/>
            </a:b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unsigned short usStackDepth,</a:t>
            </a:r>
            <a:br>
              <a:rPr sz="2400"/>
            </a:b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void *pvParameters,</a:t>
            </a:r>
            <a:br>
              <a:rPr sz="2400"/>
            </a:b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UBaseType_t uxPriority,</a:t>
            </a:r>
            <a:br>
              <a:rPr sz="2400"/>
            </a:b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	</a:t>
            </a:r>
            <a:r>
              <a:rPr b="1" lang="es-AR" sz="2400" spc="-1" strike="noStrike">
                <a:solidFill>
                  <a:srgbClr val="000000"/>
                </a:solidFill>
                <a:latin typeface="CourierNewPS-BoldMT"/>
              </a:rPr>
              <a:t>TaskHandle_t *pxCreatedTask );</a:t>
            </a:r>
            <a:r>
              <a:rPr b="0" lang="es-AR" sz="2400" spc="-1" strike="noStrike">
                <a:solidFill>
                  <a:srgbClr val="000000"/>
                </a:solidFill>
                <a:latin typeface="Aptos"/>
              </a:rPr>
              <a:t> </a:t>
            </a:r>
            <a:br>
              <a:rPr sz="2400"/>
            </a:b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7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73" name="Marcador de contenido 4"/>
          <p:cNvSpPr/>
          <p:nvPr/>
        </p:nvSpPr>
        <p:spPr>
          <a:xfrm>
            <a:off x="838080" y="1825560"/>
            <a:ext cx="679140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Parámetros: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Punto de Entrada (pvTaskCode): </a:t>
            </a:r>
            <a:r>
              <a:rPr b="0" lang="es-ES" sz="2400" spc="-1" strike="noStrike">
                <a:solidFill>
                  <a:srgbClr val="000000"/>
                </a:solidFill>
                <a:latin typeface="Aptos"/>
              </a:rPr>
              <a:t>La dirección de la función C que implementa la tarea.</a:t>
            </a:r>
            <a:endParaRPr b="0" lang="en-US" sz="24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Prioridad (uxPriority): </a:t>
            </a:r>
            <a:r>
              <a:rPr b="0" lang="es-ES" sz="2400" spc="-1" strike="noStrike">
                <a:solidFill>
                  <a:srgbClr val="000000"/>
                </a:solidFill>
                <a:latin typeface="Aptos"/>
              </a:rPr>
              <a:t>La prioridad de la tarea. En FreeRTOS, el número de prioridades es configurable, y se recomienda mantenerlo lo más bajo posible ya que cada nivel consume memoria para estructuras de control. Por defecto, FreeRTOS tiene un máximo de 5 prioridades configurables, pero puede ser hasta 2^32 - 1 en versiones para ColdFire.</a:t>
            </a:r>
            <a:endParaRPr b="0" lang="en-US" sz="2400" spc="-1" strike="noStrike">
              <a:latin typeface="Arial"/>
            </a:endParaRPr>
          </a:p>
        </p:txBody>
      </p:sp>
      <p:sp>
        <p:nvSpPr>
          <p:cNvPr id="17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Creación de tareas</a:t>
            </a:r>
            <a:endParaRPr b="0" lang="es-AR" sz="4400" spc="-1" strike="noStrike">
              <a:solidFill>
                <a:srgbClr val="000000"/>
              </a:solidFill>
              <a:latin typeface="Aptos"/>
            </a:endParaRPr>
          </a:p>
        </p:txBody>
      </p:sp>
      <p:pic>
        <p:nvPicPr>
          <p:cNvPr id="175" name="Picture 2" descr="Activate all input parameters Vector Icons free download in SVG, PNG Format"/>
          <p:cNvPicPr/>
          <p:nvPr/>
        </p:nvPicPr>
        <p:blipFill>
          <a:blip r:embed="rId1"/>
          <a:stretch/>
        </p:blipFill>
        <p:spPr>
          <a:xfrm>
            <a:off x="7359480" y="1991160"/>
            <a:ext cx="4185360" cy="41853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7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78" name="Marcador de contenido 4"/>
          <p:cNvSpPr/>
          <p:nvPr/>
        </p:nvSpPr>
        <p:spPr>
          <a:xfrm>
            <a:off x="838080" y="1825560"/>
            <a:ext cx="676152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Parámetros: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Memoria (usStackDepth): </a:t>
            </a:r>
            <a:r>
              <a:rPr b="0" lang="es-ES" sz="2400" spc="-1" strike="noStrike">
                <a:solidFill>
                  <a:srgbClr val="000000"/>
                </a:solidFill>
                <a:latin typeface="Aptos"/>
              </a:rPr>
              <a:t>La cantidad de memoria de pila que necesita la tarea. Esta pila es creada automáticamente por el sistema operativo. El tamaño se especifica en palabras (4 Bytes). Para funciones sin I/O, 100 palabras pueden ser suficientes, pero si se usan funciones de entrada/salida (como sprintf), se pueden necesitar hasta 1000 palabras.</a:t>
            </a:r>
            <a:endParaRPr b="0" lang="en-US" sz="24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Nombre Descriptivo (pcName): </a:t>
            </a:r>
            <a:r>
              <a:rPr b="0" lang="es-ES" sz="2400" spc="-1" strike="noStrike">
                <a:solidFill>
                  <a:srgbClr val="000000"/>
                </a:solidFill>
                <a:latin typeface="Aptos"/>
              </a:rPr>
              <a:t>Un nombre simbólico, útil para depuración, con una longitud máxima de 10 caracteres en FreeRTOS.</a:t>
            </a:r>
            <a:endParaRPr b="0" lang="en-US" sz="2400" spc="-1" strike="noStrike">
              <a:latin typeface="Arial"/>
            </a:endParaRPr>
          </a:p>
        </p:txBody>
      </p:sp>
      <p:sp>
        <p:nvSpPr>
          <p:cNvPr id="17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Creación de tareas</a:t>
            </a:r>
            <a:endParaRPr b="0" lang="es-AR" sz="4400" spc="-1" strike="noStrike">
              <a:solidFill>
                <a:srgbClr val="000000"/>
              </a:solidFill>
              <a:latin typeface="Aptos"/>
            </a:endParaRPr>
          </a:p>
        </p:txBody>
      </p:sp>
      <p:pic>
        <p:nvPicPr>
          <p:cNvPr id="180" name="Picture 2" descr="Activate all input parameters Vector Icons free download in SVG, PNG Format"/>
          <p:cNvPicPr/>
          <p:nvPr/>
        </p:nvPicPr>
        <p:blipFill>
          <a:blip r:embed="rId1"/>
          <a:stretch/>
        </p:blipFill>
        <p:spPr>
          <a:xfrm>
            <a:off x="7359480" y="1991160"/>
            <a:ext cx="4185360" cy="41853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8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83" name="Marcador de contenido 4"/>
          <p:cNvSpPr/>
          <p:nvPr/>
        </p:nvSpPr>
        <p:spPr>
          <a:xfrm>
            <a:off x="838080" y="1825560"/>
            <a:ext cx="659952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Parámetros: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Parámetros Iniciales (pvParameters): </a:t>
            </a:r>
            <a:r>
              <a:rPr b="0" lang="es-ES" sz="2400" spc="-1" strike="noStrike">
                <a:solidFill>
                  <a:srgbClr val="000000"/>
                </a:solidFill>
                <a:latin typeface="Aptos"/>
              </a:rPr>
              <a:t>Un puntero a los datos iniciales de la tarea; si no se necesitan, se puede dejar como NULL.</a:t>
            </a:r>
            <a:endParaRPr b="0" lang="en-US" sz="24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Manejador (pvCreatedTask): </a:t>
            </a:r>
            <a:r>
              <a:rPr b="0" lang="es-ES" sz="2400" spc="-1" strike="noStrike">
                <a:solidFill>
                  <a:srgbClr val="000000"/>
                </a:solidFill>
                <a:latin typeface="Aptos"/>
              </a:rPr>
              <a:t>Un puntero para devolver una estructura de control de la tarea, útil si se desea destruir la tarea durante el funcionamiento del sistema.</a:t>
            </a:r>
            <a:endParaRPr b="0" lang="en-US" sz="2400" spc="-1" strike="noStrike">
              <a:latin typeface="Arial"/>
            </a:endParaRPr>
          </a:p>
          <a:p>
            <a:pPr>
              <a:lnSpc>
                <a:spcPct val="90000"/>
              </a:lnSpc>
              <a:spcBef>
                <a:spcPts val="499"/>
              </a:spcBef>
              <a:buNone/>
            </a:pPr>
            <a:endParaRPr b="0" lang="en-US" sz="2400" spc="-1" strike="noStrike">
              <a:latin typeface="Arial"/>
            </a:endParaRPr>
          </a:p>
        </p:txBody>
      </p:sp>
      <p:sp>
        <p:nvSpPr>
          <p:cNvPr id="18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Creación de tareas</a:t>
            </a:r>
            <a:endParaRPr b="0" lang="es-AR" sz="4400" spc="-1" strike="noStrike">
              <a:solidFill>
                <a:srgbClr val="000000"/>
              </a:solidFill>
              <a:latin typeface="Aptos"/>
            </a:endParaRPr>
          </a:p>
        </p:txBody>
      </p:sp>
      <p:pic>
        <p:nvPicPr>
          <p:cNvPr id="185" name="Picture 2" descr="Activate all input parameters Vector Icons free download in SVG, PNG Format"/>
          <p:cNvPicPr/>
          <p:nvPr/>
        </p:nvPicPr>
        <p:blipFill>
          <a:blip r:embed="rId1"/>
          <a:stretch/>
        </p:blipFill>
        <p:spPr>
          <a:xfrm>
            <a:off x="7359480" y="1991160"/>
            <a:ext cx="4185360" cy="418536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8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88" name="Marcador de contenido 4"/>
          <p:cNvSpPr/>
          <p:nvPr/>
        </p:nvSpPr>
        <p:spPr>
          <a:xfrm>
            <a:off x="838080" y="1825560"/>
            <a:ext cx="580212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Ejecución (Running): </a:t>
            </a:r>
            <a:r>
              <a:rPr b="0" lang="es-ES" sz="2800" spc="-1" strike="noStrike">
                <a:solidFill>
                  <a:srgbClr val="000000"/>
                </a:solidFill>
                <a:latin typeface="Aptos"/>
              </a:rPr>
              <a:t>La tarea está siendo ejecutada por el microprocesador. Solo puede haber una tarea en este estado a la vez.</a:t>
            </a:r>
            <a:endParaRPr b="0" lang="en-US" sz="2800" spc="-1" strike="noStrike">
              <a:latin typeface="Arial"/>
            </a:endParaRPr>
          </a:p>
        </p:txBody>
      </p:sp>
      <p:sp>
        <p:nvSpPr>
          <p:cNvPr id="18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Estados de tareas</a:t>
            </a:r>
            <a:endParaRPr b="0" lang="es-AR" sz="4400" spc="-1" strike="noStrike">
              <a:solidFill>
                <a:srgbClr val="000000"/>
              </a:solidFill>
              <a:latin typeface="Aptos"/>
            </a:endParaRPr>
          </a:p>
        </p:txBody>
      </p:sp>
      <p:pic>
        <p:nvPicPr>
          <p:cNvPr id="190" name="Picture 2" descr="Running - Free people icons"/>
          <p:cNvPicPr/>
          <p:nvPr/>
        </p:nvPicPr>
        <p:blipFill>
          <a:blip r:embed="rId1"/>
          <a:stretch/>
        </p:blipFill>
        <p:spPr>
          <a:xfrm>
            <a:off x="7168320" y="2255400"/>
            <a:ext cx="4028400" cy="402840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9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93" name="Marcador de contenido 4"/>
          <p:cNvSpPr/>
          <p:nvPr/>
        </p:nvSpPr>
        <p:spPr>
          <a:xfrm>
            <a:off x="838080" y="1825560"/>
            <a:ext cx="562212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Lista (Ready): </a:t>
            </a:r>
            <a:r>
              <a:rPr b="0" lang="es-ES" sz="2800" spc="-1" strike="noStrike">
                <a:solidFill>
                  <a:srgbClr val="000000"/>
                </a:solidFill>
                <a:latin typeface="Aptos"/>
              </a:rPr>
              <a:t>La tarea tiene trabajo que hacer y está esperando a que el procesador esté disponible para ejecutarse. Puede haber varias tareas en este estado.</a:t>
            </a:r>
            <a:endParaRPr b="0" lang="en-US" sz="2800" spc="-1" strike="noStrike">
              <a:latin typeface="Arial"/>
            </a:endParaRPr>
          </a:p>
        </p:txBody>
      </p:sp>
      <p:sp>
        <p:nvSpPr>
          <p:cNvPr id="19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Estados de tareas</a:t>
            </a:r>
            <a:endParaRPr b="0" lang="es-AR" sz="4400" spc="-1" strike="noStrike">
              <a:solidFill>
                <a:srgbClr val="000000"/>
              </a:solidFill>
              <a:latin typeface="Aptos"/>
            </a:endParaRPr>
          </a:p>
        </p:txBody>
      </p:sp>
      <p:pic>
        <p:nvPicPr>
          <p:cNvPr id="195" name="Picture 2" descr="Download Free Ready Icons in PNG &amp; SVG"/>
          <p:cNvPicPr/>
          <p:nvPr/>
        </p:nvPicPr>
        <p:blipFill>
          <a:blip r:embed="rId1"/>
          <a:stretch/>
        </p:blipFill>
        <p:spPr>
          <a:xfrm>
            <a:off x="6945480" y="2055960"/>
            <a:ext cx="4176720" cy="417672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19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198" name="Marcador de contenido 4"/>
          <p:cNvSpPr/>
          <p:nvPr/>
        </p:nvSpPr>
        <p:spPr>
          <a:xfrm>
            <a:off x="838080" y="1825560"/>
            <a:ext cx="632952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Bloqueada (Blocked): </a:t>
            </a:r>
            <a:r>
              <a:rPr b="0" lang="es-ES" sz="2800" spc="-1" strike="noStrike">
                <a:solidFill>
                  <a:srgbClr val="000000"/>
                </a:solidFill>
                <a:latin typeface="Aptos"/>
              </a:rPr>
              <a:t>La tarea no tiene nada que hacer en este momento y está esperando que ocurra algún suceso externo (por ejemplo, datos en una cola, liberación de un semáforo o que transcurra un tiempo específico). Una tarea solo puede bloquearse cuando está en ejecución.</a:t>
            </a:r>
            <a:endParaRPr b="0" lang="en-US" sz="2800" spc="-1" strike="noStrike">
              <a:latin typeface="Arial"/>
            </a:endParaRPr>
          </a:p>
        </p:txBody>
      </p:sp>
      <p:sp>
        <p:nvSpPr>
          <p:cNvPr id="19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Estados de tareas</a:t>
            </a:r>
            <a:endParaRPr b="0" lang="es-AR" sz="4400" spc="-1" strike="noStrike">
              <a:solidFill>
                <a:srgbClr val="000000"/>
              </a:solidFill>
              <a:latin typeface="Aptos"/>
            </a:endParaRPr>
          </a:p>
        </p:txBody>
      </p:sp>
      <p:pic>
        <p:nvPicPr>
          <p:cNvPr id="200" name="Picture 2" descr=""/>
          <p:cNvPicPr/>
          <p:nvPr/>
        </p:nvPicPr>
        <p:blipFill>
          <a:blip r:embed="rId1"/>
          <a:stretch/>
        </p:blipFill>
        <p:spPr>
          <a:xfrm>
            <a:off x="7002360" y="1825560"/>
            <a:ext cx="4350960" cy="43509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0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03"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Estados de tareas</a:t>
            </a:r>
            <a:endParaRPr b="0" lang="es-AR" sz="4400" spc="-1" strike="noStrike">
              <a:solidFill>
                <a:srgbClr val="000000"/>
              </a:solidFill>
              <a:latin typeface="Aptos"/>
            </a:endParaRPr>
          </a:p>
        </p:txBody>
      </p:sp>
      <p:pic>
        <p:nvPicPr>
          <p:cNvPr id="204" name="Imagen 3" descr=""/>
          <p:cNvPicPr/>
          <p:nvPr/>
        </p:nvPicPr>
        <p:blipFill>
          <a:blip r:embed="rId1"/>
          <a:stretch/>
        </p:blipFill>
        <p:spPr>
          <a:xfrm>
            <a:off x="6951960" y="1783440"/>
            <a:ext cx="3975480" cy="4972320"/>
          </a:xfrm>
          <a:prstGeom prst="rect">
            <a:avLst/>
          </a:prstGeom>
          <a:ln w="0">
            <a:noFill/>
          </a:ln>
        </p:spPr>
      </p:pic>
      <p:pic>
        <p:nvPicPr>
          <p:cNvPr id="205" name="Imagen 5" descr=""/>
          <p:cNvPicPr/>
          <p:nvPr/>
        </p:nvPicPr>
        <p:blipFill>
          <a:blip r:embed="rId2"/>
          <a:stretch/>
        </p:blipFill>
        <p:spPr>
          <a:xfrm>
            <a:off x="804240" y="2740320"/>
            <a:ext cx="5236920" cy="271080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0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08" name="Marcador de contenido 4"/>
          <p:cNvSpPr/>
          <p:nvPr/>
        </p:nvSpPr>
        <p:spPr>
          <a:xfrm>
            <a:off x="838080" y="1825560"/>
            <a:ext cx="611676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Control del Estado: </a:t>
            </a:r>
            <a:r>
              <a:rPr b="0" lang="es-ES" sz="2800" spc="-1" strike="noStrike">
                <a:solidFill>
                  <a:srgbClr val="000000"/>
                </a:solidFill>
                <a:latin typeface="Aptos"/>
              </a:rPr>
              <a:t>El planificador (scheduler) es la parte del SOTR que controla el estado de cada tarea y decide cuándo una tarea pasa al estado de ejecución.</a:t>
            </a:r>
            <a:endParaRPr b="0" lang="en-US" sz="2800" spc="-1" strike="noStrike">
              <a:latin typeface="Arial"/>
            </a:endParaRPr>
          </a:p>
        </p:txBody>
      </p:sp>
      <p:sp>
        <p:nvSpPr>
          <p:cNvPr id="20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Planificador</a:t>
            </a:r>
            <a:endParaRPr b="0" lang="es-AR" sz="4400" spc="-1" strike="noStrike">
              <a:solidFill>
                <a:srgbClr val="000000"/>
              </a:solidFill>
              <a:latin typeface="Aptos"/>
            </a:endParaRPr>
          </a:p>
        </p:txBody>
      </p:sp>
      <p:pic>
        <p:nvPicPr>
          <p:cNvPr id="210" name="Picture 2" descr="Task - Free computer icons"/>
          <p:cNvPicPr/>
          <p:nvPr/>
        </p:nvPicPr>
        <p:blipFill>
          <a:blip r:embed="rId1"/>
          <a:stretch/>
        </p:blipFill>
        <p:spPr>
          <a:xfrm>
            <a:off x="7245360" y="2073960"/>
            <a:ext cx="3877200" cy="387720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1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13" name="Marcador de contenido 4"/>
          <p:cNvSpPr/>
          <p:nvPr/>
        </p:nvSpPr>
        <p:spPr>
          <a:xfrm>
            <a:off x="838080" y="1825560"/>
            <a:ext cx="61167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Prioridad Determinante: </a:t>
            </a:r>
            <a:r>
              <a:rPr b="0" lang="es-ES" sz="2800" spc="-1" strike="noStrike">
                <a:solidFill>
                  <a:srgbClr val="000000"/>
                </a:solidFill>
                <a:latin typeface="Aptos"/>
              </a:rPr>
              <a:t>La regla principal es que la tarea con mayor prioridad que esté en estado "Lista" es la que se ejecuta. A diferencia de los sistemas operativos de propósito general que distribuyen tiempo de CPU entre tareas de baja prioridad, los planificadores de SOTR son más "brutos": si una tarea de alta prioridad monopoliza el procesador, las de menor prioridad simplemente esperarán.</a:t>
            </a:r>
            <a:endParaRPr b="0" lang="en-US" sz="2800" spc="-1" strike="noStrike">
              <a:latin typeface="Arial"/>
            </a:endParaRPr>
          </a:p>
        </p:txBody>
      </p:sp>
      <p:sp>
        <p:nvSpPr>
          <p:cNvPr id="21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Planificador</a:t>
            </a:r>
            <a:endParaRPr b="0" lang="es-AR" sz="4400" spc="-1" strike="noStrike">
              <a:solidFill>
                <a:srgbClr val="000000"/>
              </a:solidFill>
              <a:latin typeface="Aptos"/>
            </a:endParaRPr>
          </a:p>
        </p:txBody>
      </p:sp>
      <p:pic>
        <p:nvPicPr>
          <p:cNvPr id="215" name="Picture 2" descr="Task - Free computer icons"/>
          <p:cNvPicPr/>
          <p:nvPr/>
        </p:nvPicPr>
        <p:blipFill>
          <a:blip r:embed="rId1"/>
          <a:stretch/>
        </p:blipFill>
        <p:spPr>
          <a:xfrm>
            <a:off x="7245360" y="2073960"/>
            <a:ext cx="3877200" cy="38772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1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18" name="Marcador de contenido 4"/>
          <p:cNvSpPr/>
          <p:nvPr/>
        </p:nvSpPr>
        <p:spPr>
          <a:xfrm>
            <a:off x="838080" y="1825560"/>
            <a:ext cx="61167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Cambio de Contexto: </a:t>
            </a:r>
            <a:r>
              <a:rPr b="0" lang="es-ES" sz="2800" spc="-1" strike="noStrike">
                <a:solidFill>
                  <a:srgbClr val="000000"/>
                </a:solidFill>
                <a:latin typeface="Aptos"/>
              </a:rPr>
              <a:t>Para que el cambio entre tareas sea transparente al programador, el SOTR se encarga de guardar el contexto (registros del microprocesador, contador de programa, pila) de la tarea que deja de ejecutarse y cargar el contexto de la nueva tarea que toma el control.</a:t>
            </a:r>
            <a:endParaRPr b="0" lang="en-US" sz="2800" spc="-1" strike="noStrike">
              <a:latin typeface="Arial"/>
            </a:endParaRPr>
          </a:p>
          <a:p>
            <a:pPr>
              <a:lnSpc>
                <a:spcPct val="90000"/>
              </a:lnSpc>
              <a:spcBef>
                <a:spcPts val="1001"/>
              </a:spcBef>
              <a:buNone/>
            </a:pPr>
            <a:endParaRPr b="0" lang="en-US" sz="2800" spc="-1" strike="noStrike">
              <a:latin typeface="Arial"/>
            </a:endParaRPr>
          </a:p>
        </p:txBody>
      </p:sp>
      <p:sp>
        <p:nvSpPr>
          <p:cNvPr id="21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Planificador</a:t>
            </a:r>
            <a:endParaRPr b="0" lang="es-AR" sz="4400" spc="-1" strike="noStrike">
              <a:solidFill>
                <a:srgbClr val="000000"/>
              </a:solidFill>
              <a:latin typeface="Aptos"/>
            </a:endParaRPr>
          </a:p>
        </p:txBody>
      </p:sp>
      <p:pic>
        <p:nvPicPr>
          <p:cNvPr id="220" name="Picture 2" descr="Task - Free computer icons"/>
          <p:cNvPicPr/>
          <p:nvPr/>
        </p:nvPicPr>
        <p:blipFill>
          <a:blip r:embed="rId1"/>
          <a:stretch/>
        </p:blipFill>
        <p:spPr>
          <a:xfrm>
            <a:off x="7245360" y="2073960"/>
            <a:ext cx="3877200" cy="387720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2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23" name="Marcador de contenido 4"/>
          <p:cNvSpPr/>
          <p:nvPr/>
        </p:nvSpPr>
        <p:spPr>
          <a:xfrm>
            <a:off x="838080" y="1825560"/>
            <a:ext cx="611676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Variables Globales: </a:t>
            </a:r>
            <a:r>
              <a:rPr b="0" lang="es-ES" sz="2800" spc="-1" strike="noStrike">
                <a:solidFill>
                  <a:srgbClr val="000000"/>
                </a:solidFill>
                <a:latin typeface="Aptos"/>
              </a:rPr>
              <a:t>Los datos compartidos (variables globales) no forman parte del contexto individual de una tarea y, si son accedidos por múltiples tareas en paralelo, requieren precauciones para evitar problemas de coherencia de datos.</a:t>
            </a:r>
            <a:endParaRPr b="0" lang="en-US" sz="2800" spc="-1" strike="noStrike">
              <a:latin typeface="Arial"/>
            </a:endParaRPr>
          </a:p>
        </p:txBody>
      </p:sp>
      <p:sp>
        <p:nvSpPr>
          <p:cNvPr id="22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Datos compartidos</a:t>
            </a:r>
            <a:endParaRPr b="0" lang="es-AR" sz="4400" spc="-1" strike="noStrike">
              <a:solidFill>
                <a:srgbClr val="000000"/>
              </a:solidFill>
              <a:latin typeface="Aptos"/>
            </a:endParaRPr>
          </a:p>
        </p:txBody>
      </p:sp>
      <p:pic>
        <p:nvPicPr>
          <p:cNvPr id="225" name="Picture 2" descr="Data sharing - Free seo and web icons"/>
          <p:cNvPicPr/>
          <p:nvPr/>
        </p:nvPicPr>
        <p:blipFill>
          <a:blip r:embed="rId1"/>
          <a:stretch/>
        </p:blipFill>
        <p:spPr>
          <a:xfrm>
            <a:off x="7105320" y="1935720"/>
            <a:ext cx="4130640" cy="413064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2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28" name="Marcador de contenido 4"/>
          <p:cNvSpPr/>
          <p:nvPr/>
        </p:nvSpPr>
        <p:spPr>
          <a:xfrm>
            <a:off x="838080" y="1825560"/>
            <a:ext cx="61167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Funciones Reentrantes: </a:t>
            </a:r>
            <a:r>
              <a:rPr b="0" lang="es-ES" sz="2800" spc="-1" strike="noStrike">
                <a:solidFill>
                  <a:srgbClr val="000000"/>
                </a:solidFill>
                <a:latin typeface="Aptos"/>
              </a:rPr>
              <a:t>Una función es reentrante si puede ser llamada desde dos tareas distintas sin causar problemas. Para ser reentrante, una función debe:</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Usar variables de forma atómica, a menos que estén almacenadas en la pila de la tarea que la llama.</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Solo llamar a funciones reentrantes.</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Usar el hardware de forma atómica.</a:t>
            </a:r>
            <a:endParaRPr b="0" lang="en-US" sz="2400" spc="-1" strike="noStrike">
              <a:latin typeface="Arial"/>
            </a:endParaRPr>
          </a:p>
        </p:txBody>
      </p:sp>
      <p:sp>
        <p:nvSpPr>
          <p:cNvPr id="22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Datos compartidos</a:t>
            </a:r>
            <a:endParaRPr b="0" lang="es-AR" sz="4400" spc="-1" strike="noStrike">
              <a:solidFill>
                <a:srgbClr val="000000"/>
              </a:solidFill>
              <a:latin typeface="Aptos"/>
            </a:endParaRPr>
          </a:p>
        </p:txBody>
      </p:sp>
      <p:pic>
        <p:nvPicPr>
          <p:cNvPr id="230" name="Picture 2" descr="Data sharing - Free seo and web icons"/>
          <p:cNvPicPr/>
          <p:nvPr/>
        </p:nvPicPr>
        <p:blipFill>
          <a:blip r:embed="rId1"/>
          <a:stretch/>
        </p:blipFill>
        <p:spPr>
          <a:xfrm>
            <a:off x="7105320" y="1935720"/>
            <a:ext cx="4130640" cy="413064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3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33" name="Marcador de contenido 4"/>
          <p:cNvSpPr/>
          <p:nvPr/>
        </p:nvSpPr>
        <p:spPr>
          <a:xfrm>
            <a:off x="838080" y="1825560"/>
            <a:ext cx="611676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1" lang="es-ES" sz="2800" spc="-1" strike="noStrike">
                <a:solidFill>
                  <a:srgbClr val="000000"/>
                </a:solidFill>
                <a:latin typeface="Aptos"/>
              </a:rPr>
              <a:t>Problemas de Coherencia: </a:t>
            </a:r>
            <a:r>
              <a:rPr b="0" lang="es-ES" sz="2800" spc="-1" strike="noStrike">
                <a:solidFill>
                  <a:srgbClr val="000000"/>
                </a:solidFill>
                <a:latin typeface="Aptos"/>
              </a:rPr>
              <a:t>Una interrupción o cambio de contexto puede llevar a la pérdida de una actualización si no se maneja atómicamente.</a:t>
            </a:r>
            <a:endParaRPr b="0" lang="en-US" sz="2800" spc="-1" strike="noStrike">
              <a:latin typeface="Arial"/>
            </a:endParaRPr>
          </a:p>
        </p:txBody>
      </p:sp>
      <p:sp>
        <p:nvSpPr>
          <p:cNvPr id="23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Datos compartidos</a:t>
            </a:r>
            <a:endParaRPr b="0" lang="es-AR" sz="4400" spc="-1" strike="noStrike">
              <a:solidFill>
                <a:srgbClr val="000000"/>
              </a:solidFill>
              <a:latin typeface="Aptos"/>
            </a:endParaRPr>
          </a:p>
        </p:txBody>
      </p:sp>
      <p:pic>
        <p:nvPicPr>
          <p:cNvPr id="235" name="Picture 2" descr="Data sharing - Free seo and web icons"/>
          <p:cNvPicPr/>
          <p:nvPr/>
        </p:nvPicPr>
        <p:blipFill>
          <a:blip r:embed="rId1"/>
          <a:stretch/>
        </p:blipFill>
        <p:spPr>
          <a:xfrm>
            <a:off x="7105320" y="1935720"/>
            <a:ext cx="4130640" cy="413064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3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38" name="Marcador de contenido 4"/>
          <p:cNvSpPr/>
          <p:nvPr/>
        </p:nvSpPr>
        <p:spPr>
          <a:xfrm>
            <a:off x="838080" y="1825560"/>
            <a:ext cx="73227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Semáforos: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Protección de Recursos Compartidos: </a:t>
            </a:r>
            <a:r>
              <a:rPr b="0" lang="es-ES" sz="2400" spc="-1" strike="noStrike">
                <a:solidFill>
                  <a:srgbClr val="000000"/>
                </a:solidFill>
                <a:latin typeface="Aptos"/>
              </a:rPr>
              <a:t>Su uso principal es proteger secciones críticas de código, asegurando que solo una tarea acceda a un recurso compartido a la vez (exclusión mutua).</a:t>
            </a:r>
            <a:endParaRPr b="0" lang="en-US" sz="24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En FreeRTOS, se usan xSemaphoreTake() para adquirir y xSemaphoreGive() para liberar un semáforo. Es fundamental inicializar el semáforo con vSemaphoreCreateBinary</a:t>
            </a:r>
            <a:endParaRPr b="0" lang="en-US" sz="2400" spc="-1" strike="noStrike">
              <a:latin typeface="Arial"/>
            </a:endParaRPr>
          </a:p>
        </p:txBody>
      </p:sp>
      <p:sp>
        <p:nvSpPr>
          <p:cNvPr id="23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40" name="Picture 2" descr="Semaphore - Free signaling icons"/>
          <p:cNvPicPr/>
          <p:nvPr/>
        </p:nvPicPr>
        <p:blipFill>
          <a:blip r:embed="rId1"/>
          <a:stretch/>
        </p:blipFill>
        <p:spPr>
          <a:xfrm>
            <a:off x="8161200" y="2246400"/>
            <a:ext cx="3365280" cy="33652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4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43" name="Marcador de contenido 4"/>
          <p:cNvSpPr/>
          <p:nvPr/>
        </p:nvSpPr>
        <p:spPr>
          <a:xfrm>
            <a:off x="838080" y="1825560"/>
            <a:ext cx="73227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Semáforos: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Sincronización de Tareas: </a:t>
            </a:r>
            <a:r>
              <a:rPr b="0" lang="es-ES" sz="2400" spc="-1" strike="noStrike">
                <a:solidFill>
                  <a:srgbClr val="000000"/>
                </a:solidFill>
                <a:latin typeface="Aptos"/>
              </a:rPr>
              <a:t>También pueden usarse para sincronizar dos tareas entre sí, o una tarea con una rutina de atención a interrupción (ISR). Por ejemplo, una ISR puede liberar un semáforo para desbloquear una tarea que lo estaba esperando. Para liberar un semáforo desde una ISR en FreeRTOS, se usa xSemaphoreGiveFromISR().</a:t>
            </a:r>
            <a:endParaRPr b="0" lang="en-US" sz="2400" spc="-1" strike="noStrike">
              <a:latin typeface="Arial"/>
            </a:endParaRPr>
          </a:p>
        </p:txBody>
      </p:sp>
      <p:sp>
        <p:nvSpPr>
          <p:cNvPr id="24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45" name="Picture 2" descr="Semaphore - Free signaling icons"/>
          <p:cNvPicPr/>
          <p:nvPr/>
        </p:nvPicPr>
        <p:blipFill>
          <a:blip r:embed="rId1"/>
          <a:stretch/>
        </p:blipFill>
        <p:spPr>
          <a:xfrm>
            <a:off x="8161200" y="2246400"/>
            <a:ext cx="3365280" cy="336528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4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48" name="Marcador de contenido 4"/>
          <p:cNvSpPr/>
          <p:nvPr/>
        </p:nvSpPr>
        <p:spPr>
          <a:xfrm>
            <a:off x="838080" y="1825560"/>
            <a:ext cx="1051524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Semáforos: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Inversión de Prioridad: </a:t>
            </a:r>
            <a:r>
              <a:rPr b="0" lang="es-ES" sz="2400" spc="-1" strike="noStrike">
                <a:solidFill>
                  <a:srgbClr val="000000"/>
                </a:solidFill>
                <a:latin typeface="Aptos"/>
              </a:rPr>
              <a:t>El uso de semáforos puede causar inversión de prioridad, donde una tarea de baja prioridad impide la ejecución de una de alta prioridad. Los mutexes son semáforos que implementan herencia de prioridad para mitigar este problema.</a:t>
            </a:r>
            <a:endParaRPr b="0" lang="en-US" sz="2400" spc="-1" strike="noStrike">
              <a:latin typeface="Arial"/>
            </a:endParaRPr>
          </a:p>
        </p:txBody>
      </p:sp>
      <p:sp>
        <p:nvSpPr>
          <p:cNvPr id="24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50" name="Imagen 3" descr=""/>
          <p:cNvPicPr/>
          <p:nvPr/>
        </p:nvPicPr>
        <p:blipFill>
          <a:blip r:embed="rId1"/>
          <a:stretch/>
        </p:blipFill>
        <p:spPr>
          <a:xfrm>
            <a:off x="2093400" y="3881520"/>
            <a:ext cx="8005320" cy="261072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5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53"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Semáforos: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Abrazo Mortal (Deadlock): </a:t>
            </a:r>
            <a:r>
              <a:rPr b="0" lang="es-ES" sz="2400" spc="-1" strike="noStrike">
                <a:solidFill>
                  <a:srgbClr val="000000"/>
                </a:solidFill>
                <a:latin typeface="Aptos"/>
              </a:rPr>
              <a:t>Otro problema es el "abrazo mortal", donde dos o más tareas se bloquean mutuamente esperando semáforos que solo la otra puede liberar. Esto se puede mitigar con el uso de timeouts al intentar adquirir semáforos.</a:t>
            </a:r>
            <a:endParaRPr b="0" lang="en-US" sz="2400" spc="-1" strike="noStrike">
              <a:latin typeface="Arial"/>
            </a:endParaRPr>
          </a:p>
        </p:txBody>
      </p:sp>
      <p:sp>
        <p:nvSpPr>
          <p:cNvPr id="25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55" name="Picture 2" descr="Semaphore in Operating System (OS) | PrepInsta"/>
          <p:cNvPicPr/>
          <p:nvPr/>
        </p:nvPicPr>
        <p:blipFill>
          <a:blip r:embed="rId1"/>
          <a:stretch/>
        </p:blipFill>
        <p:spPr>
          <a:xfrm>
            <a:off x="7533720" y="2310480"/>
            <a:ext cx="3610080" cy="361008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5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58"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Colas: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Comunicación Asíncrona: </a:t>
            </a:r>
            <a:r>
              <a:rPr b="0" lang="es-ES" sz="2400" spc="-1" strike="noStrike">
                <a:solidFill>
                  <a:srgbClr val="000000"/>
                </a:solidFill>
                <a:latin typeface="Aptos"/>
              </a:rPr>
              <a:t>Permiten la comunicación entre tareas y sirven como almacenamiento temporal para ráfagas de datos. Son útiles cuando hay múltiples generadores de datos y un solo consumidor.</a:t>
            </a:r>
            <a:endParaRPr b="0" lang="en-US" sz="2400" spc="-1" strike="noStrike">
              <a:latin typeface="Arial"/>
            </a:endParaRPr>
          </a:p>
        </p:txBody>
      </p:sp>
      <p:sp>
        <p:nvSpPr>
          <p:cNvPr id="25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60" name="Picture 2" descr="queue&quot; Icon - Download for free – Iconduck"/>
          <p:cNvPicPr/>
          <p:nvPr/>
        </p:nvPicPr>
        <p:blipFill>
          <a:blip r:embed="rId1"/>
          <a:stretch/>
        </p:blipFill>
        <p:spPr>
          <a:xfrm>
            <a:off x="7157880" y="2364480"/>
            <a:ext cx="4195800" cy="381060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6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63"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Colas: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Creación y Operación: </a:t>
            </a:r>
            <a:r>
              <a:rPr b="0" lang="es-ES" sz="2400" spc="-1" strike="noStrike">
                <a:solidFill>
                  <a:srgbClr val="000000"/>
                </a:solidFill>
                <a:latin typeface="Aptos"/>
              </a:rPr>
              <a:t>Las colas se crean mediante llamadas al sistema (ej., xQueueCreate en FreeRTOS), que asigna la memoria y estructuras de control. El envío (xQueueSend) y recepción (xQueueReceive) de datos también se hace exclusivamente a través de llamadas al sistema.</a:t>
            </a:r>
            <a:endParaRPr b="0" lang="en-US" sz="2400" spc="-1" strike="noStrike">
              <a:latin typeface="Arial"/>
            </a:endParaRPr>
          </a:p>
        </p:txBody>
      </p:sp>
      <p:sp>
        <p:nvSpPr>
          <p:cNvPr id="26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65" name="Picture 2" descr="queue&quot; Icon - Download for free – Iconduck"/>
          <p:cNvPicPr/>
          <p:nvPr/>
        </p:nvPicPr>
        <p:blipFill>
          <a:blip r:embed="rId1"/>
          <a:stretch/>
        </p:blipFill>
        <p:spPr>
          <a:xfrm>
            <a:off x="7157880" y="2364480"/>
            <a:ext cx="4195800" cy="381060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6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68"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Colas: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Bloqueo: </a:t>
            </a:r>
            <a:r>
              <a:rPr b="0" lang="es-ES" sz="2400" spc="-1" strike="noStrike">
                <a:solidFill>
                  <a:srgbClr val="000000"/>
                </a:solidFill>
                <a:latin typeface="Aptos"/>
              </a:rPr>
              <a:t>Las funciones de envío/recepción pueden bloquear la tarea si la cola está llena o vacía, respectivamente, lo cual es una ventaja sobre los sistemas Foreground/Background..</a:t>
            </a:r>
            <a:endParaRPr b="0" lang="en-US" sz="2400" spc="-1" strike="noStrike">
              <a:latin typeface="Arial"/>
            </a:endParaRPr>
          </a:p>
        </p:txBody>
      </p:sp>
      <p:sp>
        <p:nvSpPr>
          <p:cNvPr id="26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70" name="Picture 2" descr="queue&quot; Icon - Download for free – Iconduck"/>
          <p:cNvPicPr/>
          <p:nvPr/>
        </p:nvPicPr>
        <p:blipFill>
          <a:blip r:embed="rId1"/>
          <a:stretch/>
        </p:blipFill>
        <p:spPr>
          <a:xfrm>
            <a:off x="7157880" y="2364480"/>
            <a:ext cx="4195800" cy="381060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7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73"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Colas:</a:t>
            </a:r>
            <a:endParaRPr b="0" lang="en-US" sz="2800" spc="-1" strike="noStrike">
              <a:latin typeface="Arial"/>
            </a:endParaRPr>
          </a:p>
          <a:p>
            <a:pPr lvl="1" marL="685800" indent="-228600">
              <a:lnSpc>
                <a:spcPct val="90000"/>
              </a:lnSpc>
              <a:spcBef>
                <a:spcPts val="499"/>
              </a:spcBef>
              <a:buClr>
                <a:srgbClr val="000000"/>
              </a:buClr>
              <a:buFont typeface="Arial"/>
              <a:buChar char="•"/>
            </a:pPr>
            <a:r>
              <a:rPr b="1" lang="es-ES" sz="2400" spc="-1" strike="noStrike">
                <a:solidFill>
                  <a:srgbClr val="000000"/>
                </a:solidFill>
                <a:latin typeface="Aptos"/>
              </a:rPr>
              <a:t>Desde ISRs: </a:t>
            </a:r>
            <a:r>
              <a:rPr b="0" lang="es-ES" sz="2400" spc="-1" strike="noStrike">
                <a:solidFill>
                  <a:srgbClr val="000000"/>
                </a:solidFill>
                <a:latin typeface="Aptos"/>
              </a:rPr>
              <a:t>Para enviar datos a una cola desde una ISR en FreeRTOS, se usa xQueueSendFromISR. Para recibir, se usa xQueueReceiveFromISR. Estas funciones no bloquean la ISR. Si una de estas llamadas despierta una tarea, es necesario forzar un cambio de contexto al finalizar la ISR con taskYIELD().</a:t>
            </a:r>
            <a:endParaRPr b="0" lang="en-US" sz="2400" spc="-1" strike="noStrike">
              <a:latin typeface="Arial"/>
            </a:endParaRPr>
          </a:p>
        </p:txBody>
      </p:sp>
      <p:sp>
        <p:nvSpPr>
          <p:cNvPr id="27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Sincronización y comunicación</a:t>
            </a:r>
            <a:endParaRPr b="0" lang="es-AR" sz="4400" spc="-1" strike="noStrike">
              <a:solidFill>
                <a:srgbClr val="000000"/>
              </a:solidFill>
              <a:latin typeface="Aptos"/>
            </a:endParaRPr>
          </a:p>
        </p:txBody>
      </p:sp>
      <p:pic>
        <p:nvPicPr>
          <p:cNvPr id="275" name="Picture 2" descr="queue&quot; Icon - Download for free – Iconduck"/>
          <p:cNvPicPr/>
          <p:nvPr/>
        </p:nvPicPr>
        <p:blipFill>
          <a:blip r:embed="rId1"/>
          <a:stretch/>
        </p:blipFill>
        <p:spPr>
          <a:xfrm>
            <a:off x="7157880" y="2364480"/>
            <a:ext cx="4195800" cy="381060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7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78"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Los SOTR facilitan la gestión del tiempo para las tareas, basándose en un contador que se incrementa periódicamente mediante una interrupción de temporizador (tick de reloj)</a:t>
            </a:r>
            <a:endParaRPr b="0" lang="en-US" sz="2800" spc="-1" strike="noStrike">
              <a:latin typeface="Arial"/>
            </a:endParaRPr>
          </a:p>
        </p:txBody>
      </p:sp>
      <p:sp>
        <p:nvSpPr>
          <p:cNvPr id="27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Gestión de tiempos en tareas</a:t>
            </a:r>
            <a:endParaRPr b="0" lang="es-AR" sz="4400" spc="-1" strike="noStrike">
              <a:solidFill>
                <a:srgbClr val="000000"/>
              </a:solidFill>
              <a:latin typeface="Aptos"/>
            </a:endParaRPr>
          </a:p>
        </p:txBody>
      </p:sp>
      <p:pic>
        <p:nvPicPr>
          <p:cNvPr id="280" name="Picture 2" descr="Time management Generic Blue icon | Freepik"/>
          <p:cNvPicPr/>
          <p:nvPr/>
        </p:nvPicPr>
        <p:blipFill>
          <a:blip r:embed="rId1"/>
          <a:stretch/>
        </p:blipFill>
        <p:spPr>
          <a:xfrm>
            <a:off x="7302600" y="2121120"/>
            <a:ext cx="3759840" cy="375984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8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83"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Retardos:</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vTaskDelay(xTicksToDelay): Suspende la tarea durante un número especificado de ticks. El retardo real puede variar ligeramente dependiendo del momento exacto de la llamada en relación con el tick de reloj.</a:t>
            </a:r>
            <a:endParaRPr b="0" lang="en-US" sz="2400" spc="-1" strike="noStrike">
              <a:latin typeface="Arial"/>
            </a:endParaRPr>
          </a:p>
        </p:txBody>
      </p:sp>
      <p:sp>
        <p:nvSpPr>
          <p:cNvPr id="28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Gestión de tiempos en tareas</a:t>
            </a:r>
            <a:endParaRPr b="0" lang="es-AR" sz="4400" spc="-1" strike="noStrike">
              <a:solidFill>
                <a:srgbClr val="000000"/>
              </a:solidFill>
              <a:latin typeface="Aptos"/>
            </a:endParaRPr>
          </a:p>
        </p:txBody>
      </p:sp>
      <p:pic>
        <p:nvPicPr>
          <p:cNvPr id="285" name="Picture 2" descr="Time management Generic Blue icon | Freepik"/>
          <p:cNvPicPr/>
          <p:nvPr/>
        </p:nvPicPr>
        <p:blipFill>
          <a:blip r:embed="rId1"/>
          <a:stretch/>
        </p:blipFill>
        <p:spPr>
          <a:xfrm>
            <a:off x="7302600" y="2121120"/>
            <a:ext cx="3759840" cy="375984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6"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87"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88" name="Marcador de contenido 4"/>
          <p:cNvSpPr/>
          <p:nvPr/>
        </p:nvSpPr>
        <p:spPr>
          <a:xfrm>
            <a:off x="838080" y="1825560"/>
            <a:ext cx="6149160" cy="4350960"/>
          </a:xfrm>
          <a:prstGeom prst="rect">
            <a:avLst/>
          </a:prstGeom>
          <a:noFill/>
          <a:ln w="0">
            <a:noFill/>
          </a:ln>
        </p:spPr>
        <p:style>
          <a:lnRef idx="0"/>
          <a:fillRef idx="0"/>
          <a:effectRef idx="0"/>
          <a:fontRef idx="minor"/>
        </p:style>
        <p:txBody>
          <a:bodyPr anchor="t">
            <a:noAutofit/>
          </a:bodyPr>
          <a:p>
            <a:pPr>
              <a:lnSpc>
                <a:spcPct val="90000"/>
              </a:lnSpc>
              <a:spcBef>
                <a:spcPts val="1001"/>
              </a:spcBef>
              <a:buNone/>
            </a:pPr>
            <a:endParaRPr b="0" lang="en-US" sz="2800" spc="-1" strike="noStrike">
              <a:latin typeface="Arial"/>
            </a:endParaRPr>
          </a:p>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Tareas Periódicas:</a:t>
            </a:r>
            <a:endParaRPr b="0" lang="en-US" sz="2800" spc="-1" strike="noStrike">
              <a:latin typeface="Arial"/>
            </a:endParaRPr>
          </a:p>
          <a:p>
            <a:pPr lvl="1" marL="685800" indent="-228600">
              <a:lnSpc>
                <a:spcPct val="90000"/>
              </a:lnSpc>
              <a:spcBef>
                <a:spcPts val="499"/>
              </a:spcBef>
              <a:buClr>
                <a:srgbClr val="000000"/>
              </a:buClr>
              <a:buFont typeface="Arial"/>
              <a:buChar char="•"/>
            </a:pPr>
            <a:r>
              <a:rPr b="0" lang="es-ES" sz="2400" spc="-1" strike="noStrike">
                <a:solidFill>
                  <a:srgbClr val="000000"/>
                </a:solidFill>
                <a:latin typeface="Aptos"/>
              </a:rPr>
              <a:t>vTaskDelayUntil(pxPreviousWakeTime, xTimeIncrement): Es la función ideal para ejecutar una tarea periódicamente, ya que despierta la tarea en un instante determinado, asegurando un periodo constante. El retardo real puede ser mayor si hay tareas de mayor prioridad listas para ejecutarse.</a:t>
            </a:r>
            <a:endParaRPr b="0" lang="en-US" sz="2400" spc="-1" strike="noStrike">
              <a:latin typeface="Arial"/>
            </a:endParaRPr>
          </a:p>
        </p:txBody>
      </p:sp>
      <p:sp>
        <p:nvSpPr>
          <p:cNvPr id="289"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Gestión de tiempos en tareas</a:t>
            </a:r>
            <a:endParaRPr b="0" lang="es-AR" sz="4400" spc="-1" strike="noStrike">
              <a:solidFill>
                <a:srgbClr val="000000"/>
              </a:solidFill>
              <a:latin typeface="Aptos"/>
            </a:endParaRPr>
          </a:p>
        </p:txBody>
      </p:sp>
      <p:pic>
        <p:nvPicPr>
          <p:cNvPr id="290" name="Picture 2" descr="Time management Generic Blue icon | Freepik"/>
          <p:cNvPicPr/>
          <p:nvPr/>
        </p:nvPicPr>
        <p:blipFill>
          <a:blip r:embed="rId1"/>
          <a:stretch/>
        </p:blipFill>
        <p:spPr>
          <a:xfrm>
            <a:off x="7302600" y="2121120"/>
            <a:ext cx="3759840" cy="375984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1" name="Rectangle 2056"/>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292" name="sketchy line"/>
          <p:cNvSpPr/>
          <p:nvPr/>
        </p:nvSpPr>
        <p:spPr>
          <a:xfrm>
            <a:off x="572400" y="1681560"/>
            <a:ext cx="10972440" cy="18000"/>
          </a:xfrm>
          <a:custGeom>
            <a:avLst/>
            <a:gdLst/>
            <a:ahLst/>
            <a:rect l="l" t="t" r="r" b="b"/>
            <a:pathLst>
              <a:path fill="none" w="10972800" h="18288">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stroke="0" w="10972800" h="18288">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cap="rnd" w="44450">
            <a:solidFill>
              <a:srgbClr val="e97132">
                <a:alpha val="75000"/>
              </a:srgbClr>
            </a:solidFill>
            <a:round/>
          </a:ln>
        </p:spPr>
        <p:style>
          <a:lnRef idx="2">
            <a:schemeClr val="accent1">
              <a:shade val="50000"/>
            </a:schemeClr>
          </a:lnRef>
          <a:fillRef idx="1">
            <a:schemeClr val="accent1"/>
          </a:fillRef>
          <a:effectRef idx="0">
            <a:schemeClr val="accent1"/>
          </a:effectRef>
          <a:fontRef idx="minor"/>
        </p:style>
      </p:sp>
      <p:sp>
        <p:nvSpPr>
          <p:cNvPr id="293" name="Marcador de contenido 4"/>
          <p:cNvSpPr/>
          <p:nvPr/>
        </p:nvSpPr>
        <p:spPr>
          <a:xfrm>
            <a:off x="838080" y="1825560"/>
            <a:ext cx="7166160" cy="4350960"/>
          </a:xfrm>
          <a:prstGeom prst="rect">
            <a:avLst/>
          </a:prstGeom>
          <a:noFill/>
          <a:ln w="0">
            <a:noFill/>
          </a:ln>
        </p:spPr>
        <p:style>
          <a:lnRef idx="0"/>
          <a:fillRef idx="0"/>
          <a:effectRef idx="0"/>
          <a:fontRef idx="minor"/>
        </p:style>
        <p:txBody>
          <a:bodyPr anchor="t">
            <a:noAutofit/>
          </a:bodyPr>
          <a:p>
            <a:pPr marL="228600" indent="-228600">
              <a:lnSpc>
                <a:spcPct val="90000"/>
              </a:lnSpc>
              <a:spcBef>
                <a:spcPts val="1001"/>
              </a:spcBef>
              <a:buClr>
                <a:srgbClr val="000000"/>
              </a:buClr>
              <a:buFont typeface="Arial"/>
              <a:buChar char="•"/>
            </a:pPr>
            <a:r>
              <a:rPr b="0" lang="es-ES" sz="2800" spc="-1" strike="noStrike">
                <a:solidFill>
                  <a:srgbClr val="000000"/>
                </a:solidFill>
                <a:latin typeface="Aptos"/>
              </a:rPr>
              <a:t>En resumen, las tareas en FreeRTOS son funciones C con bucles infinitos que son el corazón de la aplicación. Se gestionan por un planificador basado en prioridades, permitiendo la multitarea. La comunicación y sincronización entre ellas, así como la gestión de tiempos, se realiza a través de mecanismos específicos del RTOS como semáforos y colas, lo que garantiza el determinismo y la respuesta en tiempo real requeridos por las aplicaciones embebidas.</a:t>
            </a:r>
            <a:endParaRPr b="0" lang="en-US" sz="2800" spc="-1" strike="noStrike">
              <a:latin typeface="Arial"/>
            </a:endParaRPr>
          </a:p>
        </p:txBody>
      </p:sp>
      <p:sp>
        <p:nvSpPr>
          <p:cNvPr id="29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s-ES" sz="4400" spc="-1" strike="noStrike">
                <a:solidFill>
                  <a:srgbClr val="000000"/>
                </a:solidFill>
                <a:latin typeface="Aptos Display"/>
              </a:rPr>
              <a:t>Resumen</a:t>
            </a:r>
            <a:endParaRPr b="0" lang="es-AR" sz="4400" spc="-1" strike="noStrike">
              <a:solidFill>
                <a:srgbClr val="000000"/>
              </a:solidFill>
              <a:latin typeface="Aptos"/>
            </a:endParaRPr>
          </a:p>
        </p:txBody>
      </p:sp>
      <p:pic>
        <p:nvPicPr>
          <p:cNvPr id="295" name="Picture 2" descr="About : Operating Systems Labs"/>
          <p:cNvPicPr/>
          <p:nvPr/>
        </p:nvPicPr>
        <p:blipFill>
          <a:blip r:embed="rId1"/>
          <a:srcRect l="16567" t="0" r="15842" b="0"/>
          <a:stretch/>
        </p:blipFill>
        <p:spPr>
          <a:xfrm>
            <a:off x="7880400" y="2162520"/>
            <a:ext cx="3907800" cy="43300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1953</TotalTime>
  <Application>LibreOffice/7.3.7.2$Linux_X86_64 LibreOffice_project/30$Build-2</Application>
  <AppVersion>15.0000</AppVersion>
  <Words>2151</Words>
  <Paragraphs>157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2025-05-24T01:32:13Z</dcterms:created>
  <dc:creator>Mario Sebastián Tobar</dc:creator>
  <dc:description/>
  <dc:language>en-US</dc:language>
  <cp:lastModifiedBy/>
  <dcterms:modified xsi:type="dcterms:W3CDTF">2025-06-03T21:53:10Z</dcterms:modified>
  <cp:revision>21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43</vt:i4>
  </property>
</Properties>
</file>