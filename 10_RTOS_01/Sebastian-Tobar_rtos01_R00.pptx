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97" r:id="rId11"/>
    <p:sldId id="267" r:id="rId12"/>
    <p:sldId id="268" r:id="rId13"/>
    <p:sldId id="269" r:id="rId14"/>
    <p:sldId id="271" r:id="rId15"/>
    <p:sldId id="273" r:id="rId16"/>
    <p:sldId id="272" r:id="rId17"/>
    <p:sldId id="270" r:id="rId18"/>
    <p:sldId id="274" r:id="rId19"/>
    <p:sldId id="275" r:id="rId20"/>
    <p:sldId id="276" r:id="rId21"/>
    <p:sldId id="277" r:id="rId22"/>
    <p:sldId id="279" r:id="rId23"/>
    <p:sldId id="280" r:id="rId24"/>
    <p:sldId id="278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90" r:id="rId34"/>
    <p:sldId id="289" r:id="rId35"/>
    <p:sldId id="291" r:id="rId36"/>
    <p:sldId id="292" r:id="rId37"/>
    <p:sldId id="293" r:id="rId38"/>
    <p:sldId id="294" r:id="rId39"/>
    <p:sldId id="295" r:id="rId40"/>
    <p:sldId id="296" r:id="rId41"/>
    <p:sldId id="298" r:id="rId42"/>
    <p:sldId id="299" r:id="rId43"/>
    <p:sldId id="300" r:id="rId4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4C643E-5FF1-B22F-8A3B-510D5AE09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4F4C6C-20FE-3F9B-401E-714394A2D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B84318-81E4-943E-6A19-D97DC9698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DD3FF2-5939-53B2-2970-E008FF8BC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8B139-8763-D55F-41D8-45B9CA86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20833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4C036-7E2E-BBAC-C98D-66CA0CF0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EAC1E1-D349-07DF-76D8-E6BAC5F94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5F99CB-021A-309D-DD16-9E5481A3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3D415F-DA49-143E-AA2B-EB527C0C2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9DF840-EAD5-C839-EFB3-BAF646F0E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952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63480-7E3B-11D4-218F-5FCE04B2B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CAC9BB-75BF-6D7A-9AAE-7593115F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502648-BCF2-442E-C59A-A092B3562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2F0141-9B79-C6C0-7A25-1AD13FE10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03A596-4951-A1BE-52BA-943907CC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5385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22569-C463-0287-7FC4-C2E76BA0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BDD900-BAA1-4F0B-27A2-7385E6F88B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B1AD906-FD26-367A-6C35-7D1335944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A5192D-19D7-46F6-C92B-854CA831A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DE08B4-EFB3-8DF8-4807-EC0676AA4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0EBF9C-2B0C-4037-323B-D580695E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2961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B3371-F717-6F3C-78F2-7486C64F9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3D60E-147F-80BD-3073-0993EF8DD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FC35609-B668-250D-BE96-356812D69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A41746B-85FE-310F-89FC-30B75DF56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42FE20-AB3C-AF4F-588B-7E16381C0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DF03298-8D1D-926C-D795-9DFB02D7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C9CE9F1-4CF3-23F0-439B-CA49B067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B13010-4F64-D59B-8FF0-BF69B132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5680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E836F1-963A-342F-3324-53450AB3F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F6C32DC-A4C3-1F36-7BF7-E6417470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E2C8713-9FD0-4810-9D2B-45725FB21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2C5DB18-D43B-B5C2-CC99-AD7564A40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25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03B251-915C-38AA-BEA4-09E7A032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8B076F-40BF-0951-BB73-7DC8C75E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C8FC27A-CDA4-A398-94EB-A2C730C74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7036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C332D6-FE7C-D571-0ED8-D076C741C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A3E9E2-DD2B-79E8-1095-9A77A3C3A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8B18D3D-CFE4-FD76-6E14-A51EBE96B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3D2CC9-AD90-BC39-D87F-5099FFC22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C343DE-7298-DAA3-09C0-AF478306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45BD4A-67C0-0632-0B1C-C4AF677A5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962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62772-60A6-97C2-0D4C-8E2748F6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FC5CFE5-9FBC-B114-BF52-1CE3D36CB5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262891-5B2D-1886-BA3B-596B84CDF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DA2BAD-7918-E114-FCA8-A7ED3959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647996-1BA6-62CC-E834-BF8148DF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517825-E7AB-7B22-A415-9C134D658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61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7AA0D-9878-C356-331E-568DEFB16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0181F9-1667-6A3A-8477-502CD414C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204322-FDBF-FB64-23B2-21E0287E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2C462F-27FB-54CD-9072-34DCDE960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B3E9B2-FE66-E975-FE81-FDBF2F179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24524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0807A2-1241-802F-E56D-CA62EFC0E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064806-B24C-6424-97BE-ECDA01A79F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F12600-BF2C-E33D-0200-C0A198000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44D043-1F91-8E32-F83C-D5ED6AD74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78D3A00-748B-F716-9488-FCB0B24BC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69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605B94-D215-8ECC-BABF-836CCB86C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39A7FE-855E-0AC1-0B6C-E5C78CEB3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71BC05-4837-2808-9946-28C0B720F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F796F3-4B98-4636-A38B-14741E4A4758}" type="datetimeFigureOut">
              <a:rPr lang="es-AR" smtClean="0"/>
              <a:t>27/5/2025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CA237-15D5-98A1-7B39-915D97CE0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096454-F595-4074-4CDC-31AFAA94A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5B4096-AB5A-450E-AF2C-EB47F8F69F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91085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592C15-1569-725F-60C5-AAE28C9AC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s-ES" sz="6600"/>
              <a:t>Sistemas Operativos de Tiempo Real</a:t>
            </a:r>
            <a:endParaRPr lang="es-AR" sz="66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96F99A-BE33-C75B-DC88-08AC45351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s-ES" dirty="0"/>
              <a:t>Técnicas Digitales III</a:t>
            </a:r>
            <a:endParaRPr lang="es-AR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0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5AE9-C8DB-B60D-6C12-A11A9CC1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C9A8A33-47CC-936C-E3F0-2742433BC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49B242E-C5D3-2181-A6F4-692AD9716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Según las restricciones temporales, existen distintos tipos de aplicaciones:</a:t>
            </a:r>
          </a:p>
          <a:p>
            <a:endParaRPr lang="es-ES" dirty="0"/>
          </a:p>
          <a:p>
            <a:pPr lvl="1"/>
            <a:r>
              <a:rPr lang="es-ES" b="1" dirty="0"/>
              <a:t>Ofimática</a:t>
            </a:r>
          </a:p>
          <a:p>
            <a:pPr lvl="1"/>
            <a:r>
              <a:rPr lang="es-ES" dirty="0"/>
              <a:t>Multimedia y video juegos</a:t>
            </a:r>
            <a:endParaRPr lang="es-ES" b="1" dirty="0"/>
          </a:p>
          <a:p>
            <a:pPr lvl="1"/>
            <a:r>
              <a:rPr lang="es-ES" dirty="0"/>
              <a:t>Sistemas de control</a:t>
            </a:r>
          </a:p>
          <a:p>
            <a:pPr lvl="1"/>
            <a:endParaRPr lang="es-AR" b="1" dirty="0"/>
          </a:p>
        </p:txBody>
      </p:sp>
      <p:sp>
        <p:nvSpPr>
          <p:cNvPr id="8" name="Flecha: cheurón 7">
            <a:extLst>
              <a:ext uri="{FF2B5EF4-FFF2-40B4-BE49-F238E27FC236}">
                <a16:creationId xmlns:a16="http://schemas.microsoft.com/office/drawing/2014/main" id="{674BA3A6-FDD9-D838-CB07-5F177EF2B0FF}"/>
              </a:ext>
            </a:extLst>
          </p:cNvPr>
          <p:cNvSpPr/>
          <p:nvPr/>
        </p:nvSpPr>
        <p:spPr>
          <a:xfrm>
            <a:off x="1315025" y="4837471"/>
            <a:ext cx="1592826" cy="882292"/>
          </a:xfrm>
          <a:prstGeom prst="chevron">
            <a:avLst>
              <a:gd name="adj" fmla="val 21723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Non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pic>
        <p:nvPicPr>
          <p:cNvPr id="2" name="Picture 6" descr="Design/Whiteboards/LibreOffice Initial Icons - The Document Foundation Wiki">
            <a:extLst>
              <a:ext uri="{FF2B5EF4-FFF2-40B4-BE49-F238E27FC236}">
                <a16:creationId xmlns:a16="http://schemas.microsoft.com/office/drawing/2014/main" id="{A633859B-FF3F-041D-0D4C-2684651BC5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643"/>
          <a:stretch/>
        </p:blipFill>
        <p:spPr bwMode="auto">
          <a:xfrm>
            <a:off x="6904743" y="2675604"/>
            <a:ext cx="3810000" cy="304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958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C49ED-9750-8AE5-91F2-42F35C67B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2A5C0F8-0350-6580-82BE-9A557731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2AA5DD7-6AB4-C626-8DA3-DBC2734F7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Según las restricciones temporales, existen distintos tipos de aplicaciones:</a:t>
            </a:r>
          </a:p>
          <a:p>
            <a:endParaRPr lang="es-ES" dirty="0"/>
          </a:p>
          <a:p>
            <a:pPr lvl="1"/>
            <a:r>
              <a:rPr lang="es-ES" dirty="0"/>
              <a:t>Ofimática</a:t>
            </a:r>
          </a:p>
          <a:p>
            <a:pPr lvl="1"/>
            <a:r>
              <a:rPr lang="es-ES" b="1" dirty="0"/>
              <a:t>Multimedia y video juegos</a:t>
            </a:r>
          </a:p>
          <a:p>
            <a:pPr lvl="1"/>
            <a:r>
              <a:rPr lang="es-ES" dirty="0"/>
              <a:t>Sistemas de control</a:t>
            </a:r>
          </a:p>
          <a:p>
            <a:pPr lvl="1"/>
            <a:endParaRPr lang="es-AR" b="1" dirty="0"/>
          </a:p>
        </p:txBody>
      </p:sp>
      <p:sp>
        <p:nvSpPr>
          <p:cNvPr id="7" name="Flecha: cheurón 6">
            <a:extLst>
              <a:ext uri="{FF2B5EF4-FFF2-40B4-BE49-F238E27FC236}">
                <a16:creationId xmlns:a16="http://schemas.microsoft.com/office/drawing/2014/main" id="{F4E9C0B9-8233-987B-A2D6-0D0367128C75}"/>
              </a:ext>
            </a:extLst>
          </p:cNvPr>
          <p:cNvSpPr/>
          <p:nvPr/>
        </p:nvSpPr>
        <p:spPr>
          <a:xfrm>
            <a:off x="2907851" y="4837471"/>
            <a:ext cx="1592826" cy="882292"/>
          </a:xfrm>
          <a:prstGeom prst="chevron">
            <a:avLst>
              <a:gd name="adj" fmla="val 21723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Soft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8" name="Flecha: cheurón 7">
            <a:extLst>
              <a:ext uri="{FF2B5EF4-FFF2-40B4-BE49-F238E27FC236}">
                <a16:creationId xmlns:a16="http://schemas.microsoft.com/office/drawing/2014/main" id="{8E23CFB9-48EE-842B-B093-EDE1B1602F25}"/>
              </a:ext>
            </a:extLst>
          </p:cNvPr>
          <p:cNvSpPr/>
          <p:nvPr/>
        </p:nvSpPr>
        <p:spPr>
          <a:xfrm>
            <a:off x="1315025" y="4837471"/>
            <a:ext cx="1592826" cy="882292"/>
          </a:xfrm>
          <a:prstGeom prst="chevron">
            <a:avLst>
              <a:gd name="adj" fmla="val 21723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Non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pic>
        <p:nvPicPr>
          <p:cNvPr id="3074" name="Picture 2" descr="Game console Special Lineal color icon | Freepik">
            <a:extLst>
              <a:ext uri="{FF2B5EF4-FFF2-40B4-BE49-F238E27FC236}">
                <a16:creationId xmlns:a16="http://schemas.microsoft.com/office/drawing/2014/main" id="{E876B15A-E4A0-B67E-5E3C-AE898C360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161" y="2681595"/>
            <a:ext cx="3495368" cy="3495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343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915D0-F95F-BC11-A329-AB1A3AE7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16F28A4-EF5B-92CB-A977-48270D70F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50BA799-2D80-144C-5443-ADCF71E65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Según las restricciones temporales, existen distintos tipos de aplicaciones:</a:t>
            </a:r>
          </a:p>
          <a:p>
            <a:endParaRPr lang="es-ES" dirty="0"/>
          </a:p>
          <a:p>
            <a:pPr lvl="1"/>
            <a:r>
              <a:rPr lang="es-ES" dirty="0"/>
              <a:t>Ofimática</a:t>
            </a:r>
          </a:p>
          <a:p>
            <a:pPr lvl="1"/>
            <a:r>
              <a:rPr lang="es-ES" dirty="0"/>
              <a:t>Multimedia y video juegos</a:t>
            </a:r>
            <a:endParaRPr lang="es-ES" b="1" dirty="0"/>
          </a:p>
          <a:p>
            <a:pPr lvl="1"/>
            <a:r>
              <a:rPr lang="es-ES" b="1" dirty="0"/>
              <a:t>Sistemas de control</a:t>
            </a:r>
          </a:p>
          <a:p>
            <a:pPr lvl="1"/>
            <a:endParaRPr lang="es-AR" b="1" dirty="0"/>
          </a:p>
        </p:txBody>
      </p:sp>
      <p:pic>
        <p:nvPicPr>
          <p:cNvPr id="1026" name="Picture 2" descr="Control system - Free industry icons">
            <a:extLst>
              <a:ext uri="{FF2B5EF4-FFF2-40B4-BE49-F238E27FC236}">
                <a16:creationId xmlns:a16="http://schemas.microsoft.com/office/drawing/2014/main" id="{304D3F09-8A07-7C67-7037-11000960A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270" y="2662052"/>
            <a:ext cx="3116705" cy="3116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lecha: cheurón 5">
            <a:extLst>
              <a:ext uri="{FF2B5EF4-FFF2-40B4-BE49-F238E27FC236}">
                <a16:creationId xmlns:a16="http://schemas.microsoft.com/office/drawing/2014/main" id="{952E13BC-C0BE-498F-FD1D-F49D6917915F}"/>
              </a:ext>
            </a:extLst>
          </p:cNvPr>
          <p:cNvSpPr/>
          <p:nvPr/>
        </p:nvSpPr>
        <p:spPr>
          <a:xfrm>
            <a:off x="4500677" y="4840904"/>
            <a:ext cx="1592826" cy="882292"/>
          </a:xfrm>
          <a:prstGeom prst="chevron">
            <a:avLst>
              <a:gd name="adj" fmla="val 2172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Hard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7" name="Flecha: cheurón 6">
            <a:extLst>
              <a:ext uri="{FF2B5EF4-FFF2-40B4-BE49-F238E27FC236}">
                <a16:creationId xmlns:a16="http://schemas.microsoft.com/office/drawing/2014/main" id="{CBADA28D-A959-2BC2-8CFC-830C3D873A11}"/>
              </a:ext>
            </a:extLst>
          </p:cNvPr>
          <p:cNvSpPr/>
          <p:nvPr/>
        </p:nvSpPr>
        <p:spPr>
          <a:xfrm>
            <a:off x="2907851" y="4837471"/>
            <a:ext cx="1592826" cy="882292"/>
          </a:xfrm>
          <a:prstGeom prst="chevron">
            <a:avLst>
              <a:gd name="adj" fmla="val 21723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Soft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8" name="Flecha: cheurón 7">
            <a:extLst>
              <a:ext uri="{FF2B5EF4-FFF2-40B4-BE49-F238E27FC236}">
                <a16:creationId xmlns:a16="http://schemas.microsoft.com/office/drawing/2014/main" id="{22B9B66C-93A8-4777-F0CF-941806A85DCB}"/>
              </a:ext>
            </a:extLst>
          </p:cNvPr>
          <p:cNvSpPr/>
          <p:nvPr/>
        </p:nvSpPr>
        <p:spPr>
          <a:xfrm>
            <a:off x="1315025" y="4837471"/>
            <a:ext cx="1592826" cy="882292"/>
          </a:xfrm>
          <a:prstGeom prst="chevron">
            <a:avLst>
              <a:gd name="adj" fmla="val 21723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Non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442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65C36-BA31-2F3C-ED33-C13AB9E5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A32B5FA-4306-48E9-9D93-7E12CE94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E83974D-EF42-ADAC-317A-5276F3735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cada una de estas aplicaciones, se utilizan distintos tipos de Sistemas Operativos</a:t>
            </a:r>
          </a:p>
          <a:p>
            <a:endParaRPr lang="es-ES" dirty="0"/>
          </a:p>
          <a:p>
            <a:pPr lvl="1"/>
            <a:r>
              <a:rPr lang="es-ES" b="1" dirty="0"/>
              <a:t>Sistemas operativos de propósito general</a:t>
            </a:r>
          </a:p>
          <a:p>
            <a:pPr lvl="1"/>
            <a:r>
              <a:rPr lang="es-ES" dirty="0"/>
              <a:t>Extensiones multimedia</a:t>
            </a:r>
            <a:endParaRPr lang="es-ES" b="1" dirty="0"/>
          </a:p>
          <a:p>
            <a:pPr lvl="1"/>
            <a:r>
              <a:rPr lang="es-ES" dirty="0"/>
              <a:t>Sistema operativo de tiempo real</a:t>
            </a:r>
          </a:p>
          <a:p>
            <a:pPr lvl="1"/>
            <a:endParaRPr lang="es-AR" b="1" dirty="0"/>
          </a:p>
        </p:txBody>
      </p:sp>
      <p:sp>
        <p:nvSpPr>
          <p:cNvPr id="6" name="Flecha: cheurón 5">
            <a:extLst>
              <a:ext uri="{FF2B5EF4-FFF2-40B4-BE49-F238E27FC236}">
                <a16:creationId xmlns:a16="http://schemas.microsoft.com/office/drawing/2014/main" id="{5B2CFCBD-6236-6D64-1BD0-5CC7B370581B}"/>
              </a:ext>
            </a:extLst>
          </p:cNvPr>
          <p:cNvSpPr/>
          <p:nvPr/>
        </p:nvSpPr>
        <p:spPr>
          <a:xfrm>
            <a:off x="4500677" y="4840904"/>
            <a:ext cx="1592826" cy="882292"/>
          </a:xfrm>
          <a:prstGeom prst="chevron">
            <a:avLst>
              <a:gd name="adj" fmla="val 21723"/>
            </a:avLst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Hard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7" name="Flecha: cheurón 6">
            <a:extLst>
              <a:ext uri="{FF2B5EF4-FFF2-40B4-BE49-F238E27FC236}">
                <a16:creationId xmlns:a16="http://schemas.microsoft.com/office/drawing/2014/main" id="{371533A2-3116-DC44-BB9E-458EA6AEB38A}"/>
              </a:ext>
            </a:extLst>
          </p:cNvPr>
          <p:cNvSpPr/>
          <p:nvPr/>
        </p:nvSpPr>
        <p:spPr>
          <a:xfrm>
            <a:off x="2907851" y="4837471"/>
            <a:ext cx="1592826" cy="882292"/>
          </a:xfrm>
          <a:prstGeom prst="chevron">
            <a:avLst>
              <a:gd name="adj" fmla="val 21723"/>
            </a:avLst>
          </a:prstGeom>
          <a:solidFill>
            <a:srgbClr val="FFFF00">
              <a:alpha val="20000"/>
            </a:srgbClr>
          </a:solidFill>
          <a:ln>
            <a:solidFill>
              <a:srgbClr val="FFFF00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Soft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8" name="Flecha: cheurón 7">
            <a:extLst>
              <a:ext uri="{FF2B5EF4-FFF2-40B4-BE49-F238E27FC236}">
                <a16:creationId xmlns:a16="http://schemas.microsoft.com/office/drawing/2014/main" id="{95B91D9E-465E-A052-DB89-B6FDA1186D26}"/>
              </a:ext>
            </a:extLst>
          </p:cNvPr>
          <p:cNvSpPr/>
          <p:nvPr/>
        </p:nvSpPr>
        <p:spPr>
          <a:xfrm>
            <a:off x="1315025" y="4837471"/>
            <a:ext cx="1592826" cy="882292"/>
          </a:xfrm>
          <a:prstGeom prst="chevron">
            <a:avLst>
              <a:gd name="adj" fmla="val 21723"/>
            </a:avLst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Non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4149175-9D2B-463B-3261-6FD373344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12" r="45414"/>
          <a:stretch/>
        </p:blipFill>
        <p:spPr>
          <a:xfrm>
            <a:off x="7691182" y="2395590"/>
            <a:ext cx="3146223" cy="21509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162EBF0-A401-FD7D-B3FA-14824D7CA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15"/>
          <a:stretch/>
        </p:blipFill>
        <p:spPr>
          <a:xfrm>
            <a:off x="7754385" y="4203167"/>
            <a:ext cx="3059528" cy="21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0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715B0-BD88-F9BB-C5CA-6CB695E58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342C31B-0EC8-AB3D-5298-E2F4549F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1A55089-B6D6-A02A-FE16-C053B064D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cada una de estas aplicaciones, se utilizan distintos tipos de Sistemas Operativos</a:t>
            </a:r>
          </a:p>
          <a:p>
            <a:endParaRPr lang="es-ES" dirty="0"/>
          </a:p>
          <a:p>
            <a:pPr lvl="1"/>
            <a:r>
              <a:rPr lang="es-ES" dirty="0"/>
              <a:t>Sistemas operativos de propósito general</a:t>
            </a:r>
          </a:p>
          <a:p>
            <a:pPr lvl="1"/>
            <a:r>
              <a:rPr lang="es-ES" b="1" dirty="0"/>
              <a:t>Extensiones multimedia</a:t>
            </a:r>
          </a:p>
          <a:p>
            <a:pPr lvl="1"/>
            <a:r>
              <a:rPr lang="es-ES" dirty="0"/>
              <a:t>Sistema operativo de tiempo real</a:t>
            </a:r>
          </a:p>
          <a:p>
            <a:pPr lvl="1"/>
            <a:endParaRPr lang="es-AR" b="1" dirty="0"/>
          </a:p>
        </p:txBody>
      </p:sp>
      <p:sp>
        <p:nvSpPr>
          <p:cNvPr id="6" name="Flecha: cheurón 5">
            <a:extLst>
              <a:ext uri="{FF2B5EF4-FFF2-40B4-BE49-F238E27FC236}">
                <a16:creationId xmlns:a16="http://schemas.microsoft.com/office/drawing/2014/main" id="{80B02489-7870-27D8-5C81-82076E576716}"/>
              </a:ext>
            </a:extLst>
          </p:cNvPr>
          <p:cNvSpPr/>
          <p:nvPr/>
        </p:nvSpPr>
        <p:spPr>
          <a:xfrm>
            <a:off x="4500677" y="4840904"/>
            <a:ext cx="1592826" cy="882292"/>
          </a:xfrm>
          <a:prstGeom prst="chevron">
            <a:avLst>
              <a:gd name="adj" fmla="val 21723"/>
            </a:avLst>
          </a:prstGeom>
          <a:solidFill>
            <a:srgbClr val="FF0000">
              <a:alpha val="20000"/>
            </a:srgbClr>
          </a:solidFill>
          <a:ln>
            <a:solidFill>
              <a:srgbClr val="FF0000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Hard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7" name="Flecha: cheurón 6">
            <a:extLst>
              <a:ext uri="{FF2B5EF4-FFF2-40B4-BE49-F238E27FC236}">
                <a16:creationId xmlns:a16="http://schemas.microsoft.com/office/drawing/2014/main" id="{81C9A88E-BEC1-E608-E1FD-2EA17820DEEE}"/>
              </a:ext>
            </a:extLst>
          </p:cNvPr>
          <p:cNvSpPr/>
          <p:nvPr/>
        </p:nvSpPr>
        <p:spPr>
          <a:xfrm>
            <a:off x="2907851" y="4837471"/>
            <a:ext cx="1592826" cy="882292"/>
          </a:xfrm>
          <a:prstGeom prst="chevron">
            <a:avLst>
              <a:gd name="adj" fmla="val 21723"/>
            </a:avLst>
          </a:prstGeom>
          <a:solidFill>
            <a:srgbClr val="FFFF00"/>
          </a:solidFill>
          <a:ln>
            <a:solidFill>
              <a:srgbClr val="FFFF00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Soft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8" name="Flecha: cheurón 7">
            <a:extLst>
              <a:ext uri="{FF2B5EF4-FFF2-40B4-BE49-F238E27FC236}">
                <a16:creationId xmlns:a16="http://schemas.microsoft.com/office/drawing/2014/main" id="{9FF85188-3D4A-ED21-FD6E-83BF11425F8B}"/>
              </a:ext>
            </a:extLst>
          </p:cNvPr>
          <p:cNvSpPr/>
          <p:nvPr/>
        </p:nvSpPr>
        <p:spPr>
          <a:xfrm>
            <a:off x="1315025" y="4837471"/>
            <a:ext cx="1592826" cy="882292"/>
          </a:xfrm>
          <a:prstGeom prst="chevron">
            <a:avLst>
              <a:gd name="adj" fmla="val 21723"/>
            </a:avLst>
          </a:prstGeom>
          <a:solidFill>
            <a:schemeClr val="accent6">
              <a:alpha val="2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Non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6AC4DEE-2A1B-42AF-F122-33475CD50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393" y="2835144"/>
            <a:ext cx="2654709" cy="110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icrosoft DirectX Logo PNG Vector (SVG) Free Download">
            <a:extLst>
              <a:ext uri="{FF2B5EF4-FFF2-40B4-BE49-F238E27FC236}">
                <a16:creationId xmlns:a16="http://schemas.microsoft.com/office/drawing/2014/main" id="{D6797911-7281-6F35-A28E-E731091D17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84" b="29048"/>
          <a:stretch/>
        </p:blipFill>
        <p:spPr bwMode="auto">
          <a:xfrm>
            <a:off x="9003260" y="3942922"/>
            <a:ext cx="2500482" cy="1029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FCF93C1-56FA-094F-D348-8400BD184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9372" y="4977143"/>
            <a:ext cx="1307775" cy="130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710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ECDF-B40D-1E25-72A0-35B99BBCD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9846785-E1D1-1CCE-E0F1-7442066D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9C39CED-7683-5650-A9BE-D724C5CB8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cada una de estas aplicaciones, se utilizan distintos tipos de Sistemas Operativos</a:t>
            </a:r>
          </a:p>
          <a:p>
            <a:endParaRPr lang="es-ES" dirty="0"/>
          </a:p>
          <a:p>
            <a:pPr lvl="1"/>
            <a:r>
              <a:rPr lang="es-ES" dirty="0"/>
              <a:t>Sistemas operativos de propósito general</a:t>
            </a:r>
          </a:p>
          <a:p>
            <a:pPr lvl="1"/>
            <a:r>
              <a:rPr lang="es-ES" dirty="0"/>
              <a:t>Extensiones multimedia</a:t>
            </a:r>
            <a:endParaRPr lang="es-ES" b="1" dirty="0"/>
          </a:p>
          <a:p>
            <a:pPr lvl="1"/>
            <a:r>
              <a:rPr lang="es-ES" b="1" dirty="0"/>
              <a:t>Sistema operativo de tiempo real</a:t>
            </a:r>
          </a:p>
          <a:p>
            <a:pPr lvl="1"/>
            <a:endParaRPr lang="es-AR" b="1" dirty="0"/>
          </a:p>
        </p:txBody>
      </p:sp>
      <p:sp>
        <p:nvSpPr>
          <p:cNvPr id="6" name="Flecha: cheurón 5">
            <a:extLst>
              <a:ext uri="{FF2B5EF4-FFF2-40B4-BE49-F238E27FC236}">
                <a16:creationId xmlns:a16="http://schemas.microsoft.com/office/drawing/2014/main" id="{B6D908EE-AEAE-F0A3-E451-444B1D007A09}"/>
              </a:ext>
            </a:extLst>
          </p:cNvPr>
          <p:cNvSpPr/>
          <p:nvPr/>
        </p:nvSpPr>
        <p:spPr>
          <a:xfrm>
            <a:off x="4500677" y="4840904"/>
            <a:ext cx="1592826" cy="882292"/>
          </a:xfrm>
          <a:prstGeom prst="chevron">
            <a:avLst>
              <a:gd name="adj" fmla="val 21723"/>
            </a:avLst>
          </a:prstGeom>
          <a:solidFill>
            <a:srgbClr val="FF0000"/>
          </a:solidFill>
          <a:ln>
            <a:solidFill>
              <a:srgbClr val="FF0000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Hard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7" name="Flecha: cheurón 6">
            <a:extLst>
              <a:ext uri="{FF2B5EF4-FFF2-40B4-BE49-F238E27FC236}">
                <a16:creationId xmlns:a16="http://schemas.microsoft.com/office/drawing/2014/main" id="{07D2343D-14FD-0728-6BE8-9974F233C4D9}"/>
              </a:ext>
            </a:extLst>
          </p:cNvPr>
          <p:cNvSpPr/>
          <p:nvPr/>
        </p:nvSpPr>
        <p:spPr>
          <a:xfrm>
            <a:off x="2907851" y="4837471"/>
            <a:ext cx="1592826" cy="882292"/>
          </a:xfrm>
          <a:prstGeom prst="chevron">
            <a:avLst>
              <a:gd name="adj" fmla="val 21723"/>
            </a:avLst>
          </a:prstGeom>
          <a:solidFill>
            <a:srgbClr val="FFFF00">
              <a:alpha val="20000"/>
            </a:srgbClr>
          </a:solidFill>
          <a:ln>
            <a:solidFill>
              <a:srgbClr val="FFFF00"/>
            </a:solidFill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chemeClr val="tx1"/>
                </a:solidFill>
              </a:rPr>
              <a:t>Soft</a:t>
            </a:r>
            <a:endParaRPr lang="es-ES" dirty="0">
              <a:solidFill>
                <a:schemeClr val="tx1"/>
              </a:solidFill>
            </a:endParaRP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8" name="Flecha: cheurón 7">
            <a:extLst>
              <a:ext uri="{FF2B5EF4-FFF2-40B4-BE49-F238E27FC236}">
                <a16:creationId xmlns:a16="http://schemas.microsoft.com/office/drawing/2014/main" id="{710ED5B8-7497-2AF0-38AA-320D1D245DD6}"/>
              </a:ext>
            </a:extLst>
          </p:cNvPr>
          <p:cNvSpPr/>
          <p:nvPr/>
        </p:nvSpPr>
        <p:spPr>
          <a:xfrm>
            <a:off x="1315025" y="4837471"/>
            <a:ext cx="1592826" cy="882292"/>
          </a:xfrm>
          <a:prstGeom prst="chevron">
            <a:avLst>
              <a:gd name="adj" fmla="val 21723"/>
            </a:avLst>
          </a:prstGeom>
          <a:solidFill>
            <a:schemeClr val="accent6">
              <a:alpha val="2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Non</a:t>
            </a:r>
          </a:p>
          <a:p>
            <a:pPr algn="ctr"/>
            <a:r>
              <a:rPr lang="es-ES" dirty="0">
                <a:solidFill>
                  <a:schemeClr val="tx1"/>
                </a:solidFill>
              </a:rPr>
              <a:t>Real-time</a:t>
            </a:r>
            <a:endParaRPr lang="es-AR" dirty="0">
              <a:solidFill>
                <a:schemeClr val="tx1"/>
              </a:solidFill>
            </a:endParaRPr>
          </a:p>
        </p:txBody>
      </p:sp>
      <p:pic>
        <p:nvPicPr>
          <p:cNvPr id="3074" name="Picture 2" descr="Wyliodrin - IoT Solutions for industry and education">
            <a:extLst>
              <a:ext uri="{FF2B5EF4-FFF2-40B4-BE49-F238E27FC236}">
                <a16:creationId xmlns:a16="http://schemas.microsoft.com/office/drawing/2014/main" id="{F02D4915-BD81-F140-7D66-962F31C96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3848" y="3772252"/>
            <a:ext cx="2083210" cy="81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VE-2024-35213: Critical Vulnerability Discovered in BlackBerry QNX SDP">
            <a:extLst>
              <a:ext uri="{FF2B5EF4-FFF2-40B4-BE49-F238E27FC236}">
                <a16:creationId xmlns:a16="http://schemas.microsoft.com/office/drawing/2014/main" id="{A18685D5-8413-E12E-B5FD-4D767C2691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9" t="21476" r="8911" b="34793"/>
          <a:stretch/>
        </p:blipFill>
        <p:spPr bwMode="auto">
          <a:xfrm>
            <a:off x="7536982" y="2603853"/>
            <a:ext cx="3373732" cy="648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NuttX Logos — NuttX latest documentation">
            <a:extLst>
              <a:ext uri="{FF2B5EF4-FFF2-40B4-BE49-F238E27FC236}">
                <a16:creationId xmlns:a16="http://schemas.microsoft.com/office/drawing/2014/main" id="{581A6B23-DD0D-978D-6977-205517953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265" y="3429000"/>
            <a:ext cx="1463777" cy="158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VxWorks - Advantech">
            <a:extLst>
              <a:ext uri="{FF2B5EF4-FFF2-40B4-BE49-F238E27FC236}">
                <a16:creationId xmlns:a16="http://schemas.microsoft.com/office/drawing/2014/main" id="{1BEA5E8E-385C-8C53-11CA-B9FF1364BD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14" b="20102"/>
          <a:stretch/>
        </p:blipFill>
        <p:spPr bwMode="auto">
          <a:xfrm>
            <a:off x="7789875" y="5198512"/>
            <a:ext cx="3517183" cy="97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26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9B6E0-2D44-CD9C-BB60-C7675FEA3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700B005-FC48-891B-3481-0BBAD7C91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Definición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3B03715-E505-4DF7-1140-156796ECC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62252" cy="4351338"/>
          </a:xfrm>
        </p:spPr>
        <p:txBody>
          <a:bodyPr>
            <a:normAutofit/>
          </a:bodyPr>
          <a:lstStyle/>
          <a:p>
            <a:r>
              <a:rPr lang="es-ES" sz="3600" dirty="0"/>
              <a:t>Sistema en tiempo real:</a:t>
            </a:r>
          </a:p>
          <a:p>
            <a:pPr marL="0" indent="0" algn="ctr">
              <a:buNone/>
            </a:pPr>
            <a:r>
              <a:rPr lang="es-ES" sz="3600" i="1" dirty="0"/>
              <a:t>Un sistema informático en tiempo real es aquel en el que la corrección del resultado depende tanto de su validez lógica como del instante en que se produce</a:t>
            </a:r>
          </a:p>
        </p:txBody>
      </p:sp>
      <p:pic>
        <p:nvPicPr>
          <p:cNvPr id="4098" name="Picture 2" descr="Real time - Free technology icons">
            <a:extLst>
              <a:ext uri="{FF2B5EF4-FFF2-40B4-BE49-F238E27FC236}">
                <a16:creationId xmlns:a16="http://schemas.microsoft.com/office/drawing/2014/main" id="{067EC140-C502-EEBC-C1F9-F2A2745B1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157" y="1690688"/>
            <a:ext cx="4075878" cy="407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06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75C88-F658-54A0-3B3D-B413B6F9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DFA6A02-CB31-CF64-08CF-C267191E3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Definición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77A99EE-2666-EE28-BC2D-77380BC44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62252" cy="4351338"/>
          </a:xfrm>
        </p:spPr>
        <p:txBody>
          <a:bodyPr>
            <a:normAutofit/>
          </a:bodyPr>
          <a:lstStyle/>
          <a:p>
            <a:r>
              <a:rPr lang="es-ES" sz="3600" dirty="0"/>
              <a:t>Para garantizar el tiempo de respuesta el sistema necesita </a:t>
            </a:r>
            <a:r>
              <a:rPr lang="es-ES" sz="3600" b="1" dirty="0"/>
              <a:t>determinismo</a:t>
            </a:r>
          </a:p>
          <a:p>
            <a:r>
              <a:rPr lang="es-ES" sz="3600" dirty="0"/>
              <a:t>Esto implica tiempos de ejecución acotados, de forma de poder garantizar </a:t>
            </a:r>
            <a:r>
              <a:rPr lang="es-ES" sz="3600" b="1" dirty="0"/>
              <a:t>restricciones temporales</a:t>
            </a:r>
          </a:p>
        </p:txBody>
      </p:sp>
      <p:pic>
        <p:nvPicPr>
          <p:cNvPr id="5122" name="Picture 2" descr="Time management - Free time and date icons">
            <a:extLst>
              <a:ext uri="{FF2B5EF4-FFF2-40B4-BE49-F238E27FC236}">
                <a16:creationId xmlns:a16="http://schemas.microsoft.com/office/drawing/2014/main" id="{FDB22414-4821-7AEF-A322-ADF04CCEF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548" y="1690688"/>
            <a:ext cx="3960604" cy="396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151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3D47F-2EB3-546E-C164-A19B74B24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795C234-61B3-8290-C648-E1B9F427B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9068EA-5C0F-EFE8-F53A-E2574487F353}"/>
              </a:ext>
            </a:extLst>
          </p:cNvPr>
          <p:cNvSpPr txBox="1"/>
          <p:nvPr/>
        </p:nvSpPr>
        <p:spPr>
          <a:xfrm>
            <a:off x="1531980" y="3167390"/>
            <a:ext cx="3442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800" b="1" i="0" dirty="0">
                <a:effectLst/>
                <a:latin typeface="MentiText"/>
              </a:rPr>
              <a:t>Código: 8562 9400</a:t>
            </a:r>
            <a:endParaRPr lang="es-AR" sz="2800" dirty="0"/>
          </a:p>
        </p:txBody>
      </p:sp>
      <p:pic>
        <p:nvPicPr>
          <p:cNvPr id="11" name="Imagen 10" descr="Código QR&#10;&#10;El contenido generado por IA puede ser incorrecto.">
            <a:extLst>
              <a:ext uri="{FF2B5EF4-FFF2-40B4-BE49-F238E27FC236}">
                <a16:creationId xmlns:a16="http://schemas.microsoft.com/office/drawing/2014/main" id="{C505A308-882A-7829-541E-C738869E5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240" y="1690688"/>
            <a:ext cx="4281780" cy="428178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3E37D03-7598-DABC-FBC4-9CF3E9780D96}"/>
              </a:ext>
            </a:extLst>
          </p:cNvPr>
          <p:cNvSpPr txBox="1"/>
          <p:nvPr/>
        </p:nvSpPr>
        <p:spPr>
          <a:xfrm>
            <a:off x="838201" y="2462670"/>
            <a:ext cx="48300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3200" dirty="0"/>
              <a:t>https://www.menti.com/</a:t>
            </a:r>
          </a:p>
        </p:txBody>
      </p:sp>
      <p:pic>
        <p:nvPicPr>
          <p:cNvPr id="16386" name="Picture 2" descr="Mentimeter • cristic">
            <a:extLst>
              <a:ext uri="{FF2B5EF4-FFF2-40B4-BE49-F238E27FC236}">
                <a16:creationId xmlns:a16="http://schemas.microsoft.com/office/drawing/2014/main" id="{C86BCEC7-60BF-E7A0-9F92-ECE32E27B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1" y="342162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330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E284-D33A-60CB-A9FD-6521BD356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6081EBB-93CE-1C69-EDCA-73066DA31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Definición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D7FA780-D6DC-2944-0899-110908483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62252" cy="4351338"/>
          </a:xfrm>
        </p:spPr>
        <p:txBody>
          <a:bodyPr>
            <a:normAutofit/>
          </a:bodyPr>
          <a:lstStyle/>
          <a:p>
            <a:r>
              <a:rPr lang="es-ES" sz="3600" dirty="0"/>
              <a:t>Conviene destacar que un sistema de control en tiempo real no es necesariamente un sistema “rápido”.</a:t>
            </a:r>
          </a:p>
          <a:p>
            <a:r>
              <a:rPr lang="es-ES" sz="3600" dirty="0"/>
              <a:t>La velocidad tiene que ser tal que se ajuste a las restricciones temporales del sistema al que aplica.</a:t>
            </a:r>
          </a:p>
        </p:txBody>
      </p:sp>
      <p:pic>
        <p:nvPicPr>
          <p:cNvPr id="6146" name="Picture 2" descr="Rápido - Iconos gratis de interfaz">
            <a:extLst>
              <a:ext uri="{FF2B5EF4-FFF2-40B4-BE49-F238E27FC236}">
                <a16:creationId xmlns:a16="http://schemas.microsoft.com/office/drawing/2014/main" id="{D8BC94B8-D0DD-B1A7-5C14-84E7655B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0071" y="1690688"/>
            <a:ext cx="4023779" cy="4023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9158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2BC07-F95F-C0F1-4823-74CDFECBE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F9EBC07-0290-DDA8-FC4D-088F44EE9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Niveles jerárquicos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CA565CD-BE9F-3A3F-D677-41F3B72E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9531" cy="4351338"/>
          </a:xfrm>
        </p:spPr>
        <p:txBody>
          <a:bodyPr>
            <a:normAutofit/>
          </a:bodyPr>
          <a:lstStyle/>
          <a:p>
            <a:r>
              <a:rPr lang="es-ES" sz="3600" dirty="0"/>
              <a:t>En los sistemas de control es frecuente encontrar software divido en niveles jerárquicos:</a:t>
            </a:r>
          </a:p>
          <a:p>
            <a:pPr lvl="1"/>
            <a:r>
              <a:rPr lang="es-ES" sz="3200" dirty="0"/>
              <a:t>Adquisición de datos y actuadores</a:t>
            </a:r>
          </a:p>
          <a:p>
            <a:pPr lvl="1"/>
            <a:r>
              <a:rPr lang="es-ES" sz="3200" dirty="0"/>
              <a:t>Algoritmos de control (PID)</a:t>
            </a:r>
          </a:p>
          <a:p>
            <a:pPr lvl="1"/>
            <a:r>
              <a:rPr lang="es-ES" sz="3200" dirty="0"/>
              <a:t>Algoritmos de supervisión (trayectorias)</a:t>
            </a:r>
          </a:p>
          <a:p>
            <a:pPr lvl="1"/>
            <a:r>
              <a:rPr lang="es-ES" sz="3200" dirty="0"/>
              <a:t>Interfaz de usuario, registro de datos</a:t>
            </a:r>
          </a:p>
          <a:p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1181802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1DA6-C743-EEB6-0E94-7D60D047E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EA7600C-D0E0-2FE1-6196-3F5D8F5B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Niveles jerárquicos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5A5CB58-B742-C999-7E62-BC144251A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72317" cy="4351338"/>
          </a:xfrm>
        </p:spPr>
        <p:txBody>
          <a:bodyPr>
            <a:normAutofit/>
          </a:bodyPr>
          <a:lstStyle/>
          <a:p>
            <a:r>
              <a:rPr lang="es-ES" sz="3600" dirty="0"/>
              <a:t>Adquisición de datos y actuadores:</a:t>
            </a:r>
          </a:p>
          <a:p>
            <a:pPr lvl="1"/>
            <a:r>
              <a:rPr lang="es-ES" sz="3200" dirty="0"/>
              <a:t>Este es el nivel más bajo en la jerarquía, encargado de interactuar con el hardware del sistema a controlar. </a:t>
            </a:r>
          </a:p>
        </p:txBody>
      </p:sp>
      <p:pic>
        <p:nvPicPr>
          <p:cNvPr id="2" name="Picture 2" descr="Fluid Control Services – Valve &amp; Automation Solutions">
            <a:extLst>
              <a:ext uri="{FF2B5EF4-FFF2-40B4-BE49-F238E27FC236}">
                <a16:creationId xmlns:a16="http://schemas.microsoft.com/office/drawing/2014/main" id="{41A578D5-C2FF-7BB4-3A0B-222756FBA5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" t="19582" r="7947" b="26066"/>
          <a:stretch/>
        </p:blipFill>
        <p:spPr bwMode="auto">
          <a:xfrm>
            <a:off x="7702020" y="1653410"/>
            <a:ext cx="3248355" cy="2090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Instrumentation P&amp;ID symbols - EnggCyclopedia">
            <a:extLst>
              <a:ext uri="{FF2B5EF4-FFF2-40B4-BE49-F238E27FC236}">
                <a16:creationId xmlns:a16="http://schemas.microsoft.com/office/drawing/2014/main" id="{73E476CF-AEAE-9F5A-BE29-0A4B0B210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212" y="3743792"/>
            <a:ext cx="2061969" cy="227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427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17A24-5365-93A0-7C52-1DBDC115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31EDAB9-7683-5233-B5A6-2F9EB467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Niveles jerárquicos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FBF57B2-64E5-7BB7-C6B1-33F33DDD8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72317" cy="4351338"/>
          </a:xfrm>
        </p:spPr>
        <p:txBody>
          <a:bodyPr>
            <a:normAutofit/>
          </a:bodyPr>
          <a:lstStyle/>
          <a:p>
            <a:r>
              <a:rPr lang="es-ES" sz="3600" dirty="0"/>
              <a:t>Algoritmos de control (PID):</a:t>
            </a:r>
          </a:p>
          <a:p>
            <a:pPr lvl="1"/>
            <a:r>
              <a:rPr lang="es-ES" sz="3200" dirty="0"/>
              <a:t>Este nivel se corresponde con los algoritmos de control que, a partir de las medidas obtenidas por el sistema de adquisición de datos.</a:t>
            </a:r>
          </a:p>
        </p:txBody>
      </p:sp>
      <p:pic>
        <p:nvPicPr>
          <p:cNvPr id="8196" name="Picture 4" descr="Process units in Sumo | Dynamita Wiki">
            <a:extLst>
              <a:ext uri="{FF2B5EF4-FFF2-40B4-BE49-F238E27FC236}">
                <a16:creationId xmlns:a16="http://schemas.microsoft.com/office/drawing/2014/main" id="{0FEB380D-B5C0-6A7D-FBFC-B347537EE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245" y="1690688"/>
            <a:ext cx="4145093" cy="4145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380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F88D1-31DD-9CE6-59B8-A5825859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9C2CD0E-4E63-13EF-0092-327689845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Niveles jerárquicos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FB49CC4-C410-9B3D-B198-1BA44BB08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72317" cy="4351338"/>
          </a:xfrm>
        </p:spPr>
        <p:txBody>
          <a:bodyPr>
            <a:normAutofit/>
          </a:bodyPr>
          <a:lstStyle/>
          <a:p>
            <a:r>
              <a:rPr lang="es-ES" sz="3600" dirty="0"/>
              <a:t>Algoritmos de supervisión:</a:t>
            </a:r>
          </a:p>
          <a:p>
            <a:pPr lvl="1"/>
            <a:r>
              <a:rPr lang="es-ES" sz="3200" dirty="0"/>
              <a:t>En general, se encarga de supervisar el proceso y generar consignas a los controles inferiores.</a:t>
            </a:r>
          </a:p>
        </p:txBody>
      </p:sp>
      <p:pic>
        <p:nvPicPr>
          <p:cNvPr id="9218" name="Picture 2" descr="Scada Icons - Free SVG &amp; PNG Scada Images - Noun Project">
            <a:extLst>
              <a:ext uri="{FF2B5EF4-FFF2-40B4-BE49-F238E27FC236}">
                <a16:creationId xmlns:a16="http://schemas.microsoft.com/office/drawing/2014/main" id="{49935C7C-AC40-DAEA-E680-CFE3C08EC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296" y="1406627"/>
            <a:ext cx="4044745" cy="404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099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41BB-482D-FA7E-F416-BCE525744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20F3EAF-F638-9AA6-570F-C68C84758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Niveles jerárquicos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1DBA5B8-102C-B731-3EF2-A663F6D27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872317" cy="4351338"/>
          </a:xfrm>
        </p:spPr>
        <p:txBody>
          <a:bodyPr>
            <a:normAutofit/>
          </a:bodyPr>
          <a:lstStyle/>
          <a:p>
            <a:r>
              <a:rPr lang="es-ES" sz="3600" dirty="0"/>
              <a:t>Interfaz de usuario:</a:t>
            </a:r>
          </a:p>
          <a:p>
            <a:pPr lvl="1"/>
            <a:r>
              <a:rPr lang="es-ES" sz="3200" dirty="0"/>
              <a:t>Este nivel se corresponde con los algoritmos de control que, a partir de las medidas obtenidas por el sistema de adquisición de datos.</a:t>
            </a:r>
          </a:p>
          <a:p>
            <a:endParaRPr lang="es-ES" sz="3600" dirty="0"/>
          </a:p>
        </p:txBody>
      </p:sp>
      <p:pic>
        <p:nvPicPr>
          <p:cNvPr id="10242" name="Picture 2" descr="Human-Computer-Interface Icons - Free SVG &amp; PNG Human-Computer-Interface  Images - Noun Project">
            <a:extLst>
              <a:ext uri="{FF2B5EF4-FFF2-40B4-BE49-F238E27FC236}">
                <a16:creationId xmlns:a16="http://schemas.microsoft.com/office/drawing/2014/main" id="{911CC258-F4F7-5C2C-0E66-C8341FF34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420" y="1432810"/>
            <a:ext cx="3992380" cy="3992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5762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9FF79-3531-D24F-E666-7AA43D95B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0F3FB3F-059E-BD05-BB8C-F79E73C6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Tareas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941018E-BA99-62C4-9887-34DC465CB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14420" cy="4351338"/>
          </a:xfrm>
        </p:spPr>
        <p:txBody>
          <a:bodyPr>
            <a:normAutofit lnSpcReduction="10000"/>
          </a:bodyPr>
          <a:lstStyle/>
          <a:p>
            <a:r>
              <a:rPr lang="es-ES" sz="3600" dirty="0"/>
              <a:t>El paralelismo es una característica inherente a los sistemas en tiempo real. </a:t>
            </a:r>
          </a:p>
          <a:p>
            <a:r>
              <a:rPr lang="es-ES" sz="3600" dirty="0"/>
              <a:t>En un sistema en tiempo real el programa se divide en tareas que se ejecutan en paralelo, cada una de ellas con una determinada prioridad, para poder cumplir con sus restricciones temporales.</a:t>
            </a:r>
          </a:p>
        </p:txBody>
      </p:sp>
      <p:pic>
        <p:nvPicPr>
          <p:cNvPr id="11266" name="Picture 2" descr="Flat Design Illustration Of Progress Bars With A Clock Icon Green Red  Yellow Suitable For Element">
            <a:extLst>
              <a:ext uri="{FF2B5EF4-FFF2-40B4-BE49-F238E27FC236}">
                <a16:creationId xmlns:a16="http://schemas.microsoft.com/office/drawing/2014/main" id="{C9E82749-513C-E0AA-0104-827A19DA9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2620" y="1825625"/>
            <a:ext cx="3802141" cy="380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8805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E27C6-3D85-A99E-BCE0-E756023B0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685463D-CBF0-D84F-752A-73C7A37E2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Tareas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8213939-047F-404C-E030-8AD92E989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14420" cy="4351338"/>
          </a:xfrm>
        </p:spPr>
        <p:txBody>
          <a:bodyPr>
            <a:normAutofit/>
          </a:bodyPr>
          <a:lstStyle/>
          <a:p>
            <a:r>
              <a:rPr lang="es-ES" sz="3600" dirty="0"/>
              <a:t>Salvo que se disponga de un sistema con varios procesadores, la ejecución en paralelo se consigue mediante la sucesión rápida de ejecuciones parciales de las tareas</a:t>
            </a:r>
          </a:p>
        </p:txBody>
      </p:sp>
      <p:pic>
        <p:nvPicPr>
          <p:cNvPr id="12290" name="Picture 2" descr="Multitasking Icons - Free SVG &amp; PNG Multitasking Images - Noun Project">
            <a:extLst>
              <a:ext uri="{FF2B5EF4-FFF2-40B4-BE49-F238E27FC236}">
                <a16:creationId xmlns:a16="http://schemas.microsoft.com/office/drawing/2014/main" id="{92BDFAEB-AF4C-29E3-FD67-7DFB60FDC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700" y="1690688"/>
            <a:ext cx="3655726" cy="365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245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64D45-3802-5611-AB29-BBF016C62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C9B9338-664F-753F-BD19-4D60A8402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Métodos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E7C64C7-03B5-C7AC-892A-D7838A7FC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59452" cy="4351338"/>
          </a:xfrm>
        </p:spPr>
        <p:txBody>
          <a:bodyPr>
            <a:normAutofit/>
          </a:bodyPr>
          <a:lstStyle/>
          <a:p>
            <a:r>
              <a:rPr lang="es-ES" sz="3600"/>
              <a:t>Existen varias técnicas de programación para ejecutar tareas en paralelo:</a:t>
            </a:r>
          </a:p>
          <a:p>
            <a:pPr lvl="1"/>
            <a:r>
              <a:rPr lang="es-ES" sz="3200"/>
              <a:t>Procesamiento secuencial (Bucle de scan).</a:t>
            </a:r>
          </a:p>
          <a:p>
            <a:pPr lvl="1"/>
            <a:r>
              <a:rPr lang="es-ES" sz="3200"/>
              <a:t>Primer plano / segundo plano  (Foreground/Background).</a:t>
            </a:r>
          </a:p>
          <a:p>
            <a:pPr lvl="1"/>
            <a:r>
              <a:rPr lang="es-ES" sz="3200"/>
              <a:t>Multitarea cooperativa.</a:t>
            </a:r>
          </a:p>
          <a:p>
            <a:pPr lvl="1"/>
            <a:r>
              <a:rPr lang="es-ES" sz="3200"/>
              <a:t>Multitarea expropiativa (preemptive).</a:t>
            </a:r>
            <a:endParaRPr lang="es-ES" sz="3200" dirty="0"/>
          </a:p>
        </p:txBody>
      </p:sp>
      <p:pic>
        <p:nvPicPr>
          <p:cNvPr id="13314" name="Picture 2" descr="Multitask - Free education icons">
            <a:extLst>
              <a:ext uri="{FF2B5EF4-FFF2-40B4-BE49-F238E27FC236}">
                <a16:creationId xmlns:a16="http://schemas.microsoft.com/office/drawing/2014/main" id="{DCADED34-0617-E027-9437-CFA14B616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659" y="3659734"/>
            <a:ext cx="2833141" cy="2833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023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F57FE-2E1E-C02C-AFEF-A09999D8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F2D600E-4912-EE04-2A4E-1AFBABE0B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Procesamiento secuencial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C2C94C1-0709-5592-F06A-38C879DCC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0935" cy="4351338"/>
          </a:xfrm>
        </p:spPr>
        <p:txBody>
          <a:bodyPr>
            <a:normAutofit/>
          </a:bodyPr>
          <a:lstStyle/>
          <a:p>
            <a:r>
              <a:rPr lang="es-ES" sz="3600" dirty="0"/>
              <a:t>Consiste en ejecutar todas las tareas consecutivamente una y otra vez dentro de un bucle infinito.</a:t>
            </a:r>
            <a:endParaRPr lang="es-ES" sz="3200" dirty="0"/>
          </a:p>
        </p:txBody>
      </p:sp>
      <p:pic>
        <p:nvPicPr>
          <p:cNvPr id="14338" name="Picture 2" descr="Loop icon - Free download on Iconfinder">
            <a:extLst>
              <a:ext uri="{FF2B5EF4-FFF2-40B4-BE49-F238E27FC236}">
                <a16:creationId xmlns:a16="http://schemas.microsoft.com/office/drawing/2014/main" id="{9A0415DF-001E-4C8C-097F-620A6F8CD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183" y="4475579"/>
            <a:ext cx="1701384" cy="1701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14414BD-AD7E-481D-1980-60C64F675DA1}"/>
              </a:ext>
            </a:extLst>
          </p:cNvPr>
          <p:cNvSpPr txBox="1"/>
          <p:nvPr/>
        </p:nvSpPr>
        <p:spPr>
          <a:xfrm>
            <a:off x="5619135" y="2262356"/>
            <a:ext cx="573712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AR" sz="22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Inicialización del sistema */</a:t>
            </a:r>
            <a:br>
              <a:rPr lang="es-AR" sz="22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AR" sz="2200" i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s-AR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(1){ </a:t>
            </a:r>
            <a:r>
              <a:rPr lang="es-AR" sz="22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Bucle infinito */</a:t>
            </a:r>
            <a:br>
              <a:rPr lang="es-AR" sz="22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AR" sz="22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Tarea1();</a:t>
            </a:r>
            <a:b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Tarea2();</a:t>
            </a:r>
            <a:b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s-AR" sz="22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/* ... */</a:t>
            </a:r>
            <a:br>
              <a:rPr lang="es-AR" sz="22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AR" sz="22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lang="es-AR" sz="22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TareaN</a:t>
            </a:r>
            <a: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AR" sz="22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AR" sz="2200" dirty="0"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3806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D080B-A59A-5522-4E5E-3D53A450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8F4B6ED-EF4E-9A00-9E49-193BA17B2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Procesamiento secuencial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7D826CA3-A397-E79E-BC71-2602219505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0935" cy="4351338"/>
          </a:xfrm>
        </p:spPr>
        <p:txBody>
          <a:bodyPr>
            <a:normAutofit/>
          </a:bodyPr>
          <a:lstStyle/>
          <a:p>
            <a:r>
              <a:rPr lang="es-ES" sz="3600" dirty="0"/>
              <a:t>Condiciones:</a:t>
            </a:r>
          </a:p>
          <a:p>
            <a:pPr lvl="1"/>
            <a:r>
              <a:rPr lang="es-ES" sz="2800" dirty="0"/>
              <a:t>Las tareas no pueden bloquearse</a:t>
            </a:r>
          </a:p>
          <a:p>
            <a:pPr lvl="1"/>
            <a:r>
              <a:rPr lang="es-ES" sz="2800" dirty="0"/>
              <a:t>La sumatoria de los tiempos máximos de ejecución de cada tarea debe ser inferior al período de muestreo necesario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263892E-2508-6604-A458-71D57AEDF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610" y="4001294"/>
            <a:ext cx="4761905" cy="16558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9ED9EB8-B46F-32E8-0D40-EC53FE47E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611" y="2120615"/>
            <a:ext cx="4761905" cy="1655829"/>
          </a:xfrm>
          <a:prstGeom prst="rect">
            <a:avLst/>
          </a:prstGeom>
        </p:spPr>
      </p:pic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059EACAC-166D-6280-FDAD-D73BEF0DF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3231" y="4291779"/>
            <a:ext cx="780568" cy="780568"/>
          </a:xfrm>
          <a:prstGeom prst="rect">
            <a:avLst/>
          </a:prstGeom>
        </p:spPr>
      </p:pic>
      <p:pic>
        <p:nvPicPr>
          <p:cNvPr id="14" name="Imagen 13" descr="Imagen que contiene firmar, dibujo, reloj, calle&#10;&#10;El contenido generado por IA puede ser incorrecto.">
            <a:extLst>
              <a:ext uri="{FF2B5EF4-FFF2-40B4-BE49-F238E27FC236}">
                <a16:creationId xmlns:a16="http://schemas.microsoft.com/office/drawing/2014/main" id="{30604D2D-494B-BA64-4652-F7B34D686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8258" y="2322693"/>
            <a:ext cx="780568" cy="78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188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B465E-4810-C761-57F5-17E685E44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D30E65E-0A47-9E44-377C-7F2E617F3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Ejemplo: Termostato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0EB114E-8B40-123A-6FAB-6316B1E07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6902" cy="4351338"/>
          </a:xfrm>
        </p:spPr>
        <p:txBody>
          <a:bodyPr>
            <a:normAutofit/>
          </a:bodyPr>
          <a:lstStyle/>
          <a:p>
            <a:r>
              <a:rPr lang="es-ES" sz="3600" dirty="0"/>
              <a:t>Funcionalidad:</a:t>
            </a:r>
          </a:p>
          <a:p>
            <a:pPr lvl="1"/>
            <a:r>
              <a:rPr lang="es-ES" sz="2800" dirty="0"/>
              <a:t>A partir de una consigna de temperatura, la cual puede ser ajustada mediante los pulsadores (+) y (-), el termostato activa o desactiva su salida para controlar un climatizador.</a:t>
            </a:r>
          </a:p>
          <a:p>
            <a:r>
              <a:rPr lang="es-ES" sz="3200" dirty="0"/>
              <a:t>Proyecto: td3_barem_01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55046CE-8FF4-EB03-CBC8-0A20C5AC9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825" y="2119312"/>
            <a:ext cx="360997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830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FCF3D-3F1B-F133-9A6F-7AB4AF94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AEDE1DB-2F94-9B1F-215D-87D57C1EB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3BD94D-710F-51BF-4F78-BEBF6CCA7915}"/>
              </a:ext>
            </a:extLst>
          </p:cNvPr>
          <p:cNvSpPr txBox="1"/>
          <p:nvPr/>
        </p:nvSpPr>
        <p:spPr>
          <a:xfrm>
            <a:off x="1531980" y="3167390"/>
            <a:ext cx="34425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2800" b="1" i="0" dirty="0">
                <a:effectLst/>
                <a:latin typeface="MentiText"/>
              </a:rPr>
              <a:t>Código: 8562 9400</a:t>
            </a:r>
            <a:endParaRPr lang="es-AR" sz="2800" dirty="0"/>
          </a:p>
        </p:txBody>
      </p:sp>
      <p:pic>
        <p:nvPicPr>
          <p:cNvPr id="11" name="Imagen 10" descr="Código QR&#10;&#10;El contenido generado por IA puede ser incorrecto.">
            <a:extLst>
              <a:ext uri="{FF2B5EF4-FFF2-40B4-BE49-F238E27FC236}">
                <a16:creationId xmlns:a16="http://schemas.microsoft.com/office/drawing/2014/main" id="{CA5A676B-062E-4B67-4093-615EFA813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240" y="1690688"/>
            <a:ext cx="4281780" cy="428178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1A1AF72-F799-194C-C5BE-1007678326EC}"/>
              </a:ext>
            </a:extLst>
          </p:cNvPr>
          <p:cNvSpPr txBox="1"/>
          <p:nvPr/>
        </p:nvSpPr>
        <p:spPr>
          <a:xfrm>
            <a:off x="838201" y="2462670"/>
            <a:ext cx="48300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3200" dirty="0"/>
              <a:t>https://www.menti.com/</a:t>
            </a:r>
          </a:p>
        </p:txBody>
      </p:sp>
      <p:pic>
        <p:nvPicPr>
          <p:cNvPr id="16386" name="Picture 2" descr="Mentimeter • cristic">
            <a:extLst>
              <a:ext uri="{FF2B5EF4-FFF2-40B4-BE49-F238E27FC236}">
                <a16:creationId xmlns:a16="http://schemas.microsoft.com/office/drawing/2014/main" id="{0D2DAA98-094E-C47A-50A9-E8470583A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1" y="3421626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509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9E51-1CE3-6E6D-7037-0C36CB7C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0A15D16-9D85-6D77-1E63-0F61C074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Temporización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0B33DD5-7A78-F0ED-6287-CC34158D0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600" dirty="0"/>
              <a:t>En muchos casos, se requiere un ciclo de </a:t>
            </a:r>
            <a:r>
              <a:rPr lang="es-ES" sz="3600" dirty="0" err="1"/>
              <a:t>scan</a:t>
            </a:r>
            <a:r>
              <a:rPr lang="es-ES" sz="3600" dirty="0"/>
              <a:t> (o tiempo de </a:t>
            </a:r>
            <a:r>
              <a:rPr lang="es-ES" sz="3600" dirty="0" err="1"/>
              <a:t>scan</a:t>
            </a:r>
            <a:r>
              <a:rPr lang="es-ES" sz="3600" dirty="0"/>
              <a:t> </a:t>
            </a:r>
            <a:r>
              <a:rPr lang="es-ES" sz="3600" dirty="0" err="1"/>
              <a:t>Ts</a:t>
            </a:r>
            <a:r>
              <a:rPr lang="es-ES" sz="3600" dirty="0"/>
              <a:t>)</a:t>
            </a:r>
          </a:p>
          <a:p>
            <a:r>
              <a:rPr lang="es-ES" sz="3600" dirty="0"/>
              <a:t>No siempre esta condición se cumplirá para determinadas tareas</a:t>
            </a:r>
          </a:p>
          <a:p>
            <a:endParaRPr lang="es-ES" sz="3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AEB8BA-4D5B-B139-53A4-AC0C9751B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09" y="4001294"/>
            <a:ext cx="9853981" cy="235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030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EDC6A-1556-76B3-3FF7-3E7463B92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7566309-C195-D98B-17A3-BC4C6ACC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Temporización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EE1E9CA-95A1-89D1-527F-19F98038C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600" dirty="0"/>
              <a:t>Este requerimiento se puede cumplir sumando un temporizador que ecualice la duración del ciclo.</a:t>
            </a:r>
          </a:p>
          <a:p>
            <a:r>
              <a:rPr lang="es-ES" sz="3600" dirty="0"/>
              <a:t>Esta tarea se suele denominar </a:t>
            </a:r>
            <a:r>
              <a:rPr lang="es-ES" sz="3600" b="1" dirty="0"/>
              <a:t>ociosa o inactiva</a:t>
            </a:r>
            <a:r>
              <a:rPr lang="es-ES" sz="3600" dirty="0"/>
              <a:t> (</a:t>
            </a:r>
            <a:r>
              <a:rPr lang="es-ES" sz="3600" b="1" dirty="0"/>
              <a:t>idle</a:t>
            </a:r>
            <a:r>
              <a:rPr lang="es-ES" sz="3600" dirty="0"/>
              <a:t>)</a:t>
            </a:r>
            <a:endParaRPr lang="es-ES" sz="320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3FF6DDB-D173-3E2D-D3DE-6291DD33B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09" y="4020354"/>
            <a:ext cx="9853981" cy="233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962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A69D1-086A-874A-0965-365A3B87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8B9F518-78FC-025A-C0FC-ABC83D6C4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Distintos períodos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DA74873-1B8C-E6AE-1454-BBFAE34D7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600" dirty="0"/>
              <a:t>Algunas tareas pueden requerir ejecutarse cada n ciclos de </a:t>
            </a:r>
            <a:r>
              <a:rPr lang="es-ES" sz="3600" dirty="0" err="1"/>
              <a:t>scan</a:t>
            </a:r>
            <a:r>
              <a:rPr lang="es-ES" sz="3600" dirty="0"/>
              <a:t>:</a:t>
            </a:r>
            <a:endParaRPr lang="es-ES" sz="3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1D29218-79DE-88B4-FB07-047DC0977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09" y="3270014"/>
            <a:ext cx="9853981" cy="2338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02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0021-DC48-EAFE-45C4-460F19687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CB28B5-F26D-B60D-7C13-DD1E6592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Distintos períodos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9F2B2E8-8908-1167-C8CC-7C054A4C4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600" dirty="0"/>
              <a:t>Alternativas:</a:t>
            </a:r>
            <a:endParaRPr lang="es-ES" sz="32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132FB28-93EE-2DB2-36B7-59D3422A1D6D}"/>
              </a:ext>
            </a:extLst>
          </p:cNvPr>
          <p:cNvSpPr txBox="1"/>
          <p:nvPr/>
        </p:nvSpPr>
        <p:spPr>
          <a:xfrm>
            <a:off x="956188" y="2364462"/>
            <a:ext cx="410251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n=0;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(;;){ /*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for-ever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*/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TareaA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 %2==0){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TareaB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n++;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TareaC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TareaInactiva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s-AR" sz="2200" dirty="0">
                <a:solidFill>
                  <a:srgbClr val="000000"/>
                </a:solidFill>
                <a:latin typeface="Consolas" panose="020B0609020204030204" pitchFamily="49" charset="0"/>
              </a:rPr>
              <a:t>  }</a:t>
            </a:r>
            <a:endParaRPr lang="es-AR" sz="2200" dirty="0">
              <a:latin typeface="Consolas" panose="020B06090202040302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F413CB-3567-7C7B-73C0-8FCD1D0E5923}"/>
              </a:ext>
            </a:extLst>
          </p:cNvPr>
          <p:cNvSpPr txBox="1"/>
          <p:nvPr/>
        </p:nvSpPr>
        <p:spPr>
          <a:xfrm>
            <a:off x="6580240" y="2364462"/>
            <a:ext cx="410251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n=2;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(;;){ /*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forever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*/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TareaA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(n==2){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TareaB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n=0;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n++;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TareaC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AR" sz="2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TareaInactiva</a:t>
            </a:r>
            <a:r>
              <a:rPr lang="es-AR" sz="2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s-AR" sz="2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414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895C0-41E7-ABA0-D554-D9EB29605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1C9FD7C-CE95-85CF-A32F-DE0181EA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Tiempo de ejecución extenso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C6A5DF4-3A9C-8061-A574-C15B6D980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200" dirty="0"/>
              <a:t>El tiempo de ejecución excesivo representa un problema.</a:t>
            </a:r>
          </a:p>
          <a:p>
            <a:r>
              <a:rPr lang="es-ES" sz="3200" dirty="0"/>
              <a:t>Sin embargo, en ciertos casos se pueden realizar optimizaciones para el correcto funcionamiento.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108FD2-ADE7-4AB3-8016-1CB1ADBCA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11" y="4001294"/>
            <a:ext cx="9853978" cy="233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9265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BA29-6761-C25B-EFEF-345148DDA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61E49EAB-4AAA-0508-2E59-FC63B9E10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11" y="4301095"/>
            <a:ext cx="9853978" cy="2338142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06139FCE-A54D-5AAD-FE00-89C26FBA4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Tiempo de ejecución extenso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FE3D2FC-A336-E038-C80E-97EDA1A8B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200" dirty="0"/>
              <a:t>La solución más sencilla (y más costosa) es cambiar el procesador.</a:t>
            </a:r>
          </a:p>
          <a:p>
            <a:r>
              <a:rPr lang="es-ES" sz="3200" dirty="0"/>
              <a:t>En otros casos es posible dividir la tarea de larga duración en dos partes, aprovechando mejor el tiempo de procesamiento.</a:t>
            </a:r>
          </a:p>
        </p:txBody>
      </p:sp>
    </p:spTree>
    <p:extLst>
      <p:ext uri="{BB962C8B-B14F-4D97-AF65-F5344CB8AC3E}">
        <p14:creationId xmlns:p14="http://schemas.microsoft.com/office/powerpoint/2010/main" val="1849913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D4E61-A06E-4BFE-D4F7-052456D21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5EAC08B-2055-4CDC-2221-09E8E807B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Latencia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43C8742-43C2-FC5E-0BEF-EEE48ECDE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26901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3200" dirty="0"/>
              <a:t>La </a:t>
            </a:r>
            <a:r>
              <a:rPr lang="es-ES" sz="3200" b="1" dirty="0"/>
              <a:t>latencia</a:t>
            </a:r>
            <a:r>
              <a:rPr lang="es-ES" sz="3200" dirty="0"/>
              <a:t> en un sistema de tiempo real se define como el tiempo máximo que transcurre entre un evento (interno o externo) y el comienzo de la ejecución de la tarea que lo procesa.</a:t>
            </a:r>
          </a:p>
        </p:txBody>
      </p:sp>
      <p:pic>
        <p:nvPicPr>
          <p:cNvPr id="17410" name="Picture 2" descr="Wait buffer fast delay Vector Icons free download in SVG, PNG Format">
            <a:extLst>
              <a:ext uri="{FF2B5EF4-FFF2-40B4-BE49-F238E27FC236}">
                <a16:creationId xmlns:a16="http://schemas.microsoft.com/office/drawing/2014/main" id="{693E38FE-E36C-FDF7-2055-DDFA3979A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333" y="1545406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8206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68F3E-C9AD-7836-3A62-1EA1E04EC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ED578EF-9F33-9234-8827-248725F6D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Latencia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5BB98DC-5F59-FEEF-CF44-EF25597A9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200" dirty="0"/>
              <a:t>En el procesamiento secuencial, la latencia más alta puede ser igual a </a:t>
            </a:r>
            <a:r>
              <a:rPr lang="es-ES" sz="3200" dirty="0" err="1"/>
              <a:t>Ts</a:t>
            </a:r>
            <a:endParaRPr lang="es-ES" sz="32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09AD227-3092-E71E-B919-D05BA397A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011" y="2949042"/>
            <a:ext cx="9853978" cy="346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654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F6730-302A-5867-41CC-E4C83630A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474E5FE-1492-0E11-DDFB-BDD08F55A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e inconvenientes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49CF94E-6087-2562-AF68-3BEF35379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s-ES" sz="3200" dirty="0"/>
              <a:t>Facilidad de implementación y depuración</a:t>
            </a:r>
          </a:p>
          <a:p>
            <a:r>
              <a:rPr lang="es-ES" sz="3200" dirty="0"/>
              <a:t>Facilidad para compartir datos</a:t>
            </a:r>
          </a:p>
          <a:p>
            <a:r>
              <a:rPr lang="es-ES" sz="3200" dirty="0"/>
              <a:t>No utiliza tiempo para cambio de contexto</a:t>
            </a:r>
          </a:p>
          <a:p>
            <a:endParaRPr lang="es-ES" sz="3200" dirty="0"/>
          </a:p>
        </p:txBody>
      </p:sp>
      <p:pic>
        <p:nvPicPr>
          <p:cNvPr id="12" name="Imagen 11" descr="Icono&#10;&#10;El contenido generado por IA puede ser incorrecto.">
            <a:extLst>
              <a:ext uri="{FF2B5EF4-FFF2-40B4-BE49-F238E27FC236}">
                <a16:creationId xmlns:a16="http://schemas.microsoft.com/office/drawing/2014/main" id="{DEA874F8-5457-76FE-377E-74E7E0DFE3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514" y="1825625"/>
            <a:ext cx="3555844" cy="355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45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B497-9179-9F29-02B7-881C14DB8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Logotipo, Icono&#10;&#10;El contenido generado por IA puede ser incorrecto.">
            <a:extLst>
              <a:ext uri="{FF2B5EF4-FFF2-40B4-BE49-F238E27FC236}">
                <a16:creationId xmlns:a16="http://schemas.microsoft.com/office/drawing/2014/main" id="{23982E4D-50BB-4840-6579-A2DFD57AE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855" y="2054966"/>
            <a:ext cx="3097161" cy="309716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2C3EA588-973A-4897-8224-4F62BF63E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Ventajas e inconvenientes (</a:t>
            </a:r>
            <a:r>
              <a:rPr lang="es-ES" dirty="0" err="1"/>
              <a:t>scan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)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388610D-D581-4115-5612-9837F4488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s-ES" sz="3200" dirty="0"/>
              <a:t>Latencia variable</a:t>
            </a:r>
          </a:p>
          <a:p>
            <a:r>
              <a:rPr lang="es-ES" sz="3200" dirty="0"/>
              <a:t>Tareas con distintos períodos de muestreo</a:t>
            </a:r>
          </a:p>
          <a:p>
            <a:r>
              <a:rPr lang="es-ES" sz="3200" dirty="0"/>
              <a:t>No escala para sistemas complejos</a:t>
            </a:r>
          </a:p>
          <a:p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29707307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C324D-73E3-590E-5FB9-095766AE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C583D92-BA72-72DF-B8E4-875D1A47F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Foreground</a:t>
            </a:r>
            <a:r>
              <a:rPr lang="es-ES" dirty="0"/>
              <a:t>/</a:t>
            </a:r>
            <a:r>
              <a:rPr lang="es-ES" dirty="0" err="1"/>
              <a:t>Background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815D125-7219-E78A-213F-AF96B6E69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257801" cy="4351338"/>
          </a:xfrm>
        </p:spPr>
        <p:txBody>
          <a:bodyPr>
            <a:normAutofit/>
          </a:bodyPr>
          <a:lstStyle/>
          <a:p>
            <a:r>
              <a:rPr lang="es-ES" sz="3200" dirty="0"/>
              <a:t>Uno de los mayores problemas del </a:t>
            </a:r>
            <a:r>
              <a:rPr lang="es-ES" sz="3200" dirty="0" err="1"/>
              <a:t>scan</a:t>
            </a:r>
            <a:r>
              <a:rPr lang="es-ES" sz="3200" dirty="0"/>
              <a:t> </a:t>
            </a:r>
            <a:r>
              <a:rPr lang="es-ES" sz="3200" dirty="0" err="1"/>
              <a:t>loop</a:t>
            </a:r>
            <a:r>
              <a:rPr lang="es-ES" sz="3200" dirty="0"/>
              <a:t> es la latencia.</a:t>
            </a:r>
          </a:p>
          <a:p>
            <a:r>
              <a:rPr lang="es-ES" sz="3200" dirty="0"/>
              <a:t>Para disminuir este tiempo es posible asociar tareas a interrupciones.</a:t>
            </a:r>
          </a:p>
          <a:p>
            <a:endParaRPr lang="es-ES" sz="3200" dirty="0"/>
          </a:p>
        </p:txBody>
      </p:sp>
      <p:pic>
        <p:nvPicPr>
          <p:cNvPr id="19458" name="Picture 2" descr="Background - Free interface icons">
            <a:extLst>
              <a:ext uri="{FF2B5EF4-FFF2-40B4-BE49-F238E27FC236}">
                <a16:creationId xmlns:a16="http://schemas.microsoft.com/office/drawing/2014/main" id="{704C9D2D-F190-C9EF-9290-E186AEF00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5605" y="2103451"/>
            <a:ext cx="3795686" cy="379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8722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44E90-6AF2-FFA2-C286-C92F980C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926ECB8-6AD3-58DE-2F99-C46E481D6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Foreground</a:t>
            </a:r>
            <a:r>
              <a:rPr lang="es-ES" dirty="0"/>
              <a:t>/</a:t>
            </a:r>
            <a:r>
              <a:rPr lang="es-ES" dirty="0" err="1"/>
              <a:t>Background</a:t>
            </a:r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1B44B0D-3028-1CA6-CEC9-1CBC2F8F4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371" y="1690688"/>
            <a:ext cx="9386834" cy="439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578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FD71-5F89-19AF-7A36-9522830F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5FE0259-E960-675C-723C-F702C749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Foreground</a:t>
            </a:r>
            <a:r>
              <a:rPr lang="es-ES" dirty="0"/>
              <a:t>/</a:t>
            </a:r>
            <a:r>
              <a:rPr lang="es-ES" dirty="0" err="1"/>
              <a:t>Background</a:t>
            </a:r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8B93AA1-93BC-2DA7-854F-0638027AC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371" y="1690688"/>
            <a:ext cx="9386834" cy="4393837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87BC081D-7AE2-2C19-09F1-06AD5299B062}"/>
              </a:ext>
            </a:extLst>
          </p:cNvPr>
          <p:cNvSpPr/>
          <p:nvPr/>
        </p:nvSpPr>
        <p:spPr>
          <a:xfrm>
            <a:off x="1000432" y="1690689"/>
            <a:ext cx="2863645" cy="456262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23AF357-E1C9-F956-DBE9-F390B4DF02CF}"/>
              </a:ext>
            </a:extLst>
          </p:cNvPr>
          <p:cNvSpPr txBox="1"/>
          <p:nvPr/>
        </p:nvSpPr>
        <p:spPr>
          <a:xfrm>
            <a:off x="1703047" y="6308209"/>
            <a:ext cx="145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Primer Plano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06564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26AE-DCF8-3316-ED4E-BA415CB7E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0CE6641-16AE-C051-3C2F-FBB7D1D7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Foreground</a:t>
            </a:r>
            <a:r>
              <a:rPr lang="es-ES" dirty="0"/>
              <a:t>/</a:t>
            </a:r>
            <a:r>
              <a:rPr lang="es-ES" dirty="0" err="1"/>
              <a:t>Background</a:t>
            </a:r>
            <a:endParaRPr lang="es-AR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4059D49-4C22-5491-E120-C2EB72BF4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371" y="1690688"/>
            <a:ext cx="9386834" cy="4393837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66CEDDC-D445-4772-A848-A64045E093A4}"/>
              </a:ext>
            </a:extLst>
          </p:cNvPr>
          <p:cNvSpPr/>
          <p:nvPr/>
        </p:nvSpPr>
        <p:spPr>
          <a:xfrm>
            <a:off x="1000432" y="1690689"/>
            <a:ext cx="2863645" cy="456262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0307E2F-03DC-1E59-D94D-B6FF96AC51FB}"/>
              </a:ext>
            </a:extLst>
          </p:cNvPr>
          <p:cNvSpPr txBox="1"/>
          <p:nvPr/>
        </p:nvSpPr>
        <p:spPr>
          <a:xfrm>
            <a:off x="1703047" y="6308209"/>
            <a:ext cx="145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Primer Plano</a:t>
            </a:r>
            <a:endParaRPr lang="es-AR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CF748B3-AD5A-E0C5-2384-82F909CF765A}"/>
              </a:ext>
            </a:extLst>
          </p:cNvPr>
          <p:cNvSpPr txBox="1"/>
          <p:nvPr/>
        </p:nvSpPr>
        <p:spPr>
          <a:xfrm>
            <a:off x="6652466" y="4724240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Segundo Plano</a:t>
            </a:r>
            <a:endParaRPr lang="es-AR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AF1F91E-D147-A035-0E72-4114C7DBB90C}"/>
              </a:ext>
            </a:extLst>
          </p:cNvPr>
          <p:cNvSpPr/>
          <p:nvPr/>
        </p:nvSpPr>
        <p:spPr>
          <a:xfrm>
            <a:off x="4293248" y="1690688"/>
            <a:ext cx="6481659" cy="29385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8399784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5931C-C515-FD2C-2538-295183271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ACA88B7-329C-BF06-59FB-2886A79E7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Foreground</a:t>
            </a:r>
            <a:r>
              <a:rPr lang="es-ES" dirty="0"/>
              <a:t>/</a:t>
            </a:r>
            <a:r>
              <a:rPr lang="es-ES" dirty="0" err="1"/>
              <a:t>Background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2829A91-3205-9041-E348-A2275B212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200" dirty="0"/>
              <a:t>Principales ventajas:</a:t>
            </a:r>
          </a:p>
          <a:p>
            <a:pPr lvl="1"/>
            <a:r>
              <a:rPr lang="es-ES" sz="2800" dirty="0"/>
              <a:t>Baja latencia para la atención de tareas asociadas a interrupciones.</a:t>
            </a:r>
          </a:p>
          <a:p>
            <a:pPr lvl="1"/>
            <a:r>
              <a:rPr lang="es-ES" sz="2800" dirty="0"/>
              <a:t>No requieren software adicional</a:t>
            </a:r>
          </a:p>
          <a:p>
            <a:r>
              <a:rPr lang="es-ES" sz="3200" dirty="0"/>
              <a:t>Inconvenientes:</a:t>
            </a:r>
          </a:p>
          <a:p>
            <a:pPr lvl="1"/>
            <a:r>
              <a:rPr lang="es-ES" sz="2800" dirty="0"/>
              <a:t>Requieren soporte de interrupciones en el hardware</a:t>
            </a:r>
          </a:p>
          <a:p>
            <a:pPr lvl="1"/>
            <a:r>
              <a:rPr lang="es-ES" sz="2800" dirty="0"/>
              <a:t>Cada tarea </a:t>
            </a:r>
            <a:r>
              <a:rPr lang="es-ES" sz="2800" dirty="0" err="1"/>
              <a:t>background</a:t>
            </a:r>
            <a:r>
              <a:rPr lang="es-ES" sz="2800" dirty="0"/>
              <a:t> requiere una interrupción</a:t>
            </a:r>
          </a:p>
          <a:p>
            <a:pPr lvl="1"/>
            <a:r>
              <a:rPr lang="es-ES" sz="2800" dirty="0"/>
              <a:t>Más complejo de depurar, aparecen problemas de concurrencia</a:t>
            </a:r>
          </a:p>
          <a:p>
            <a:pPr lvl="1"/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42279451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49DFB-E5E2-386D-5B74-7904449A9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C7DADC2-5A95-7D35-9011-46C70D4CD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Foreground</a:t>
            </a:r>
            <a:r>
              <a:rPr lang="es-ES" dirty="0"/>
              <a:t>/</a:t>
            </a:r>
            <a:r>
              <a:rPr lang="es-ES" dirty="0" err="1"/>
              <a:t>Background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AB1636D-0C00-4319-BEA3-E58B178E8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200" dirty="0"/>
              <a:t>Las tareas en segundo plano deberían tener la menor duración posible.</a:t>
            </a:r>
          </a:p>
          <a:p>
            <a:r>
              <a:rPr lang="es-ES" sz="3200" dirty="0"/>
              <a:t>Se deben trasladar al primer plano las funciones no indispensables</a:t>
            </a:r>
          </a:p>
          <a:p>
            <a:r>
              <a:rPr lang="es-ES" sz="3200" dirty="0"/>
              <a:t>Ejemplo: td3_barem_03</a:t>
            </a:r>
          </a:p>
          <a:p>
            <a:endParaRPr lang="es-ES" sz="2800" dirty="0"/>
          </a:p>
        </p:txBody>
      </p:sp>
      <p:pic>
        <p:nvPicPr>
          <p:cNvPr id="20482" name="Picture 2" descr="Faster Drawing Icon PNG Transparent Background, Free Download #17753 -  FreeIconsPNG">
            <a:extLst>
              <a:ext uri="{FF2B5EF4-FFF2-40B4-BE49-F238E27FC236}">
                <a16:creationId xmlns:a16="http://schemas.microsoft.com/office/drawing/2014/main" id="{A664C6DD-DEA5-0E4D-F1F7-B3F5AFB30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066" y="3429000"/>
            <a:ext cx="2991247" cy="254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692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B976-9B6D-6360-6683-096E2B239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58E0EBB-87D8-64A9-0116-C90ECEA6B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Foreground</a:t>
            </a:r>
            <a:r>
              <a:rPr lang="es-ES" dirty="0"/>
              <a:t>/</a:t>
            </a:r>
            <a:r>
              <a:rPr lang="es-ES" dirty="0" err="1"/>
              <a:t>Background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FBF65758-40B4-B4E9-F48F-2F194FC83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200" dirty="0"/>
              <a:t>Problemas de concurrencia:</a:t>
            </a:r>
          </a:p>
          <a:p>
            <a:endParaRPr lang="es-ES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BE5A27-5452-AF85-F895-F729FAF98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064" y="2644829"/>
            <a:ext cx="6059870" cy="353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46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3117-21FE-16C4-69A7-352A871A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776B54B-425C-3E13-CDA3-9228B3D5B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Foreground</a:t>
            </a:r>
            <a:r>
              <a:rPr lang="es-ES" dirty="0"/>
              <a:t>/</a:t>
            </a:r>
            <a:r>
              <a:rPr lang="es-ES" dirty="0" err="1"/>
              <a:t>Background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D786754-7118-A277-FF6D-026B2EF45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13939" cy="4351338"/>
          </a:xfrm>
        </p:spPr>
        <p:txBody>
          <a:bodyPr>
            <a:normAutofit/>
          </a:bodyPr>
          <a:lstStyle/>
          <a:p>
            <a:r>
              <a:rPr lang="es-ES" sz="3200" dirty="0"/>
              <a:t>Zona crítica:</a:t>
            </a:r>
          </a:p>
          <a:p>
            <a:pPr lvl="1"/>
            <a:r>
              <a:rPr lang="es-ES" sz="2800" dirty="0"/>
              <a:t>Se entiende por zona crítica la zona en la que se usan recursos compartidos entre dos tareas que se ejecutan de manera asincrónica.</a:t>
            </a:r>
          </a:p>
          <a:p>
            <a:pPr lvl="1"/>
            <a:r>
              <a:rPr lang="es-ES" sz="2800" dirty="0"/>
              <a:t>Para evitar inconvenientes la ejecución de la zona crítica tiene que transitarse sin interrupción</a:t>
            </a:r>
          </a:p>
          <a:p>
            <a:endParaRPr lang="es-ES" sz="2800" dirty="0"/>
          </a:p>
        </p:txBody>
      </p:sp>
      <p:pic>
        <p:nvPicPr>
          <p:cNvPr id="21506" name="Picture 2" descr="Download Free Critical Icons in PNG &amp; SVG">
            <a:extLst>
              <a:ext uri="{FF2B5EF4-FFF2-40B4-BE49-F238E27FC236}">
                <a16:creationId xmlns:a16="http://schemas.microsoft.com/office/drawing/2014/main" id="{6806F3C0-73EC-471D-205C-438ECB4D2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112" y="2141262"/>
            <a:ext cx="3282403" cy="328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95108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72003-3C89-CAE2-D188-CE2D42905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C542595-B69D-E6F7-DE0A-E4606BEAB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Foreground</a:t>
            </a:r>
            <a:r>
              <a:rPr lang="es-ES" dirty="0"/>
              <a:t>/</a:t>
            </a:r>
            <a:r>
              <a:rPr lang="es-ES" dirty="0" err="1"/>
              <a:t>Background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5280012-DA47-08EF-7B66-97CF82B34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413939" cy="4351338"/>
          </a:xfrm>
        </p:spPr>
        <p:txBody>
          <a:bodyPr>
            <a:normAutofit/>
          </a:bodyPr>
          <a:lstStyle/>
          <a:p>
            <a:r>
              <a:rPr lang="es-ES" sz="3200" dirty="0"/>
              <a:t>Zona crítica:</a:t>
            </a:r>
          </a:p>
          <a:p>
            <a:pPr lvl="1"/>
            <a:r>
              <a:rPr lang="es-ES" sz="2800" dirty="0"/>
              <a:t>Una opción es copiar datos: td3_barem_04</a:t>
            </a:r>
          </a:p>
          <a:p>
            <a:pPr lvl="1"/>
            <a:r>
              <a:rPr lang="es-ES" sz="2800" dirty="0"/>
              <a:t>Pero esa copia de datos también puede truncarse</a:t>
            </a:r>
          </a:p>
          <a:p>
            <a:pPr lvl="1"/>
            <a:r>
              <a:rPr lang="es-ES" sz="2800" dirty="0"/>
              <a:t>Debo deshabilitar interrupciones durante la copia de datos: td3_barem_05</a:t>
            </a:r>
          </a:p>
          <a:p>
            <a:endParaRPr lang="es-ES" sz="2800" dirty="0"/>
          </a:p>
        </p:txBody>
      </p:sp>
      <p:pic>
        <p:nvPicPr>
          <p:cNvPr id="2" name="Picture 2" descr="Download Free Critical Icons in PNG &amp; SVG">
            <a:extLst>
              <a:ext uri="{FF2B5EF4-FFF2-40B4-BE49-F238E27FC236}">
                <a16:creationId xmlns:a16="http://schemas.microsoft.com/office/drawing/2014/main" id="{ECCD2A2E-1FCB-D032-2432-DECDA504A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112" y="2141262"/>
            <a:ext cx="3282403" cy="3282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6271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BE0A9-7A78-A8BD-4B48-D53A6901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B22A3C3-1E76-0F01-C2BE-0C013461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RTOS</a:t>
            </a:r>
            <a:endParaRPr lang="es-AR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CA22E2E-9228-5442-0C5F-97F0037BE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600" cy="4351338"/>
          </a:xfrm>
        </p:spPr>
        <p:txBody>
          <a:bodyPr>
            <a:normAutofit/>
          </a:bodyPr>
          <a:lstStyle/>
          <a:p>
            <a:r>
              <a:rPr lang="es-ES" sz="3200" dirty="0"/>
              <a:t>Para sistemas complejos:</a:t>
            </a:r>
          </a:p>
          <a:p>
            <a:pPr marL="0" indent="0" algn="ctr">
              <a:buNone/>
            </a:pPr>
            <a:r>
              <a:rPr lang="es-ES" sz="3200" b="1" dirty="0"/>
              <a:t>Sistema Operativo de Tiempo Real</a:t>
            </a:r>
          </a:p>
          <a:p>
            <a:endParaRPr lang="es-ES" sz="2800" dirty="0"/>
          </a:p>
        </p:txBody>
      </p:sp>
      <p:pic>
        <p:nvPicPr>
          <p:cNvPr id="22530" name="Picture 2" descr="About : Operating Systems Labs">
            <a:extLst>
              <a:ext uri="{FF2B5EF4-FFF2-40B4-BE49-F238E27FC236}">
                <a16:creationId xmlns:a16="http://schemas.microsoft.com/office/drawing/2014/main" id="{20A74607-3E18-9EA3-ECA5-DAB83BD8C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5113" y="2681847"/>
            <a:ext cx="581031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0015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1277</Words>
  <Application>Microsoft Office PowerPoint</Application>
  <PresentationFormat>Panorámica</PresentationFormat>
  <Paragraphs>206</Paragraphs>
  <Slides>43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9" baseType="lpstr">
      <vt:lpstr>Aptos</vt:lpstr>
      <vt:lpstr>Aptos Display</vt:lpstr>
      <vt:lpstr>Arial</vt:lpstr>
      <vt:lpstr>Consolas</vt:lpstr>
      <vt:lpstr>MentiText</vt:lpstr>
      <vt:lpstr>Tema de Office</vt:lpstr>
      <vt:lpstr>Sistemas Operativos de Tiempo Real</vt:lpstr>
      <vt:lpstr>Introducción</vt:lpstr>
      <vt:lpstr>Introducción</vt:lpstr>
      <vt:lpstr>Introducción</vt:lpstr>
      <vt:lpstr>Introducción</vt:lpstr>
      <vt:lpstr>Introducción</vt:lpstr>
      <vt:lpstr>Introducción</vt:lpstr>
      <vt:lpstr>Definición</vt:lpstr>
      <vt:lpstr>Definición</vt:lpstr>
      <vt:lpstr>Ejercicio</vt:lpstr>
      <vt:lpstr>Definición</vt:lpstr>
      <vt:lpstr>Niveles jerárquicos</vt:lpstr>
      <vt:lpstr>Niveles jerárquicos</vt:lpstr>
      <vt:lpstr>Niveles jerárquicos</vt:lpstr>
      <vt:lpstr>Niveles jerárquicos</vt:lpstr>
      <vt:lpstr>Niveles jerárquicos</vt:lpstr>
      <vt:lpstr>Tareas</vt:lpstr>
      <vt:lpstr>Tareas</vt:lpstr>
      <vt:lpstr>Métodos</vt:lpstr>
      <vt:lpstr>Procesamiento secuencial (scan loop)</vt:lpstr>
      <vt:lpstr>Procesamiento secuencial (scan loop)</vt:lpstr>
      <vt:lpstr>Ejemplo: Termostato</vt:lpstr>
      <vt:lpstr>Ejercicio</vt:lpstr>
      <vt:lpstr>Temporización (scan loop)</vt:lpstr>
      <vt:lpstr>Temporización (scan loop)</vt:lpstr>
      <vt:lpstr>Distintos períodos (scan loop)</vt:lpstr>
      <vt:lpstr>Distintos períodos (scan loop)</vt:lpstr>
      <vt:lpstr>Tiempo de ejecución extenso (scan loop)</vt:lpstr>
      <vt:lpstr>Tiempo de ejecución extenso (scan loop)</vt:lpstr>
      <vt:lpstr>Latencia (scan loop)</vt:lpstr>
      <vt:lpstr>Latencia (scan loop)</vt:lpstr>
      <vt:lpstr>Ventajas e inconvenientes (scan loop)</vt:lpstr>
      <vt:lpstr>Ventajas e inconvenientes (scan loop)</vt:lpstr>
      <vt:lpstr>Foreground/Background</vt:lpstr>
      <vt:lpstr>Foreground/Background</vt:lpstr>
      <vt:lpstr>Foreground/Background</vt:lpstr>
      <vt:lpstr>Foreground/Background</vt:lpstr>
      <vt:lpstr>Foreground/Background</vt:lpstr>
      <vt:lpstr>Foreground/Background</vt:lpstr>
      <vt:lpstr>Foreground/Background</vt:lpstr>
      <vt:lpstr>Foreground/Background</vt:lpstr>
      <vt:lpstr>Foreground/Background</vt:lpstr>
      <vt:lpstr>RTOS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Sebastián Tobar</dc:creator>
  <cp:lastModifiedBy>Mario Sebastián Tobar</cp:lastModifiedBy>
  <cp:revision>11</cp:revision>
  <dcterms:created xsi:type="dcterms:W3CDTF">2025-05-24T01:32:13Z</dcterms:created>
  <dcterms:modified xsi:type="dcterms:W3CDTF">2025-05-27T20:25:38Z</dcterms:modified>
</cp:coreProperties>
</file>