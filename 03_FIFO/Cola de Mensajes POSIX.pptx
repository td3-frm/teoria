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8" autoAdjust="0"/>
    <p:restoredTop sz="94660"/>
  </p:normalViewPr>
  <p:slideViewPr>
    <p:cSldViewPr snapToGrid="0">
      <p:cViewPr varScale="1">
        <p:scale>
          <a:sx n="66" d="100"/>
          <a:sy n="66" d="100"/>
        </p:scale>
        <p:origin x="1114"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MX"/>
              <a:t>Haz clic para modificar el estilo de título del patrón</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MX"/>
              <a:t>Haz clic para editar el estilo de subtítulo del patrón</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s-MX"/>
              <a:t>Haz clic para modificar el estilo de título del patrón</a:t>
            </a:r>
            <a:endParaRPr lang="en-US" dirty="0"/>
          </a:p>
        </p:txBody>
      </p:sp>
      <p:sp>
        <p:nvSpPr>
          <p:cNvPr id="3" name="Content Placeholder 2"/>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MX"/>
              <a:t>Haz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p>
            <a:fld id="{20EBB0C4-6273-4C6E-B9BD-2EDC30F1CD52}"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MX"/>
              <a:t>Haz clic para modificar el estilo de título del patrón</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4/15/2026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4/15/2026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MX"/>
              <a:t>Haz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4/15/2026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s-MX"/>
              <a:t>Haz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C9CAD897-D46E-4AD2-BD9B-49DD3E640873}"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s-MX"/>
              <a:t>Haz clic para modificar el estilo de título del patrón</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AR"/>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MX"/>
              <a:t>Haz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4/15/2026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‹Nº›</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C0AD67-F909-F5CB-C2BE-2156BCA99F15}"/>
              </a:ext>
            </a:extLst>
          </p:cNvPr>
          <p:cNvSpPr>
            <a:spLocks noGrp="1"/>
          </p:cNvSpPr>
          <p:nvPr>
            <p:ph type="ctrTitle"/>
          </p:nvPr>
        </p:nvSpPr>
        <p:spPr>
          <a:xfrm>
            <a:off x="1066799" y="874697"/>
            <a:ext cx="10058401" cy="3083844"/>
          </a:xfrm>
        </p:spPr>
        <p:txBody>
          <a:bodyPr>
            <a:normAutofit/>
          </a:bodyPr>
          <a:lstStyle/>
          <a:p>
            <a:pPr algn="ctr"/>
            <a:r>
              <a:rPr lang="es-AR" sz="8800" b="1"/>
              <a:t>Cola </a:t>
            </a:r>
            <a:r>
              <a:rPr lang="es-AR" sz="8800" b="1" dirty="0"/>
              <a:t>de Mensajes POSIX</a:t>
            </a:r>
          </a:p>
        </p:txBody>
      </p:sp>
      <p:sp>
        <p:nvSpPr>
          <p:cNvPr id="3" name="Subtítulo 2">
            <a:extLst>
              <a:ext uri="{FF2B5EF4-FFF2-40B4-BE49-F238E27FC236}">
                <a16:creationId xmlns:a16="http://schemas.microsoft.com/office/drawing/2014/main" id="{69B8C824-06A9-191A-5711-E19F402E8E36}"/>
              </a:ext>
            </a:extLst>
          </p:cNvPr>
          <p:cNvSpPr>
            <a:spLocks noGrp="1"/>
          </p:cNvSpPr>
          <p:nvPr>
            <p:ph type="subTitle" idx="1"/>
          </p:nvPr>
        </p:nvSpPr>
        <p:spPr>
          <a:xfrm>
            <a:off x="1097280" y="4594517"/>
            <a:ext cx="10058400" cy="1143000"/>
          </a:xfrm>
        </p:spPr>
        <p:txBody>
          <a:bodyPr/>
          <a:lstStyle/>
          <a:p>
            <a:pPr algn="ctr"/>
            <a:r>
              <a:rPr lang="es-AR" dirty="0"/>
              <a:t>Funciones, Funcionamientos y ejemplos</a:t>
            </a:r>
          </a:p>
        </p:txBody>
      </p:sp>
      <p:sp>
        <p:nvSpPr>
          <p:cNvPr id="4" name="CuadroTexto 3">
            <a:extLst>
              <a:ext uri="{FF2B5EF4-FFF2-40B4-BE49-F238E27FC236}">
                <a16:creationId xmlns:a16="http://schemas.microsoft.com/office/drawing/2014/main" id="{02D0CD63-2C3C-C9FC-6314-AFAE00480635}"/>
              </a:ext>
            </a:extLst>
          </p:cNvPr>
          <p:cNvSpPr txBox="1"/>
          <p:nvPr/>
        </p:nvSpPr>
        <p:spPr>
          <a:xfrm>
            <a:off x="1215342" y="5300397"/>
            <a:ext cx="9879378" cy="646331"/>
          </a:xfrm>
          <a:prstGeom prst="rect">
            <a:avLst/>
          </a:prstGeom>
          <a:noFill/>
        </p:spPr>
        <p:txBody>
          <a:bodyPr wrap="square" rtlCol="0">
            <a:spAutoFit/>
          </a:bodyPr>
          <a:lstStyle/>
          <a:p>
            <a:r>
              <a:rPr lang="es-AR" dirty="0"/>
              <a:t>Alumno: Salguero Gastón</a:t>
            </a:r>
          </a:p>
          <a:p>
            <a:r>
              <a:rPr lang="es-AR" dirty="0"/>
              <a:t>Año</a:t>
            </a:r>
            <a:r>
              <a:rPr lang="es-AR"/>
              <a:t>: 202</a:t>
            </a:r>
            <a:r>
              <a:rPr lang="es-AR" dirty="0"/>
              <a:t>6</a:t>
            </a:r>
          </a:p>
        </p:txBody>
      </p:sp>
    </p:spTree>
    <p:extLst>
      <p:ext uri="{BB962C8B-B14F-4D97-AF65-F5344CB8AC3E}">
        <p14:creationId xmlns:p14="http://schemas.microsoft.com/office/powerpoint/2010/main" val="2264031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C9D5AD-7763-E1A4-617F-80003CD18F12}"/>
              </a:ext>
            </a:extLst>
          </p:cNvPr>
          <p:cNvSpPr>
            <a:spLocks noGrp="1"/>
          </p:cNvSpPr>
          <p:nvPr>
            <p:ph type="title"/>
          </p:nvPr>
        </p:nvSpPr>
        <p:spPr/>
        <p:txBody>
          <a:bodyPr/>
          <a:lstStyle/>
          <a:p>
            <a:r>
              <a:rPr lang="es-AR" dirty="0"/>
              <a:t>Principios Fundamentales de POSIX</a:t>
            </a:r>
          </a:p>
        </p:txBody>
      </p:sp>
      <p:sp>
        <p:nvSpPr>
          <p:cNvPr id="3" name="Marcador de contenido 2">
            <a:extLst>
              <a:ext uri="{FF2B5EF4-FFF2-40B4-BE49-F238E27FC236}">
                <a16:creationId xmlns:a16="http://schemas.microsoft.com/office/drawing/2014/main" id="{31878B0F-F66E-AF9E-E61F-F60B2D2E8F08}"/>
              </a:ext>
            </a:extLst>
          </p:cNvPr>
          <p:cNvSpPr>
            <a:spLocks noGrp="1"/>
          </p:cNvSpPr>
          <p:nvPr>
            <p:ph idx="1"/>
          </p:nvPr>
        </p:nvSpPr>
        <p:spPr>
          <a:xfrm>
            <a:off x="1066800" y="2331870"/>
            <a:ext cx="10058400" cy="3397597"/>
          </a:xfrm>
        </p:spPr>
        <p:txBody>
          <a:bodyPr>
            <a:normAutofit lnSpcReduction="10000"/>
          </a:bodyPr>
          <a:lstStyle/>
          <a:p>
            <a:pPr lvl="1" algn="just">
              <a:buFont typeface="Arial" panose="020B0604020202020204" pitchFamily="34" charset="0"/>
              <a:buChar char="•"/>
            </a:pPr>
            <a:r>
              <a:rPr lang="es-AR" sz="2400" dirty="0"/>
              <a:t>Sistema de conteo de referencia: Una cola de mensajes marcada para su eliminación solo se elimina después de que todos los procesos que la estén utilizando se cierren.</a:t>
            </a:r>
          </a:p>
          <a:p>
            <a:pPr marL="201168" lvl="1" indent="0" algn="just">
              <a:buNone/>
            </a:pPr>
            <a:endParaRPr lang="es-AR" sz="2400" dirty="0"/>
          </a:p>
          <a:p>
            <a:pPr lvl="1" algn="just">
              <a:buFont typeface="Arial" panose="020B0604020202020204" pitchFamily="34" charset="0"/>
              <a:buChar char="•"/>
            </a:pPr>
            <a:r>
              <a:rPr lang="es-AR" sz="2400" dirty="0"/>
              <a:t>Orden estricto por prioridad: El mensaje con mayor prioridad siempre se procesa primero.</a:t>
            </a:r>
          </a:p>
          <a:p>
            <a:pPr marL="201168" lvl="1" indent="0" algn="just">
              <a:buNone/>
            </a:pPr>
            <a:endParaRPr lang="es-AR" sz="2400" dirty="0"/>
          </a:p>
          <a:p>
            <a:pPr lvl="1" algn="just">
              <a:buFont typeface="Arial" panose="020B0604020202020204" pitchFamily="34" charset="0"/>
              <a:buChar char="•"/>
            </a:pPr>
            <a:r>
              <a:rPr lang="es-AR" sz="2400" dirty="0"/>
              <a:t>Notificaciones asíncronas: Un proceso recibe una alerta automática cuando llega un mensaje a una cola de mensajes vacía.</a:t>
            </a:r>
          </a:p>
          <a:p>
            <a:pPr marL="201168" lvl="1" indent="0" algn="just">
              <a:buNone/>
            </a:pPr>
            <a:endParaRPr lang="es-AR" sz="2400" dirty="0"/>
          </a:p>
        </p:txBody>
      </p:sp>
    </p:spTree>
    <p:extLst>
      <p:ext uri="{BB962C8B-B14F-4D97-AF65-F5344CB8AC3E}">
        <p14:creationId xmlns:p14="http://schemas.microsoft.com/office/powerpoint/2010/main" val="1720189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923E0F-3CDA-D92A-4994-F4E68CB7BE60}"/>
              </a:ext>
            </a:extLst>
          </p:cNvPr>
          <p:cNvSpPr>
            <a:spLocks noGrp="1"/>
          </p:cNvSpPr>
          <p:nvPr>
            <p:ph type="title"/>
          </p:nvPr>
        </p:nvSpPr>
        <p:spPr/>
        <p:txBody>
          <a:bodyPr/>
          <a:lstStyle/>
          <a:p>
            <a:r>
              <a:rPr lang="es-AR" dirty="0"/>
              <a:t>Funciones Principales</a:t>
            </a:r>
          </a:p>
        </p:txBody>
      </p:sp>
      <p:sp>
        <p:nvSpPr>
          <p:cNvPr id="3" name="Marcador de contenido 2">
            <a:extLst>
              <a:ext uri="{FF2B5EF4-FFF2-40B4-BE49-F238E27FC236}">
                <a16:creationId xmlns:a16="http://schemas.microsoft.com/office/drawing/2014/main" id="{7B0ED7C5-265F-641C-E6F4-A8E20299FB32}"/>
              </a:ext>
            </a:extLst>
          </p:cNvPr>
          <p:cNvSpPr>
            <a:spLocks noGrp="1"/>
          </p:cNvSpPr>
          <p:nvPr>
            <p:ph idx="1"/>
          </p:nvPr>
        </p:nvSpPr>
        <p:spPr/>
        <p:txBody>
          <a:bodyPr>
            <a:normAutofit lnSpcReduction="10000"/>
          </a:bodyPr>
          <a:lstStyle/>
          <a:p>
            <a:pPr lvl="1">
              <a:buFont typeface="Arial" panose="020B0604020202020204" pitchFamily="34" charset="0"/>
              <a:buChar char="•"/>
            </a:pPr>
            <a:r>
              <a:rPr lang="es-AR" sz="2000" dirty="0"/>
              <a:t>La función “</a:t>
            </a:r>
            <a:r>
              <a:rPr lang="es-AR" sz="2000" dirty="0" err="1"/>
              <a:t>mq_open</a:t>
            </a:r>
            <a:r>
              <a:rPr lang="es-AR" sz="2000" dirty="0"/>
              <a:t> ()” crea una nueva cola de mensajes o abre una cola de mensajes existente, devolviendo un descriptor de cola de mensajes para su uso en llamadas posteriores.</a:t>
            </a:r>
          </a:p>
          <a:p>
            <a:pPr lvl="1">
              <a:buFont typeface="Arial" panose="020B0604020202020204" pitchFamily="34" charset="0"/>
              <a:buChar char="•"/>
            </a:pPr>
            <a:endParaRPr lang="es-AR" sz="2000" dirty="0"/>
          </a:p>
          <a:p>
            <a:pPr lvl="1">
              <a:buFont typeface="Arial" panose="020B0604020202020204" pitchFamily="34" charset="0"/>
              <a:buChar char="•"/>
            </a:pPr>
            <a:r>
              <a:rPr lang="es-AR" sz="2000" dirty="0"/>
              <a:t>La función “</a:t>
            </a:r>
            <a:r>
              <a:rPr lang="es-AR" sz="2000" dirty="0" err="1"/>
              <a:t>mq_send</a:t>
            </a:r>
            <a:r>
              <a:rPr lang="es-AR" sz="2000" dirty="0"/>
              <a:t> ()” escribe un mensaje en una cola de mensajes.</a:t>
            </a:r>
          </a:p>
          <a:p>
            <a:pPr lvl="1">
              <a:buFont typeface="Arial" panose="020B0604020202020204" pitchFamily="34" charset="0"/>
              <a:buChar char="•"/>
            </a:pPr>
            <a:endParaRPr lang="es-AR" sz="2000" dirty="0"/>
          </a:p>
          <a:p>
            <a:pPr lvl="1">
              <a:buFont typeface="Arial" panose="020B0604020202020204" pitchFamily="34" charset="0"/>
              <a:buChar char="•"/>
            </a:pPr>
            <a:r>
              <a:rPr lang="es-AR" sz="2000" dirty="0"/>
              <a:t>La función “</a:t>
            </a:r>
            <a:r>
              <a:rPr lang="es-AR" sz="2000" dirty="0" err="1"/>
              <a:t>mq_receive</a:t>
            </a:r>
            <a:r>
              <a:rPr lang="es-AR" sz="2000" dirty="0"/>
              <a:t>()” lee un mensaje en una cola de mensajes.</a:t>
            </a:r>
          </a:p>
          <a:p>
            <a:pPr lvl="1">
              <a:buFont typeface="Arial" panose="020B0604020202020204" pitchFamily="34" charset="0"/>
              <a:buChar char="•"/>
            </a:pPr>
            <a:endParaRPr lang="es-AR" sz="2000" dirty="0"/>
          </a:p>
          <a:p>
            <a:pPr lvl="1">
              <a:buFont typeface="Arial" panose="020B0604020202020204" pitchFamily="34" charset="0"/>
              <a:buChar char="•"/>
            </a:pPr>
            <a:r>
              <a:rPr lang="es-AR" sz="2000" dirty="0"/>
              <a:t>La función “</a:t>
            </a:r>
            <a:r>
              <a:rPr lang="es-AR" sz="2000" dirty="0" err="1"/>
              <a:t>mq_close</a:t>
            </a:r>
            <a:r>
              <a:rPr lang="es-AR" sz="2000" dirty="0"/>
              <a:t> ()” cierra una cola de mensajes.</a:t>
            </a:r>
          </a:p>
          <a:p>
            <a:pPr lvl="1">
              <a:buFont typeface="Arial" panose="020B0604020202020204" pitchFamily="34" charset="0"/>
              <a:buChar char="•"/>
            </a:pPr>
            <a:endParaRPr lang="es-AR" sz="2000" dirty="0"/>
          </a:p>
          <a:p>
            <a:pPr lvl="1">
              <a:buFont typeface="Arial" panose="020B0604020202020204" pitchFamily="34" charset="0"/>
              <a:buChar char="•"/>
            </a:pPr>
            <a:r>
              <a:rPr lang="es-AR" sz="2000" dirty="0"/>
              <a:t>La función “</a:t>
            </a:r>
            <a:r>
              <a:rPr lang="es-AR" sz="2000" dirty="0" err="1"/>
              <a:t>mq_unlink</a:t>
            </a:r>
            <a:r>
              <a:rPr lang="es-AR" sz="2000" dirty="0"/>
              <a:t> ()” elimina el nombre de una cola de mensajes y la marca para su eliminación cuando todos los procesos se cierran.</a:t>
            </a:r>
          </a:p>
          <a:p>
            <a:endParaRPr lang="es-AR" dirty="0"/>
          </a:p>
        </p:txBody>
      </p:sp>
    </p:spTree>
    <p:extLst>
      <p:ext uri="{BB962C8B-B14F-4D97-AF65-F5344CB8AC3E}">
        <p14:creationId xmlns:p14="http://schemas.microsoft.com/office/powerpoint/2010/main" val="1855261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418EFF-B717-ACD9-5909-0112C733C28E}"/>
              </a:ext>
            </a:extLst>
          </p:cNvPr>
          <p:cNvSpPr>
            <a:spLocks noGrp="1"/>
          </p:cNvSpPr>
          <p:nvPr>
            <p:ph type="title"/>
          </p:nvPr>
        </p:nvSpPr>
        <p:spPr/>
        <p:txBody>
          <a:bodyPr/>
          <a:lstStyle/>
          <a:p>
            <a:r>
              <a:rPr lang="es-AR" dirty="0"/>
              <a:t>Apertura de una Cola de Mensajes</a:t>
            </a:r>
          </a:p>
        </p:txBody>
      </p:sp>
      <p:sp>
        <p:nvSpPr>
          <p:cNvPr id="3" name="Marcador de contenido 2">
            <a:extLst>
              <a:ext uri="{FF2B5EF4-FFF2-40B4-BE49-F238E27FC236}">
                <a16:creationId xmlns:a16="http://schemas.microsoft.com/office/drawing/2014/main" id="{DFBDB39B-3F6E-E4AD-E5E4-0A5E1D8A301E}"/>
              </a:ext>
            </a:extLst>
          </p:cNvPr>
          <p:cNvSpPr>
            <a:spLocks noGrp="1"/>
          </p:cNvSpPr>
          <p:nvPr>
            <p:ph idx="1"/>
          </p:nvPr>
        </p:nvSpPr>
        <p:spPr/>
        <p:txBody>
          <a:bodyPr>
            <a:normAutofit lnSpcReduction="10000"/>
          </a:bodyPr>
          <a:lstStyle/>
          <a:p>
            <a:pPr lvl="1">
              <a:buFont typeface="Arial" panose="020B0604020202020204" pitchFamily="34" charset="0"/>
              <a:buChar char="•"/>
            </a:pPr>
            <a:r>
              <a:rPr lang="es-AR" dirty="0"/>
              <a:t>La función “</a:t>
            </a:r>
            <a:r>
              <a:rPr lang="es-AR" dirty="0" err="1"/>
              <a:t>mq_open</a:t>
            </a:r>
            <a:r>
              <a:rPr lang="es-AR" dirty="0"/>
              <a:t> ()” crea una nueva cola de mensajes o abre una cola de mensajes existente.</a:t>
            </a:r>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r>
              <a:rPr lang="es-AR" dirty="0"/>
              <a:t>Si se utiliza “</a:t>
            </a:r>
            <a:r>
              <a:rPr lang="es-AR" dirty="0" err="1"/>
              <a:t>mq_open</a:t>
            </a:r>
            <a:r>
              <a:rPr lang="es-AR" dirty="0"/>
              <a:t> ()” para abrir una cola de mensajes existente, la llamada solo requiere 2 argumentos, pero si se especifica “O_CREAT” en </a:t>
            </a:r>
            <a:r>
              <a:rPr lang="es-AR" dirty="0" err="1"/>
              <a:t>flag</a:t>
            </a:r>
            <a:r>
              <a:rPr lang="es-AR" dirty="0"/>
              <a:t>, se requieren 2 argumentos más: “</a:t>
            </a:r>
            <a:r>
              <a:rPr lang="es-AR" dirty="0" err="1"/>
              <a:t>mode</a:t>
            </a:r>
            <a:r>
              <a:rPr lang="es-AR" dirty="0"/>
              <a:t>” y “</a:t>
            </a:r>
            <a:r>
              <a:rPr lang="es-AR" dirty="0" err="1"/>
              <a:t>attr</a:t>
            </a:r>
            <a:r>
              <a:rPr lang="es-AR" dirty="0"/>
              <a:t>”</a:t>
            </a:r>
          </a:p>
          <a:p>
            <a:pPr lvl="1">
              <a:buFont typeface="Arial" panose="020B0604020202020204" pitchFamily="34" charset="0"/>
              <a:buChar char="•"/>
            </a:pPr>
            <a:r>
              <a:rPr lang="es-AR" dirty="0"/>
              <a:t>El argumento “</a:t>
            </a:r>
            <a:r>
              <a:rPr lang="es-AR" dirty="0" err="1"/>
              <a:t>mode</a:t>
            </a:r>
            <a:r>
              <a:rPr lang="es-AR" dirty="0"/>
              <a:t>”: es una máscara de bits que especifica los permisos que se asignarán a la nueva cola de mensajes.</a:t>
            </a:r>
          </a:p>
          <a:p>
            <a:pPr lvl="1">
              <a:buFont typeface="Arial" panose="020B0604020202020204" pitchFamily="34" charset="0"/>
              <a:buChar char="•"/>
            </a:pPr>
            <a:r>
              <a:rPr lang="es-AR" dirty="0"/>
              <a:t>El argumento “</a:t>
            </a:r>
            <a:r>
              <a:rPr lang="es-AR" dirty="0" err="1"/>
              <a:t>attr</a:t>
            </a:r>
            <a:r>
              <a:rPr lang="es-AR" dirty="0"/>
              <a:t>”: especifica los atributos para la nueva cola de mensajes. </a:t>
            </a:r>
          </a:p>
        </p:txBody>
      </p:sp>
      <p:pic>
        <p:nvPicPr>
          <p:cNvPr id="5" name="Imagen 4">
            <a:extLst>
              <a:ext uri="{FF2B5EF4-FFF2-40B4-BE49-F238E27FC236}">
                <a16:creationId xmlns:a16="http://schemas.microsoft.com/office/drawing/2014/main" id="{3C90E5DF-645F-4DC6-2370-B9162CD07322}"/>
              </a:ext>
            </a:extLst>
          </p:cNvPr>
          <p:cNvPicPr>
            <a:picLocks noChangeAspect="1"/>
          </p:cNvPicPr>
          <p:nvPr/>
        </p:nvPicPr>
        <p:blipFill>
          <a:blip r:embed="rId2"/>
          <a:stretch>
            <a:fillRect/>
          </a:stretch>
        </p:blipFill>
        <p:spPr>
          <a:xfrm>
            <a:off x="1214743" y="2388765"/>
            <a:ext cx="7042179" cy="1839040"/>
          </a:xfrm>
          <a:prstGeom prst="rect">
            <a:avLst/>
          </a:prstGeom>
        </p:spPr>
      </p:pic>
      <p:pic>
        <p:nvPicPr>
          <p:cNvPr id="7" name="Imagen 6">
            <a:extLst>
              <a:ext uri="{FF2B5EF4-FFF2-40B4-BE49-F238E27FC236}">
                <a16:creationId xmlns:a16="http://schemas.microsoft.com/office/drawing/2014/main" id="{8791477A-F662-F194-60B3-D365CE5EC27F}"/>
              </a:ext>
            </a:extLst>
          </p:cNvPr>
          <p:cNvPicPr>
            <a:picLocks noChangeAspect="1"/>
          </p:cNvPicPr>
          <p:nvPr/>
        </p:nvPicPr>
        <p:blipFill>
          <a:blip r:embed="rId3"/>
          <a:stretch>
            <a:fillRect/>
          </a:stretch>
        </p:blipFill>
        <p:spPr>
          <a:xfrm>
            <a:off x="8256922" y="2573960"/>
            <a:ext cx="2819279" cy="1468649"/>
          </a:xfrm>
          <a:prstGeom prst="rect">
            <a:avLst/>
          </a:prstGeom>
        </p:spPr>
      </p:pic>
    </p:spTree>
    <p:extLst>
      <p:ext uri="{BB962C8B-B14F-4D97-AF65-F5344CB8AC3E}">
        <p14:creationId xmlns:p14="http://schemas.microsoft.com/office/powerpoint/2010/main" val="2202579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79E6F7-7126-0A24-395E-03C72BFDB996}"/>
              </a:ext>
            </a:extLst>
          </p:cNvPr>
          <p:cNvSpPr>
            <a:spLocks noGrp="1"/>
          </p:cNvSpPr>
          <p:nvPr>
            <p:ph type="title"/>
          </p:nvPr>
        </p:nvSpPr>
        <p:spPr/>
        <p:txBody>
          <a:bodyPr/>
          <a:lstStyle/>
          <a:p>
            <a:r>
              <a:rPr lang="es-AR" dirty="0"/>
              <a:t>Cierre de una Cola de Mensajes</a:t>
            </a:r>
          </a:p>
        </p:txBody>
      </p:sp>
      <p:sp>
        <p:nvSpPr>
          <p:cNvPr id="3" name="Marcador de contenido 2">
            <a:extLst>
              <a:ext uri="{FF2B5EF4-FFF2-40B4-BE49-F238E27FC236}">
                <a16:creationId xmlns:a16="http://schemas.microsoft.com/office/drawing/2014/main" id="{CDCC0527-C008-1F99-BE07-137058698987}"/>
              </a:ext>
            </a:extLst>
          </p:cNvPr>
          <p:cNvSpPr>
            <a:spLocks noGrp="1"/>
          </p:cNvSpPr>
          <p:nvPr>
            <p:ph idx="1"/>
          </p:nvPr>
        </p:nvSpPr>
        <p:spPr/>
        <p:txBody>
          <a:bodyPr/>
          <a:lstStyle/>
          <a:p>
            <a:pPr lvl="1">
              <a:buFont typeface="Arial" panose="020B0604020202020204" pitchFamily="34" charset="0"/>
              <a:buChar char="•"/>
            </a:pPr>
            <a:r>
              <a:rPr lang="es-AR" dirty="0"/>
              <a:t>La función “</a:t>
            </a:r>
            <a:r>
              <a:rPr lang="es-AR" dirty="0" err="1"/>
              <a:t>mq_close</a:t>
            </a:r>
            <a:r>
              <a:rPr lang="es-AR" dirty="0"/>
              <a:t> ()” cierra el descriptor de una cola de mensajes </a:t>
            </a:r>
            <a:r>
              <a:rPr lang="es-AR" dirty="0" err="1"/>
              <a:t>mqdes</a:t>
            </a:r>
            <a:r>
              <a:rPr lang="es-AR" dirty="0"/>
              <a:t>.</a:t>
            </a:r>
          </a:p>
          <a:p>
            <a:pPr lvl="1">
              <a:buFont typeface="Arial" panose="020B0604020202020204" pitchFamily="34" charset="0"/>
              <a:buChar char="•"/>
            </a:pPr>
            <a:r>
              <a:rPr lang="es-AR" dirty="0"/>
              <a:t>Cerrar una cola de mensajes no la elimina.</a:t>
            </a:r>
          </a:p>
          <a:p>
            <a:pPr lvl="1">
              <a:buFont typeface="Arial" panose="020B0604020202020204" pitchFamily="34" charset="0"/>
              <a:buChar char="•"/>
            </a:pPr>
            <a:endParaRPr lang="es-AR" dirty="0"/>
          </a:p>
          <a:p>
            <a:endParaRPr lang="es-AR" dirty="0"/>
          </a:p>
          <a:p>
            <a:endParaRPr lang="es-AR" dirty="0"/>
          </a:p>
        </p:txBody>
      </p:sp>
      <p:pic>
        <p:nvPicPr>
          <p:cNvPr id="5" name="Imagen 4">
            <a:extLst>
              <a:ext uri="{FF2B5EF4-FFF2-40B4-BE49-F238E27FC236}">
                <a16:creationId xmlns:a16="http://schemas.microsoft.com/office/drawing/2014/main" id="{A175187E-99DB-439E-3CAB-7AF5AEBC5A3F}"/>
              </a:ext>
            </a:extLst>
          </p:cNvPr>
          <p:cNvPicPr>
            <a:picLocks noChangeAspect="1"/>
          </p:cNvPicPr>
          <p:nvPr/>
        </p:nvPicPr>
        <p:blipFill>
          <a:blip r:embed="rId2"/>
          <a:stretch>
            <a:fillRect/>
          </a:stretch>
        </p:blipFill>
        <p:spPr>
          <a:xfrm>
            <a:off x="2147336" y="3004559"/>
            <a:ext cx="7897327" cy="1381318"/>
          </a:xfrm>
          <a:prstGeom prst="rect">
            <a:avLst/>
          </a:prstGeom>
        </p:spPr>
      </p:pic>
    </p:spTree>
    <p:extLst>
      <p:ext uri="{BB962C8B-B14F-4D97-AF65-F5344CB8AC3E}">
        <p14:creationId xmlns:p14="http://schemas.microsoft.com/office/powerpoint/2010/main" val="1648074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B876A9-FBC2-0073-5838-C18EAE03E0E2}"/>
              </a:ext>
            </a:extLst>
          </p:cNvPr>
          <p:cNvSpPr>
            <a:spLocks noGrp="1"/>
          </p:cNvSpPr>
          <p:nvPr>
            <p:ph type="title"/>
          </p:nvPr>
        </p:nvSpPr>
        <p:spPr/>
        <p:txBody>
          <a:bodyPr/>
          <a:lstStyle/>
          <a:p>
            <a:r>
              <a:rPr lang="es-AR" dirty="0"/>
              <a:t>Eliminación de una Cola de Mensajes</a:t>
            </a:r>
          </a:p>
        </p:txBody>
      </p:sp>
      <p:sp>
        <p:nvSpPr>
          <p:cNvPr id="3" name="Marcador de contenido 2">
            <a:extLst>
              <a:ext uri="{FF2B5EF4-FFF2-40B4-BE49-F238E27FC236}">
                <a16:creationId xmlns:a16="http://schemas.microsoft.com/office/drawing/2014/main" id="{117C3D79-768B-A32B-348F-A281119E9F9C}"/>
              </a:ext>
            </a:extLst>
          </p:cNvPr>
          <p:cNvSpPr>
            <a:spLocks noGrp="1"/>
          </p:cNvSpPr>
          <p:nvPr>
            <p:ph idx="1"/>
          </p:nvPr>
        </p:nvSpPr>
        <p:spPr/>
        <p:txBody>
          <a:bodyPr/>
          <a:lstStyle/>
          <a:p>
            <a:pPr lvl="1">
              <a:buFont typeface="Arial" panose="020B0604020202020204" pitchFamily="34" charset="0"/>
              <a:buChar char="•"/>
            </a:pPr>
            <a:r>
              <a:rPr lang="es-AR" dirty="0"/>
              <a:t>La función “</a:t>
            </a:r>
            <a:r>
              <a:rPr lang="es-AR" dirty="0" err="1"/>
              <a:t>mq_unlink</a:t>
            </a:r>
            <a:r>
              <a:rPr lang="es-AR" dirty="0"/>
              <a:t> ()” elimina la cola de mensajes identificada por su nombre y la marca para que se destruya una vez que todos los procesos dejen de usarla.</a:t>
            </a:r>
          </a:p>
          <a:p>
            <a:endParaRPr lang="es-AR" dirty="0"/>
          </a:p>
        </p:txBody>
      </p:sp>
      <p:pic>
        <p:nvPicPr>
          <p:cNvPr id="5" name="Imagen 4">
            <a:extLst>
              <a:ext uri="{FF2B5EF4-FFF2-40B4-BE49-F238E27FC236}">
                <a16:creationId xmlns:a16="http://schemas.microsoft.com/office/drawing/2014/main" id="{FB3D5D2C-AB26-C58C-E62C-A134A0B0944B}"/>
              </a:ext>
            </a:extLst>
          </p:cNvPr>
          <p:cNvPicPr>
            <a:picLocks noChangeAspect="1"/>
          </p:cNvPicPr>
          <p:nvPr/>
        </p:nvPicPr>
        <p:blipFill>
          <a:blip r:embed="rId2"/>
          <a:stretch>
            <a:fillRect/>
          </a:stretch>
        </p:blipFill>
        <p:spPr>
          <a:xfrm>
            <a:off x="2152099" y="2738341"/>
            <a:ext cx="7887801" cy="1381318"/>
          </a:xfrm>
          <a:prstGeom prst="rect">
            <a:avLst/>
          </a:prstGeom>
        </p:spPr>
      </p:pic>
    </p:spTree>
    <p:extLst>
      <p:ext uri="{BB962C8B-B14F-4D97-AF65-F5344CB8AC3E}">
        <p14:creationId xmlns:p14="http://schemas.microsoft.com/office/powerpoint/2010/main" val="2573041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00D0DA-8D3E-007A-1677-02D6827C1E39}"/>
              </a:ext>
            </a:extLst>
          </p:cNvPr>
          <p:cNvSpPr>
            <a:spLocks noGrp="1"/>
          </p:cNvSpPr>
          <p:nvPr>
            <p:ph type="title"/>
          </p:nvPr>
        </p:nvSpPr>
        <p:spPr/>
        <p:txBody>
          <a:bodyPr>
            <a:normAutofit/>
          </a:bodyPr>
          <a:lstStyle/>
          <a:p>
            <a:r>
              <a:rPr lang="es-AR" sz="4400" dirty="0"/>
              <a:t>Atributos de la Cola de Mensajes</a:t>
            </a:r>
          </a:p>
        </p:txBody>
      </p:sp>
      <p:sp>
        <p:nvSpPr>
          <p:cNvPr id="3" name="Marcador de contenido 2">
            <a:extLst>
              <a:ext uri="{FF2B5EF4-FFF2-40B4-BE49-F238E27FC236}">
                <a16:creationId xmlns:a16="http://schemas.microsoft.com/office/drawing/2014/main" id="{2876E5A0-9197-E9BB-8946-A81E2F256D00}"/>
              </a:ext>
            </a:extLst>
          </p:cNvPr>
          <p:cNvSpPr>
            <a:spLocks noGrp="1"/>
          </p:cNvSpPr>
          <p:nvPr>
            <p:ph idx="1"/>
          </p:nvPr>
        </p:nvSpPr>
        <p:spPr/>
        <p:txBody>
          <a:bodyPr/>
          <a:lstStyle/>
          <a:p>
            <a:pPr lvl="1">
              <a:buFont typeface="Arial" panose="020B0604020202020204" pitchFamily="34" charset="0"/>
              <a:buChar char="•"/>
            </a:pPr>
            <a:r>
              <a:rPr lang="es-AR" dirty="0"/>
              <a:t>Las funciones “</a:t>
            </a:r>
            <a:r>
              <a:rPr lang="es-AR" dirty="0" err="1"/>
              <a:t>mq_open</a:t>
            </a:r>
            <a:r>
              <a:rPr lang="es-AR" dirty="0"/>
              <a:t> ()”, “</a:t>
            </a:r>
            <a:r>
              <a:rPr lang="es-AR" dirty="0" err="1"/>
              <a:t>mq_getattr</a:t>
            </a:r>
            <a:r>
              <a:rPr lang="es-AR" dirty="0"/>
              <a:t>()” y “</a:t>
            </a:r>
            <a:r>
              <a:rPr lang="es-AR" dirty="0" err="1"/>
              <a:t>mq_setattr</a:t>
            </a:r>
            <a:r>
              <a:rPr lang="es-AR" dirty="0"/>
              <a:t> ()” permiten un argumento que es un puntero a una estructura “</a:t>
            </a:r>
            <a:r>
              <a:rPr lang="es-AR" dirty="0" err="1"/>
              <a:t>mq_attr</a:t>
            </a:r>
            <a:r>
              <a:rPr lang="es-AR" dirty="0"/>
              <a:t>”.</a:t>
            </a:r>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marL="0" indent="0">
              <a:buNone/>
            </a:pPr>
            <a:endParaRPr lang="es-AR" dirty="0"/>
          </a:p>
          <a:p>
            <a:endParaRPr lang="es-AR" dirty="0"/>
          </a:p>
        </p:txBody>
      </p:sp>
      <p:pic>
        <p:nvPicPr>
          <p:cNvPr id="5" name="Imagen 4">
            <a:extLst>
              <a:ext uri="{FF2B5EF4-FFF2-40B4-BE49-F238E27FC236}">
                <a16:creationId xmlns:a16="http://schemas.microsoft.com/office/drawing/2014/main" id="{6D0CA882-1453-0592-D639-D311BC545E1F}"/>
              </a:ext>
            </a:extLst>
          </p:cNvPr>
          <p:cNvPicPr>
            <a:picLocks noChangeAspect="1"/>
          </p:cNvPicPr>
          <p:nvPr/>
        </p:nvPicPr>
        <p:blipFill>
          <a:blip r:embed="rId2"/>
          <a:stretch>
            <a:fillRect/>
          </a:stretch>
        </p:blipFill>
        <p:spPr>
          <a:xfrm>
            <a:off x="2612695" y="2680912"/>
            <a:ext cx="6735115" cy="2353003"/>
          </a:xfrm>
          <a:prstGeom prst="rect">
            <a:avLst/>
          </a:prstGeom>
        </p:spPr>
      </p:pic>
    </p:spTree>
    <p:extLst>
      <p:ext uri="{BB962C8B-B14F-4D97-AF65-F5344CB8AC3E}">
        <p14:creationId xmlns:p14="http://schemas.microsoft.com/office/powerpoint/2010/main" val="1501366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CC65AA-2F39-837B-894E-C816ADF737A9}"/>
              </a:ext>
            </a:extLst>
          </p:cNvPr>
          <p:cNvSpPr>
            <a:spLocks noGrp="1"/>
          </p:cNvSpPr>
          <p:nvPr>
            <p:ph type="title"/>
          </p:nvPr>
        </p:nvSpPr>
        <p:spPr/>
        <p:txBody>
          <a:bodyPr>
            <a:normAutofit/>
          </a:bodyPr>
          <a:lstStyle/>
          <a:p>
            <a:r>
              <a:rPr lang="es-AR" sz="4000" dirty="0"/>
              <a:t>Recuperación de Atributos de la Cola de Mensajes</a:t>
            </a:r>
          </a:p>
        </p:txBody>
      </p:sp>
      <p:sp>
        <p:nvSpPr>
          <p:cNvPr id="3" name="Marcador de contenido 2">
            <a:extLst>
              <a:ext uri="{FF2B5EF4-FFF2-40B4-BE49-F238E27FC236}">
                <a16:creationId xmlns:a16="http://schemas.microsoft.com/office/drawing/2014/main" id="{2BC66914-CEE1-AFD0-2CB1-55ACCAC234AF}"/>
              </a:ext>
            </a:extLst>
          </p:cNvPr>
          <p:cNvSpPr>
            <a:spLocks noGrp="1"/>
          </p:cNvSpPr>
          <p:nvPr>
            <p:ph idx="1"/>
          </p:nvPr>
        </p:nvSpPr>
        <p:spPr/>
        <p:txBody>
          <a:bodyPr/>
          <a:lstStyle/>
          <a:p>
            <a:pPr lvl="1">
              <a:buFont typeface="Arial" panose="020B0604020202020204" pitchFamily="34" charset="0"/>
              <a:buChar char="•"/>
            </a:pPr>
            <a:r>
              <a:rPr lang="es-AR" dirty="0"/>
              <a:t>La función “</a:t>
            </a:r>
            <a:r>
              <a:rPr lang="es-AR" dirty="0" err="1"/>
              <a:t>mq_getattr</a:t>
            </a:r>
            <a:r>
              <a:rPr lang="es-AR" dirty="0"/>
              <a:t>()” devuelve una estructura </a:t>
            </a:r>
            <a:r>
              <a:rPr lang="es-AR" dirty="0" err="1"/>
              <a:t>mq_attr</a:t>
            </a:r>
            <a:r>
              <a:rPr lang="es-AR" dirty="0"/>
              <a:t> que contiene información sobre la descripción de la cola de mensajes y a cola de mensajes asociada con el descriptor </a:t>
            </a:r>
            <a:r>
              <a:rPr lang="es-AR" dirty="0" err="1"/>
              <a:t>mqdes</a:t>
            </a:r>
            <a:r>
              <a:rPr lang="es-AR" dirty="0"/>
              <a:t>.</a:t>
            </a:r>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r>
              <a:rPr lang="es-AR" dirty="0"/>
              <a:t>Además de devolver </a:t>
            </a:r>
            <a:r>
              <a:rPr lang="es-AR" dirty="0" err="1"/>
              <a:t>mq_maxmsg</a:t>
            </a:r>
            <a:r>
              <a:rPr lang="es-AR" dirty="0"/>
              <a:t> y </a:t>
            </a:r>
            <a:r>
              <a:rPr lang="es-AR" dirty="0" err="1"/>
              <a:t>mq_msgsize</a:t>
            </a:r>
            <a:r>
              <a:rPr lang="es-AR" dirty="0"/>
              <a:t> devuelve </a:t>
            </a:r>
            <a:r>
              <a:rPr lang="es-AR" dirty="0" err="1"/>
              <a:t>mq_flags</a:t>
            </a:r>
            <a:r>
              <a:rPr lang="es-AR" dirty="0"/>
              <a:t> y </a:t>
            </a:r>
            <a:r>
              <a:rPr lang="es-AR" dirty="0" err="1"/>
              <a:t>mq_curmsgs</a:t>
            </a:r>
            <a:r>
              <a:rPr lang="es-AR" dirty="0"/>
              <a:t>.</a:t>
            </a:r>
          </a:p>
          <a:p>
            <a:pPr lvl="1">
              <a:buFont typeface="Arial" panose="020B0604020202020204" pitchFamily="34" charset="0"/>
              <a:buChar char="•"/>
            </a:pPr>
            <a:r>
              <a:rPr lang="es-AR" dirty="0"/>
              <a:t>El campo </a:t>
            </a:r>
            <a:r>
              <a:rPr lang="es-AR" dirty="0" err="1"/>
              <a:t>mq_flags</a:t>
            </a:r>
            <a:r>
              <a:rPr lang="es-AR" dirty="0"/>
              <a:t> son los indicadores para la descripción de la cola de mensajes.</a:t>
            </a:r>
          </a:p>
          <a:p>
            <a:pPr lvl="1">
              <a:buFont typeface="Arial" panose="020B0604020202020204" pitchFamily="34" charset="0"/>
              <a:buChar char="•"/>
            </a:pPr>
            <a:r>
              <a:rPr lang="es-AR" dirty="0"/>
              <a:t>El campo </a:t>
            </a:r>
            <a:r>
              <a:rPr lang="es-AR" dirty="0" err="1"/>
              <a:t>mq_curmsgs</a:t>
            </a:r>
            <a:r>
              <a:rPr lang="es-AR" dirty="0"/>
              <a:t> es el número de mensajes que hay actualmente en la cola de mensajes.</a:t>
            </a:r>
          </a:p>
        </p:txBody>
      </p:sp>
      <p:pic>
        <p:nvPicPr>
          <p:cNvPr id="5" name="Imagen 4">
            <a:extLst>
              <a:ext uri="{FF2B5EF4-FFF2-40B4-BE49-F238E27FC236}">
                <a16:creationId xmlns:a16="http://schemas.microsoft.com/office/drawing/2014/main" id="{2DC5721F-6D52-5A82-D0F8-07B01F601F8F}"/>
              </a:ext>
            </a:extLst>
          </p:cNvPr>
          <p:cNvPicPr>
            <a:picLocks noChangeAspect="1"/>
          </p:cNvPicPr>
          <p:nvPr/>
        </p:nvPicPr>
        <p:blipFill>
          <a:blip r:embed="rId2"/>
          <a:stretch>
            <a:fillRect/>
          </a:stretch>
        </p:blipFill>
        <p:spPr>
          <a:xfrm>
            <a:off x="2135761" y="2724051"/>
            <a:ext cx="7897327" cy="1409897"/>
          </a:xfrm>
          <a:prstGeom prst="rect">
            <a:avLst/>
          </a:prstGeom>
        </p:spPr>
      </p:pic>
    </p:spTree>
    <p:extLst>
      <p:ext uri="{BB962C8B-B14F-4D97-AF65-F5344CB8AC3E}">
        <p14:creationId xmlns:p14="http://schemas.microsoft.com/office/powerpoint/2010/main" val="1737465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201067-077B-F7E3-0372-05B6C31035CC}"/>
              </a:ext>
            </a:extLst>
          </p:cNvPr>
          <p:cNvSpPr>
            <a:spLocks noGrp="1"/>
          </p:cNvSpPr>
          <p:nvPr>
            <p:ph type="title"/>
          </p:nvPr>
        </p:nvSpPr>
        <p:spPr/>
        <p:txBody>
          <a:bodyPr>
            <a:normAutofit/>
          </a:bodyPr>
          <a:lstStyle/>
          <a:p>
            <a:r>
              <a:rPr lang="es-AR" sz="3600" dirty="0"/>
              <a:t>Modificación de los Atributos de la Cola de Mensajes</a:t>
            </a:r>
          </a:p>
        </p:txBody>
      </p:sp>
      <p:sp>
        <p:nvSpPr>
          <p:cNvPr id="3" name="Marcador de contenido 2">
            <a:extLst>
              <a:ext uri="{FF2B5EF4-FFF2-40B4-BE49-F238E27FC236}">
                <a16:creationId xmlns:a16="http://schemas.microsoft.com/office/drawing/2014/main" id="{A643030F-4C96-18E7-CB34-37291F38FCB5}"/>
              </a:ext>
            </a:extLst>
          </p:cNvPr>
          <p:cNvSpPr>
            <a:spLocks noGrp="1"/>
          </p:cNvSpPr>
          <p:nvPr>
            <p:ph idx="1"/>
          </p:nvPr>
        </p:nvSpPr>
        <p:spPr/>
        <p:txBody>
          <a:bodyPr/>
          <a:lstStyle/>
          <a:p>
            <a:pPr lvl="1">
              <a:buFont typeface="Arial" panose="020B0604020202020204" pitchFamily="34" charset="0"/>
              <a:buChar char="•"/>
            </a:pPr>
            <a:r>
              <a:rPr lang="es-AR" dirty="0"/>
              <a:t>La función “</a:t>
            </a:r>
            <a:r>
              <a:rPr lang="es-AR" dirty="0" err="1"/>
              <a:t>mq_setattr</a:t>
            </a:r>
            <a:r>
              <a:rPr lang="es-AR" dirty="0"/>
              <a:t> ()” establece los atributos de la descripción de la cola de mensajes asociada con el descriptor de la cola de mensajes </a:t>
            </a:r>
            <a:r>
              <a:rPr lang="es-AR" dirty="0" err="1"/>
              <a:t>mqdes</a:t>
            </a:r>
            <a:r>
              <a:rPr lang="es-AR" dirty="0"/>
              <a:t>.</a:t>
            </a:r>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r>
              <a:rPr lang="es-AR" dirty="0"/>
              <a:t>Utiliza el campo </a:t>
            </a:r>
            <a:r>
              <a:rPr lang="es-AR" dirty="0" err="1"/>
              <a:t>mq_flags</a:t>
            </a:r>
            <a:r>
              <a:rPr lang="es-AR" dirty="0"/>
              <a:t> en la estructura </a:t>
            </a:r>
            <a:r>
              <a:rPr lang="es-AR" dirty="0" err="1"/>
              <a:t>mq_attr</a:t>
            </a:r>
            <a:r>
              <a:rPr lang="es-AR" dirty="0"/>
              <a:t> a la que apunta </a:t>
            </a:r>
            <a:r>
              <a:rPr lang="es-AR" dirty="0" err="1"/>
              <a:t>newattr</a:t>
            </a:r>
            <a:r>
              <a:rPr lang="es-AR" dirty="0"/>
              <a:t> para cambiar los indicadores de la descripción de la cola de mensajes asociada con el descriptor </a:t>
            </a:r>
            <a:r>
              <a:rPr lang="es-AR" dirty="0" err="1"/>
              <a:t>mqdes</a:t>
            </a:r>
            <a:r>
              <a:rPr lang="es-AR" dirty="0"/>
              <a:t>.</a:t>
            </a:r>
          </a:p>
          <a:p>
            <a:pPr marL="201168" lvl="1" indent="0">
              <a:buNone/>
            </a:pPr>
            <a:endParaRPr lang="es-AR" dirty="0"/>
          </a:p>
          <a:p>
            <a:pPr lvl="1">
              <a:buFont typeface="Arial" panose="020B0604020202020204" pitchFamily="34" charset="0"/>
              <a:buChar char="•"/>
            </a:pPr>
            <a:r>
              <a:rPr lang="es-AR" dirty="0"/>
              <a:t>Si </a:t>
            </a:r>
            <a:r>
              <a:rPr lang="es-AR" dirty="0" err="1"/>
              <a:t>oldattr</a:t>
            </a:r>
            <a:r>
              <a:rPr lang="es-AR" dirty="0"/>
              <a:t> no es NULL, devuelve una estructura </a:t>
            </a:r>
            <a:r>
              <a:rPr lang="es-AR" dirty="0" err="1"/>
              <a:t>mq_attr</a:t>
            </a:r>
            <a:r>
              <a:rPr lang="es-AR" dirty="0"/>
              <a:t> que contiene los indicadores de descripción de la cola de mensajes anterior y los atributos de la cola de mensajes (</a:t>
            </a:r>
            <a:r>
              <a:rPr lang="es-AR" dirty="0" err="1"/>
              <a:t>mq_getattr</a:t>
            </a:r>
            <a:r>
              <a:rPr lang="es-AR" dirty="0"/>
              <a:t>()).</a:t>
            </a:r>
          </a:p>
        </p:txBody>
      </p:sp>
      <p:pic>
        <p:nvPicPr>
          <p:cNvPr id="7" name="Imagen 6">
            <a:extLst>
              <a:ext uri="{FF2B5EF4-FFF2-40B4-BE49-F238E27FC236}">
                <a16:creationId xmlns:a16="http://schemas.microsoft.com/office/drawing/2014/main" id="{A434D724-EAF3-5078-66FF-9255B72F70C6}"/>
              </a:ext>
            </a:extLst>
          </p:cNvPr>
          <p:cNvPicPr>
            <a:picLocks noChangeAspect="1"/>
          </p:cNvPicPr>
          <p:nvPr/>
        </p:nvPicPr>
        <p:blipFill>
          <a:blip r:embed="rId2"/>
          <a:stretch>
            <a:fillRect/>
          </a:stretch>
        </p:blipFill>
        <p:spPr>
          <a:xfrm>
            <a:off x="2147336" y="2609735"/>
            <a:ext cx="7897327" cy="1638529"/>
          </a:xfrm>
          <a:prstGeom prst="rect">
            <a:avLst/>
          </a:prstGeom>
        </p:spPr>
      </p:pic>
    </p:spTree>
    <p:extLst>
      <p:ext uri="{BB962C8B-B14F-4D97-AF65-F5344CB8AC3E}">
        <p14:creationId xmlns:p14="http://schemas.microsoft.com/office/powerpoint/2010/main" val="725618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AB114A-94C7-814E-DC8C-A34D309F777E}"/>
              </a:ext>
            </a:extLst>
          </p:cNvPr>
          <p:cNvSpPr>
            <a:spLocks noGrp="1"/>
          </p:cNvSpPr>
          <p:nvPr>
            <p:ph type="title"/>
          </p:nvPr>
        </p:nvSpPr>
        <p:spPr/>
        <p:txBody>
          <a:bodyPr/>
          <a:lstStyle/>
          <a:p>
            <a:r>
              <a:rPr lang="es-AR" dirty="0"/>
              <a:t>Envío de Mensajes</a:t>
            </a:r>
          </a:p>
        </p:txBody>
      </p:sp>
      <p:sp>
        <p:nvSpPr>
          <p:cNvPr id="3" name="Marcador de contenido 2">
            <a:extLst>
              <a:ext uri="{FF2B5EF4-FFF2-40B4-BE49-F238E27FC236}">
                <a16:creationId xmlns:a16="http://schemas.microsoft.com/office/drawing/2014/main" id="{D51C7C97-FB07-84FB-51D5-42C21EA2F337}"/>
              </a:ext>
            </a:extLst>
          </p:cNvPr>
          <p:cNvSpPr>
            <a:spLocks noGrp="1"/>
          </p:cNvSpPr>
          <p:nvPr>
            <p:ph idx="1"/>
          </p:nvPr>
        </p:nvSpPr>
        <p:spPr/>
        <p:txBody>
          <a:bodyPr>
            <a:normAutofit lnSpcReduction="10000"/>
          </a:bodyPr>
          <a:lstStyle/>
          <a:p>
            <a:pPr lvl="1">
              <a:buFont typeface="Arial" panose="020B0604020202020204" pitchFamily="34" charset="0"/>
              <a:buChar char="•"/>
            </a:pPr>
            <a:r>
              <a:rPr lang="es-AR" dirty="0"/>
              <a:t>La función “</a:t>
            </a:r>
            <a:r>
              <a:rPr lang="es-AR" dirty="0" err="1"/>
              <a:t>mq_send</a:t>
            </a:r>
            <a:r>
              <a:rPr lang="es-AR" dirty="0"/>
              <a:t> ()” agrega el mensaje en el buffer al que apunta </a:t>
            </a:r>
            <a:r>
              <a:rPr lang="es-AR" dirty="0" err="1"/>
              <a:t>msg_ptr</a:t>
            </a:r>
            <a:r>
              <a:rPr lang="es-AR" dirty="0"/>
              <a:t> a la cola de mensajes a la que hace referencia el descriptor </a:t>
            </a:r>
            <a:r>
              <a:rPr lang="es-AR" dirty="0" err="1"/>
              <a:t>mqdes</a:t>
            </a:r>
            <a:r>
              <a:rPr lang="es-AR" dirty="0"/>
              <a:t>.</a:t>
            </a:r>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r>
              <a:rPr lang="es-AR" dirty="0"/>
              <a:t>Argumento </a:t>
            </a:r>
            <a:r>
              <a:rPr lang="es-AR" dirty="0" err="1"/>
              <a:t>msg_len</a:t>
            </a:r>
            <a:r>
              <a:rPr lang="es-AR" dirty="0"/>
              <a:t>: longitud del mensaje al que apunta </a:t>
            </a:r>
            <a:r>
              <a:rPr lang="es-AR" dirty="0" err="1"/>
              <a:t>msg_ptr</a:t>
            </a:r>
            <a:r>
              <a:rPr lang="es-AR" dirty="0"/>
              <a:t>, debe ser menor o igual al atributo </a:t>
            </a:r>
            <a:r>
              <a:rPr lang="es-AR" dirty="0" err="1"/>
              <a:t>mq_msgsize</a:t>
            </a:r>
            <a:r>
              <a:rPr lang="es-AR" dirty="0"/>
              <a:t> de la cola de mensajes, de lo contrario, </a:t>
            </a:r>
            <a:r>
              <a:rPr lang="es-AR" dirty="0" err="1"/>
              <a:t>mq_send</a:t>
            </a:r>
            <a:r>
              <a:rPr lang="es-AR" dirty="0"/>
              <a:t> () fallará con el error EMSGSIZE.</a:t>
            </a:r>
          </a:p>
          <a:p>
            <a:pPr lvl="1">
              <a:buFont typeface="Arial" panose="020B0604020202020204" pitchFamily="34" charset="0"/>
              <a:buChar char="•"/>
            </a:pPr>
            <a:r>
              <a:rPr lang="es-AR" dirty="0"/>
              <a:t>Cada mensaje tiene una prioridad entera no negativa, </a:t>
            </a:r>
            <a:r>
              <a:rPr lang="es-AR" dirty="0" err="1"/>
              <a:t>msg_prio</a:t>
            </a:r>
            <a:r>
              <a:rPr lang="es-AR" dirty="0"/>
              <a:t>. Los mensajes se ordenan en la cola en orden descendente de prioridad.</a:t>
            </a:r>
          </a:p>
          <a:p>
            <a:pPr lvl="1">
              <a:buFont typeface="Arial" panose="020B0604020202020204" pitchFamily="34" charset="0"/>
              <a:buChar char="•"/>
            </a:pPr>
            <a:r>
              <a:rPr lang="es-AR" dirty="0"/>
              <a:t>Cuando se agrega un nuevo mensaje a la cola, se coloca después de cualquier otro mensaje de la misma prioridad.</a:t>
            </a:r>
          </a:p>
          <a:p>
            <a:pPr lvl="1">
              <a:buFont typeface="Arial" panose="020B0604020202020204" pitchFamily="34" charset="0"/>
              <a:buChar char="•"/>
            </a:pPr>
            <a:endParaRPr lang="es-AR" dirty="0"/>
          </a:p>
          <a:p>
            <a:endParaRPr lang="es-AR" dirty="0"/>
          </a:p>
        </p:txBody>
      </p:sp>
      <p:pic>
        <p:nvPicPr>
          <p:cNvPr id="5" name="Imagen 4">
            <a:extLst>
              <a:ext uri="{FF2B5EF4-FFF2-40B4-BE49-F238E27FC236}">
                <a16:creationId xmlns:a16="http://schemas.microsoft.com/office/drawing/2014/main" id="{3AF872AE-A11E-9B07-AA9B-30E16EBAE32F}"/>
              </a:ext>
            </a:extLst>
          </p:cNvPr>
          <p:cNvPicPr>
            <a:picLocks noChangeAspect="1"/>
          </p:cNvPicPr>
          <p:nvPr/>
        </p:nvPicPr>
        <p:blipFill>
          <a:blip r:embed="rId2"/>
          <a:stretch>
            <a:fillRect/>
          </a:stretch>
        </p:blipFill>
        <p:spPr>
          <a:xfrm>
            <a:off x="2187343" y="2413632"/>
            <a:ext cx="7878274" cy="1590897"/>
          </a:xfrm>
          <a:prstGeom prst="rect">
            <a:avLst/>
          </a:prstGeom>
        </p:spPr>
      </p:pic>
    </p:spTree>
    <p:extLst>
      <p:ext uri="{BB962C8B-B14F-4D97-AF65-F5344CB8AC3E}">
        <p14:creationId xmlns:p14="http://schemas.microsoft.com/office/powerpoint/2010/main" val="1024494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6EE270-9607-F1CB-52E5-582020D2E7CC}"/>
              </a:ext>
            </a:extLst>
          </p:cNvPr>
          <p:cNvSpPr>
            <a:spLocks noGrp="1"/>
          </p:cNvSpPr>
          <p:nvPr>
            <p:ph type="title"/>
          </p:nvPr>
        </p:nvSpPr>
        <p:spPr/>
        <p:txBody>
          <a:bodyPr/>
          <a:lstStyle/>
          <a:p>
            <a:r>
              <a:rPr lang="es-AR" dirty="0"/>
              <a:t>Recepción de Mensajes</a:t>
            </a:r>
          </a:p>
        </p:txBody>
      </p:sp>
      <p:sp>
        <p:nvSpPr>
          <p:cNvPr id="3" name="Marcador de contenido 2">
            <a:extLst>
              <a:ext uri="{FF2B5EF4-FFF2-40B4-BE49-F238E27FC236}">
                <a16:creationId xmlns:a16="http://schemas.microsoft.com/office/drawing/2014/main" id="{D126C5D4-A98F-F5E8-A93E-FAA95D6D14B3}"/>
              </a:ext>
            </a:extLst>
          </p:cNvPr>
          <p:cNvSpPr>
            <a:spLocks noGrp="1"/>
          </p:cNvSpPr>
          <p:nvPr>
            <p:ph idx="1"/>
          </p:nvPr>
        </p:nvSpPr>
        <p:spPr/>
        <p:txBody>
          <a:bodyPr>
            <a:normAutofit fontScale="92500" lnSpcReduction="10000"/>
          </a:bodyPr>
          <a:lstStyle/>
          <a:p>
            <a:pPr lvl="1">
              <a:buFont typeface="Arial" panose="020B0604020202020204" pitchFamily="34" charset="0"/>
              <a:buChar char="•"/>
            </a:pPr>
            <a:r>
              <a:rPr lang="es-AR" dirty="0"/>
              <a:t>La función “</a:t>
            </a:r>
            <a:r>
              <a:rPr lang="es-AR" dirty="0" err="1"/>
              <a:t>mq_receive</a:t>
            </a:r>
            <a:r>
              <a:rPr lang="es-AR" dirty="0"/>
              <a:t> ()” elimina el mensaje más antiguo con la prioridad más alta de la cola de mensajes a la que hace referencia </a:t>
            </a:r>
            <a:r>
              <a:rPr lang="es-AR" dirty="0" err="1"/>
              <a:t>mqdes</a:t>
            </a:r>
            <a:r>
              <a:rPr lang="es-AR" dirty="0"/>
              <a:t> y devuelve ese mensaje en el búfer al que apunta </a:t>
            </a:r>
            <a:r>
              <a:rPr lang="es-AR" dirty="0" err="1"/>
              <a:t>msg_ptr</a:t>
            </a:r>
            <a:r>
              <a:rPr lang="es-AR" dirty="0"/>
              <a:t>.</a:t>
            </a:r>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r>
              <a:rPr lang="es-AR" dirty="0"/>
              <a:t>El argumento </a:t>
            </a:r>
            <a:r>
              <a:rPr lang="es-AR" dirty="0" err="1"/>
              <a:t>msg_len</a:t>
            </a:r>
            <a:r>
              <a:rPr lang="es-AR" dirty="0"/>
              <a:t>: especifica el número de bytes de espacio disponible en el búfer al que apunta </a:t>
            </a:r>
            <a:r>
              <a:rPr lang="es-AR" dirty="0" err="1"/>
              <a:t>msg_prio</a:t>
            </a:r>
            <a:r>
              <a:rPr lang="es-AR" dirty="0"/>
              <a:t>, independientemente del tamaño del mensaje, debe ser mayor o igual que el atributo </a:t>
            </a:r>
            <a:r>
              <a:rPr lang="es-AR" dirty="0" err="1"/>
              <a:t>mq_msgsize</a:t>
            </a:r>
            <a:r>
              <a:rPr lang="es-AR" dirty="0"/>
              <a:t> de la cola, de lo contrario </a:t>
            </a:r>
            <a:r>
              <a:rPr lang="es-AR" dirty="0" err="1"/>
              <a:t>mq_receive</a:t>
            </a:r>
            <a:r>
              <a:rPr lang="es-AR" dirty="0"/>
              <a:t> () falla con el error EMSGSIZE.</a:t>
            </a:r>
          </a:p>
          <a:p>
            <a:pPr lvl="1">
              <a:buFont typeface="Arial" panose="020B0604020202020204" pitchFamily="34" charset="0"/>
              <a:buChar char="•"/>
            </a:pPr>
            <a:r>
              <a:rPr lang="es-AR" dirty="0"/>
              <a:t>Si </a:t>
            </a:r>
            <a:r>
              <a:rPr lang="es-AR" dirty="0" err="1"/>
              <a:t>msg_prio</a:t>
            </a:r>
            <a:r>
              <a:rPr lang="es-AR" dirty="0"/>
              <a:t> no es NULL, entonces la prioridad del mensaje recibido se copia en la ubicación señalada por </a:t>
            </a:r>
            <a:r>
              <a:rPr lang="es-AR" dirty="0" err="1"/>
              <a:t>msg_prio</a:t>
            </a:r>
            <a:r>
              <a:rPr lang="es-AR" dirty="0"/>
              <a:t>.</a:t>
            </a:r>
          </a:p>
          <a:p>
            <a:pPr lvl="1">
              <a:buFont typeface="Arial" panose="020B0604020202020204" pitchFamily="34" charset="0"/>
              <a:buChar char="•"/>
            </a:pPr>
            <a:r>
              <a:rPr lang="es-AR" dirty="0"/>
              <a:t>Si  la cola de mensajes está vacía, </a:t>
            </a:r>
            <a:r>
              <a:rPr lang="es-AR" dirty="0" err="1"/>
              <a:t>mq_receive</a:t>
            </a:r>
            <a:r>
              <a:rPr lang="es-AR" dirty="0"/>
              <a:t> () se bloquea hasta que haya un mensaje disponible o, si la bandera O_NONBLOCK está activa, falla con el error EAGAIN</a:t>
            </a:r>
          </a:p>
          <a:p>
            <a:pPr lvl="1">
              <a:buFont typeface="Arial" panose="020B0604020202020204" pitchFamily="34" charset="0"/>
              <a:buChar char="•"/>
            </a:pPr>
            <a:endParaRPr lang="es-AR" dirty="0"/>
          </a:p>
        </p:txBody>
      </p:sp>
      <p:pic>
        <p:nvPicPr>
          <p:cNvPr id="5" name="Imagen 4">
            <a:extLst>
              <a:ext uri="{FF2B5EF4-FFF2-40B4-BE49-F238E27FC236}">
                <a16:creationId xmlns:a16="http://schemas.microsoft.com/office/drawing/2014/main" id="{B06C0A55-3A6B-D629-8FAA-ED23FF3D206E}"/>
              </a:ext>
            </a:extLst>
          </p:cNvPr>
          <p:cNvPicPr>
            <a:picLocks noChangeAspect="1"/>
          </p:cNvPicPr>
          <p:nvPr/>
        </p:nvPicPr>
        <p:blipFill>
          <a:blip r:embed="rId2"/>
          <a:stretch>
            <a:fillRect/>
          </a:stretch>
        </p:blipFill>
        <p:spPr>
          <a:xfrm>
            <a:off x="2161626" y="2380957"/>
            <a:ext cx="7868748" cy="1609950"/>
          </a:xfrm>
          <a:prstGeom prst="rect">
            <a:avLst/>
          </a:prstGeom>
        </p:spPr>
      </p:pic>
    </p:spTree>
    <p:extLst>
      <p:ext uri="{BB962C8B-B14F-4D97-AF65-F5344CB8AC3E}">
        <p14:creationId xmlns:p14="http://schemas.microsoft.com/office/powerpoint/2010/main" val="120831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ABB16-848B-20F2-800D-C46A1BEBF8B7}"/>
              </a:ext>
            </a:extLst>
          </p:cNvPr>
          <p:cNvSpPr>
            <a:spLocks noGrp="1"/>
          </p:cNvSpPr>
          <p:nvPr>
            <p:ph type="title"/>
          </p:nvPr>
        </p:nvSpPr>
        <p:spPr/>
        <p:txBody>
          <a:bodyPr/>
          <a:lstStyle/>
          <a:p>
            <a:r>
              <a:rPr lang="es-AR" dirty="0"/>
              <a:t>Envío y Recepción de Mensajes con Tiempo de Espera</a:t>
            </a:r>
          </a:p>
        </p:txBody>
      </p:sp>
      <p:sp>
        <p:nvSpPr>
          <p:cNvPr id="3" name="Marcador de contenido 2">
            <a:extLst>
              <a:ext uri="{FF2B5EF4-FFF2-40B4-BE49-F238E27FC236}">
                <a16:creationId xmlns:a16="http://schemas.microsoft.com/office/drawing/2014/main" id="{9C379D84-1DB6-ECE1-29E5-39EB5D62B767}"/>
              </a:ext>
            </a:extLst>
          </p:cNvPr>
          <p:cNvSpPr>
            <a:spLocks noGrp="1"/>
          </p:cNvSpPr>
          <p:nvPr>
            <p:ph idx="1"/>
          </p:nvPr>
        </p:nvSpPr>
        <p:spPr>
          <a:xfrm>
            <a:off x="1097280" y="1845734"/>
            <a:ext cx="10058400" cy="4393020"/>
          </a:xfrm>
        </p:spPr>
        <p:txBody>
          <a:bodyPr>
            <a:normAutofit fontScale="92500" lnSpcReduction="20000"/>
          </a:bodyPr>
          <a:lstStyle/>
          <a:p>
            <a:pPr lvl="1" algn="just">
              <a:buFont typeface="Arial" panose="020B0604020202020204" pitchFamily="34" charset="0"/>
              <a:buChar char="•"/>
            </a:pPr>
            <a:r>
              <a:rPr lang="es-AR" dirty="0"/>
              <a:t>Las funciones “</a:t>
            </a:r>
            <a:r>
              <a:rPr lang="es-AR" dirty="0" err="1"/>
              <a:t>mq_timedsend</a:t>
            </a:r>
            <a:r>
              <a:rPr lang="es-AR" dirty="0"/>
              <a:t> ()” y “</a:t>
            </a:r>
            <a:r>
              <a:rPr lang="es-AR" dirty="0" err="1"/>
              <a:t>mq_timedreceive</a:t>
            </a:r>
            <a:r>
              <a:rPr lang="es-AR" dirty="0"/>
              <a:t> ()” son iguales a </a:t>
            </a:r>
            <a:r>
              <a:rPr lang="es-AR" dirty="0" err="1"/>
              <a:t>mq_send</a:t>
            </a:r>
            <a:r>
              <a:rPr lang="es-AR" dirty="0"/>
              <a:t> () y </a:t>
            </a:r>
            <a:r>
              <a:rPr lang="es-AR" dirty="0" err="1"/>
              <a:t>mq_receive</a:t>
            </a:r>
            <a:r>
              <a:rPr lang="es-AR" dirty="0"/>
              <a:t> () excepto que si la operación no se puede realizar de inmediato y la bandera O_NONBLOCK no está activa para la descripción de la cola de mensajes, entonces el argumento </a:t>
            </a:r>
            <a:r>
              <a:rPr lang="es-AR" dirty="0" err="1"/>
              <a:t>abs_timeout</a:t>
            </a:r>
            <a:r>
              <a:rPr lang="es-AR" dirty="0"/>
              <a:t> especifica un limite de tiempo durante el cual se bloqueará la llamada.</a:t>
            </a:r>
          </a:p>
          <a:p>
            <a:pPr lvl="1" algn="just">
              <a:buFont typeface="Arial" panose="020B0604020202020204" pitchFamily="34" charset="0"/>
              <a:buChar char="•"/>
            </a:pPr>
            <a:endParaRPr lang="es-AR" dirty="0"/>
          </a:p>
          <a:p>
            <a:pPr lvl="1" algn="just">
              <a:buFont typeface="Arial" panose="020B0604020202020204" pitchFamily="34" charset="0"/>
              <a:buChar char="•"/>
            </a:pPr>
            <a:endParaRPr lang="es-AR" dirty="0"/>
          </a:p>
          <a:p>
            <a:pPr lvl="1" algn="just">
              <a:buFont typeface="Arial" panose="020B0604020202020204" pitchFamily="34" charset="0"/>
              <a:buChar char="•"/>
            </a:pPr>
            <a:endParaRPr lang="es-AR" dirty="0"/>
          </a:p>
          <a:p>
            <a:pPr lvl="1" algn="just">
              <a:buFont typeface="Arial" panose="020B0604020202020204" pitchFamily="34" charset="0"/>
              <a:buChar char="•"/>
            </a:pPr>
            <a:endParaRPr lang="es-AR" dirty="0"/>
          </a:p>
          <a:p>
            <a:pPr lvl="1" algn="just">
              <a:buFont typeface="Arial" panose="020B0604020202020204" pitchFamily="34" charset="0"/>
              <a:buChar char="•"/>
            </a:pPr>
            <a:endParaRPr lang="es-AR" dirty="0"/>
          </a:p>
          <a:p>
            <a:pPr lvl="1" algn="just">
              <a:buFont typeface="Arial" panose="020B0604020202020204" pitchFamily="34" charset="0"/>
              <a:buChar char="•"/>
            </a:pPr>
            <a:endParaRPr lang="es-AR" dirty="0"/>
          </a:p>
          <a:p>
            <a:pPr lvl="1" algn="just">
              <a:buFont typeface="Arial" panose="020B0604020202020204" pitchFamily="34" charset="0"/>
              <a:buChar char="•"/>
            </a:pPr>
            <a:endParaRPr lang="es-AR" dirty="0"/>
          </a:p>
          <a:p>
            <a:pPr lvl="1" algn="just">
              <a:buFont typeface="Arial" panose="020B0604020202020204" pitchFamily="34" charset="0"/>
              <a:buChar char="•"/>
            </a:pPr>
            <a:endParaRPr lang="es-AR" dirty="0"/>
          </a:p>
          <a:p>
            <a:pPr lvl="1" algn="just">
              <a:buFont typeface="Arial" panose="020B0604020202020204" pitchFamily="34" charset="0"/>
              <a:buChar char="•"/>
            </a:pPr>
            <a:endParaRPr lang="es-AR" dirty="0"/>
          </a:p>
          <a:p>
            <a:pPr lvl="1" algn="just">
              <a:buFont typeface="Arial" panose="020B0604020202020204" pitchFamily="34" charset="0"/>
              <a:buChar char="•"/>
            </a:pPr>
            <a:endParaRPr lang="es-AR" dirty="0"/>
          </a:p>
          <a:p>
            <a:pPr lvl="1" algn="just">
              <a:buFont typeface="Arial" panose="020B0604020202020204" pitchFamily="34" charset="0"/>
              <a:buChar char="•"/>
            </a:pPr>
            <a:r>
              <a:rPr lang="es-AR" dirty="0"/>
              <a:t>Es decir, </a:t>
            </a:r>
            <a:r>
              <a:rPr lang="es-AR" dirty="0" err="1"/>
              <a:t>struct</a:t>
            </a:r>
            <a:r>
              <a:rPr lang="es-AR" dirty="0"/>
              <a:t> </a:t>
            </a:r>
            <a:r>
              <a:rPr lang="es-AR" dirty="0" err="1"/>
              <a:t>timespec</a:t>
            </a:r>
            <a:r>
              <a:rPr lang="es-AR" dirty="0"/>
              <a:t> *</a:t>
            </a:r>
            <a:r>
              <a:rPr lang="es-AR" dirty="0" err="1"/>
              <a:t>abs_timeout</a:t>
            </a:r>
            <a:r>
              <a:rPr lang="es-AR" dirty="0"/>
              <a:t>, define el tiempo máximo que el programa está dispuesto a esperar si la cola está llena (al enviar) o vacía (al recibir). </a:t>
            </a:r>
          </a:p>
          <a:p>
            <a:pPr lvl="1" algn="just">
              <a:buFont typeface="Arial" panose="020B0604020202020204" pitchFamily="34" charset="0"/>
              <a:buChar char="•"/>
            </a:pPr>
            <a:r>
              <a:rPr lang="es-AR" dirty="0"/>
              <a:t>Si el tiempo expira, la función falla con el error ETIMEDOUT, evitando que el proceso quede bloqueado indefinidamente.</a:t>
            </a:r>
          </a:p>
          <a:p>
            <a:endParaRPr lang="es-AR" dirty="0"/>
          </a:p>
        </p:txBody>
      </p:sp>
      <p:pic>
        <p:nvPicPr>
          <p:cNvPr id="5" name="Imagen 4">
            <a:extLst>
              <a:ext uri="{FF2B5EF4-FFF2-40B4-BE49-F238E27FC236}">
                <a16:creationId xmlns:a16="http://schemas.microsoft.com/office/drawing/2014/main" id="{4B48576D-AB97-93E8-9F9C-6315EF92C4E7}"/>
              </a:ext>
            </a:extLst>
          </p:cNvPr>
          <p:cNvPicPr>
            <a:picLocks noChangeAspect="1"/>
          </p:cNvPicPr>
          <p:nvPr/>
        </p:nvPicPr>
        <p:blipFill>
          <a:blip r:embed="rId2"/>
          <a:stretch>
            <a:fillRect/>
          </a:stretch>
        </p:blipFill>
        <p:spPr>
          <a:xfrm>
            <a:off x="2849934" y="2660775"/>
            <a:ext cx="6553091" cy="2524681"/>
          </a:xfrm>
          <a:prstGeom prst="rect">
            <a:avLst/>
          </a:prstGeom>
        </p:spPr>
      </p:pic>
    </p:spTree>
    <p:extLst>
      <p:ext uri="{BB962C8B-B14F-4D97-AF65-F5344CB8AC3E}">
        <p14:creationId xmlns:p14="http://schemas.microsoft.com/office/powerpoint/2010/main" val="210829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84C412-8F1F-D45B-5359-DA9F52B219DC}"/>
              </a:ext>
            </a:extLst>
          </p:cNvPr>
          <p:cNvSpPr>
            <a:spLocks noGrp="1"/>
          </p:cNvSpPr>
          <p:nvPr>
            <p:ph type="title"/>
          </p:nvPr>
        </p:nvSpPr>
        <p:spPr/>
        <p:txBody>
          <a:bodyPr/>
          <a:lstStyle/>
          <a:p>
            <a:r>
              <a:rPr lang="es-AR" dirty="0"/>
              <a:t>Notificación de Mensaje</a:t>
            </a:r>
          </a:p>
        </p:txBody>
      </p:sp>
      <p:sp>
        <p:nvSpPr>
          <p:cNvPr id="3" name="Marcador de contenido 2">
            <a:extLst>
              <a:ext uri="{FF2B5EF4-FFF2-40B4-BE49-F238E27FC236}">
                <a16:creationId xmlns:a16="http://schemas.microsoft.com/office/drawing/2014/main" id="{47EB6D5C-AE45-9CDF-34D2-69F7B66F749F}"/>
              </a:ext>
            </a:extLst>
          </p:cNvPr>
          <p:cNvSpPr>
            <a:spLocks noGrp="1"/>
          </p:cNvSpPr>
          <p:nvPr>
            <p:ph idx="1"/>
          </p:nvPr>
        </p:nvSpPr>
        <p:spPr/>
        <p:txBody>
          <a:bodyPr/>
          <a:lstStyle/>
          <a:p>
            <a:pPr lvl="1">
              <a:buFont typeface="Arial" panose="020B0604020202020204" pitchFamily="34" charset="0"/>
              <a:buChar char="•"/>
            </a:pPr>
            <a:r>
              <a:rPr lang="es-AR" dirty="0"/>
              <a:t>Las colas de mensajes POSIX tienen la capacidad de recibir notificaciones asíncronas sobre la disponibilidad de un mensaje en una cola de mensajes previamente vacía, es decir cuando la cola de mensajes pasa de estar vacía a no estar vacía.</a:t>
            </a:r>
          </a:p>
          <a:p>
            <a:pPr lvl="1">
              <a:buFont typeface="Arial" panose="020B0604020202020204" pitchFamily="34" charset="0"/>
              <a:buChar char="•"/>
            </a:pPr>
            <a:r>
              <a:rPr lang="es-AR" dirty="0"/>
              <a:t>La función “</a:t>
            </a:r>
            <a:r>
              <a:rPr lang="es-AR" dirty="0" err="1"/>
              <a:t>mq_notify</a:t>
            </a:r>
            <a:r>
              <a:rPr lang="es-AR" dirty="0"/>
              <a:t> ()” registra el proceso que la llama para recibir una notificación cuando llega un mensaje a la cola de mensajes vacía a la que se refiere el descriptor </a:t>
            </a:r>
            <a:r>
              <a:rPr lang="es-AR" dirty="0" err="1"/>
              <a:t>mqdes</a:t>
            </a:r>
            <a:r>
              <a:rPr lang="es-AR" dirty="0"/>
              <a:t>.</a:t>
            </a:r>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endParaRPr lang="es-AR" dirty="0"/>
          </a:p>
          <a:p>
            <a:pPr lvl="1">
              <a:buFont typeface="Arial" panose="020B0604020202020204" pitchFamily="34" charset="0"/>
              <a:buChar char="•"/>
            </a:pPr>
            <a:r>
              <a:rPr lang="es-AR" dirty="0"/>
              <a:t>Evita que el proceso tenga que estar preguntando “repetidamente” si hay mensajes nuevos.</a:t>
            </a:r>
          </a:p>
          <a:p>
            <a:pPr lvl="1">
              <a:buFont typeface="Arial" panose="020B0604020202020204" pitchFamily="34" charset="0"/>
              <a:buChar char="•"/>
            </a:pPr>
            <a:r>
              <a:rPr lang="es-AR" dirty="0"/>
              <a:t>Registra al proceso para recibir una alerta automática solo cuando la cola de mensajes pasa de estar vacía a tener un mensaje.</a:t>
            </a:r>
          </a:p>
        </p:txBody>
      </p:sp>
      <p:pic>
        <p:nvPicPr>
          <p:cNvPr id="5" name="Imagen 4">
            <a:extLst>
              <a:ext uri="{FF2B5EF4-FFF2-40B4-BE49-F238E27FC236}">
                <a16:creationId xmlns:a16="http://schemas.microsoft.com/office/drawing/2014/main" id="{61B8A09C-D067-4C5D-6F5E-F87BC8DB6F1C}"/>
              </a:ext>
            </a:extLst>
          </p:cNvPr>
          <p:cNvPicPr>
            <a:picLocks noChangeAspect="1"/>
          </p:cNvPicPr>
          <p:nvPr/>
        </p:nvPicPr>
        <p:blipFill>
          <a:blip r:embed="rId2"/>
          <a:stretch>
            <a:fillRect/>
          </a:stretch>
        </p:blipFill>
        <p:spPr>
          <a:xfrm>
            <a:off x="2152099" y="3290254"/>
            <a:ext cx="7887801" cy="1409897"/>
          </a:xfrm>
          <a:prstGeom prst="rect">
            <a:avLst/>
          </a:prstGeom>
        </p:spPr>
      </p:pic>
    </p:spTree>
    <p:extLst>
      <p:ext uri="{BB962C8B-B14F-4D97-AF65-F5344CB8AC3E}">
        <p14:creationId xmlns:p14="http://schemas.microsoft.com/office/powerpoint/2010/main" val="2007490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E27874-D1DA-5001-6610-BB3D812E29BD}"/>
              </a:ext>
            </a:extLst>
          </p:cNvPr>
          <p:cNvSpPr>
            <a:spLocks noGrp="1"/>
          </p:cNvSpPr>
          <p:nvPr>
            <p:ph type="title"/>
          </p:nvPr>
        </p:nvSpPr>
        <p:spPr/>
        <p:txBody>
          <a:bodyPr>
            <a:normAutofit/>
          </a:bodyPr>
          <a:lstStyle/>
          <a:p>
            <a:r>
              <a:rPr lang="es-AR" dirty="0"/>
              <a:t>Métodos de Recepción de Notificación</a:t>
            </a:r>
          </a:p>
        </p:txBody>
      </p:sp>
      <p:sp>
        <p:nvSpPr>
          <p:cNvPr id="3" name="Marcador de contenido 2">
            <a:extLst>
              <a:ext uri="{FF2B5EF4-FFF2-40B4-BE49-F238E27FC236}">
                <a16:creationId xmlns:a16="http://schemas.microsoft.com/office/drawing/2014/main" id="{920926C5-2071-677C-A694-128F40B3E261}"/>
              </a:ext>
            </a:extLst>
          </p:cNvPr>
          <p:cNvSpPr>
            <a:spLocks noGrp="1"/>
          </p:cNvSpPr>
          <p:nvPr>
            <p:ph idx="1"/>
          </p:nvPr>
        </p:nvSpPr>
        <p:spPr/>
        <p:txBody>
          <a:bodyPr/>
          <a:lstStyle/>
          <a:p>
            <a:r>
              <a:rPr lang="es-AR" dirty="0"/>
              <a:t>SIGEV_NONE: Registra el proceso para recibir notificaciones, pero cuando llegue un mensaje a la cola de mensajes previamente vacía, no se notificará al proceso.</a:t>
            </a:r>
          </a:p>
          <a:p>
            <a:r>
              <a:rPr lang="es-AR" dirty="0"/>
              <a:t>SIGEV_SIGNAL: Notificación por señales. Interrumpe el flujo del programa enviando una señal tradicional de UNIX (ej. SIGUSR1). Requiere que el programa tenga un manejador de señales (</a:t>
            </a:r>
            <a:r>
              <a:rPr lang="es-AR" dirty="0" err="1"/>
              <a:t>signal</a:t>
            </a:r>
            <a:r>
              <a:rPr lang="es-AR" dirty="0"/>
              <a:t> </a:t>
            </a:r>
            <a:r>
              <a:rPr lang="es-AR" dirty="0" err="1"/>
              <a:t>handler</a:t>
            </a:r>
            <a:r>
              <a:rPr lang="es-AR" dirty="0"/>
              <a:t>) configurado.</a:t>
            </a:r>
          </a:p>
          <a:p>
            <a:r>
              <a:rPr lang="es-AR" dirty="0"/>
              <a:t>SIGEV_THREAD: Notificación por hilos. Crea un hilo completamente nuevo en segundo plano que ejecuta una función específica. El programa principal puede seguir ejecutándose o pausarse.</a:t>
            </a:r>
          </a:p>
          <a:p>
            <a:endParaRPr lang="es-AR" dirty="0"/>
          </a:p>
        </p:txBody>
      </p:sp>
    </p:spTree>
    <p:extLst>
      <p:ext uri="{BB962C8B-B14F-4D97-AF65-F5344CB8AC3E}">
        <p14:creationId xmlns:p14="http://schemas.microsoft.com/office/powerpoint/2010/main" val="1628847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CB7311-BE6B-D458-34D1-FCEF6FBD7F49}"/>
              </a:ext>
            </a:extLst>
          </p:cNvPr>
          <p:cNvSpPr>
            <a:spLocks noGrp="1"/>
          </p:cNvSpPr>
          <p:nvPr>
            <p:ph type="title"/>
          </p:nvPr>
        </p:nvSpPr>
        <p:spPr/>
        <p:txBody>
          <a:bodyPr/>
          <a:lstStyle/>
          <a:p>
            <a:r>
              <a:rPr lang="es-AR" dirty="0"/>
              <a:t>Características Específicas de Linux</a:t>
            </a:r>
          </a:p>
        </p:txBody>
      </p:sp>
      <p:sp>
        <p:nvSpPr>
          <p:cNvPr id="3" name="Marcador de contenido 2">
            <a:extLst>
              <a:ext uri="{FF2B5EF4-FFF2-40B4-BE49-F238E27FC236}">
                <a16:creationId xmlns:a16="http://schemas.microsoft.com/office/drawing/2014/main" id="{FC2BE20B-D01D-CC32-1845-67E13ECCB70C}"/>
              </a:ext>
            </a:extLst>
          </p:cNvPr>
          <p:cNvSpPr>
            <a:spLocks noGrp="1"/>
          </p:cNvSpPr>
          <p:nvPr>
            <p:ph idx="1"/>
          </p:nvPr>
        </p:nvSpPr>
        <p:spPr/>
        <p:txBody>
          <a:bodyPr>
            <a:normAutofit lnSpcReduction="10000"/>
          </a:bodyPr>
          <a:lstStyle/>
          <a:p>
            <a:pPr lvl="1">
              <a:buFont typeface="Arial" panose="020B0604020202020204" pitchFamily="34" charset="0"/>
              <a:buChar char="•"/>
            </a:pPr>
            <a:r>
              <a:rPr lang="es-MX" dirty="0"/>
              <a:t>Las colas POSIX están implementadas como archivos en un sistema virtual </a:t>
            </a:r>
            <a:r>
              <a:rPr lang="es-AR" dirty="0"/>
              <a:t>(/</a:t>
            </a:r>
            <a:r>
              <a:rPr lang="es-AR" dirty="0" err="1"/>
              <a:t>dev</a:t>
            </a:r>
            <a:r>
              <a:rPr lang="es-AR" dirty="0"/>
              <a:t>/</a:t>
            </a:r>
            <a:r>
              <a:rPr lang="es-AR" dirty="0" err="1"/>
              <a:t>mqueue</a:t>
            </a:r>
            <a:r>
              <a:rPr lang="es-AR" dirty="0"/>
              <a:t>)</a:t>
            </a:r>
          </a:p>
          <a:p>
            <a:pPr lvl="1">
              <a:buFont typeface="Arial" panose="020B0604020202020204" pitchFamily="34" charset="0"/>
              <a:buChar char="•"/>
            </a:pPr>
            <a:endParaRPr lang="es-AR" dirty="0"/>
          </a:p>
          <a:p>
            <a:pPr lvl="1">
              <a:buFont typeface="Arial" panose="020B0604020202020204" pitchFamily="34" charset="0"/>
              <a:buChar char="•"/>
            </a:pPr>
            <a:r>
              <a:rPr lang="es-MX" dirty="0"/>
              <a:t>Se pueden listar y eliminar con comandos comunes (</a:t>
            </a:r>
            <a:r>
              <a:rPr lang="es-MX" dirty="0" err="1"/>
              <a:t>ls</a:t>
            </a:r>
            <a:r>
              <a:rPr lang="es-MX" dirty="0"/>
              <a:t> , </a:t>
            </a:r>
            <a:r>
              <a:rPr lang="es-MX" dirty="0" err="1"/>
              <a:t>rm</a:t>
            </a:r>
            <a:r>
              <a:rPr lang="es-MX" dirty="0"/>
              <a:t>)</a:t>
            </a:r>
          </a:p>
          <a:p>
            <a:pPr lvl="1">
              <a:buFont typeface="Arial" panose="020B0604020202020204" pitchFamily="34" charset="0"/>
              <a:buChar char="•"/>
            </a:pPr>
            <a:endParaRPr lang="es-MX" dirty="0"/>
          </a:p>
          <a:p>
            <a:pPr lvl="1">
              <a:buFont typeface="Arial" panose="020B0604020202020204" pitchFamily="34" charset="0"/>
              <a:buChar char="•"/>
            </a:pPr>
            <a:r>
              <a:rPr lang="es-MX" dirty="0"/>
              <a:t>Se pueden inspeccionar (estado, tamaño, notificaciones) leyendo esos archivos.</a:t>
            </a:r>
          </a:p>
          <a:p>
            <a:pPr lvl="1">
              <a:buFont typeface="Arial" panose="020B0604020202020204" pitchFamily="34" charset="0"/>
              <a:buChar char="•"/>
            </a:pPr>
            <a:endParaRPr lang="es-MX" dirty="0"/>
          </a:p>
          <a:p>
            <a:pPr lvl="1">
              <a:buFont typeface="Arial" panose="020B0604020202020204" pitchFamily="34" charset="0"/>
              <a:buChar char="•"/>
            </a:pPr>
            <a:r>
              <a:rPr lang="es-MX" dirty="0"/>
              <a:t>Los descriptores de cola funcionan como file </a:t>
            </a:r>
            <a:r>
              <a:rPr lang="es-MX" dirty="0" err="1"/>
              <a:t>descriptors</a:t>
            </a:r>
            <a:r>
              <a:rPr lang="es-MX" dirty="0"/>
              <a:t>.</a:t>
            </a:r>
          </a:p>
          <a:p>
            <a:pPr lvl="1">
              <a:buFont typeface="Arial" panose="020B0604020202020204" pitchFamily="34" charset="0"/>
              <a:buChar char="•"/>
            </a:pPr>
            <a:endParaRPr lang="es-MX" dirty="0"/>
          </a:p>
          <a:p>
            <a:pPr lvl="1">
              <a:buFont typeface="Arial" panose="020B0604020202020204" pitchFamily="34" charset="0"/>
              <a:buChar char="•"/>
            </a:pPr>
            <a:r>
              <a:rPr lang="es-AR" dirty="0"/>
              <a:t>Se pueden usar con: </a:t>
            </a:r>
            <a:r>
              <a:rPr lang="es-AR" dirty="0" err="1"/>
              <a:t>select</a:t>
            </a:r>
            <a:r>
              <a:rPr lang="es-AR" dirty="0"/>
              <a:t>(), </a:t>
            </a:r>
            <a:r>
              <a:rPr lang="es-AR" dirty="0" err="1"/>
              <a:t>poll</a:t>
            </a:r>
            <a:r>
              <a:rPr lang="es-AR" dirty="0"/>
              <a:t>() y </a:t>
            </a:r>
            <a:r>
              <a:rPr lang="es-AR" dirty="0" err="1"/>
              <a:t>epoll</a:t>
            </a:r>
            <a:r>
              <a:rPr lang="es-AR" dirty="0"/>
              <a:t>()</a:t>
            </a:r>
          </a:p>
          <a:p>
            <a:pPr lvl="1">
              <a:buFont typeface="Arial" panose="020B0604020202020204" pitchFamily="34" charset="0"/>
              <a:buChar char="•"/>
            </a:pPr>
            <a:endParaRPr lang="es-AR" dirty="0"/>
          </a:p>
          <a:p>
            <a:pPr lvl="1">
              <a:buFont typeface="Arial" panose="020B0604020202020204" pitchFamily="34" charset="0"/>
              <a:buChar char="•"/>
            </a:pPr>
            <a:r>
              <a:rPr lang="es-AR" dirty="0"/>
              <a:t>E</a:t>
            </a:r>
            <a:r>
              <a:rPr lang="es-MX" dirty="0" err="1"/>
              <a:t>sto</a:t>
            </a:r>
            <a:r>
              <a:rPr lang="es-MX" dirty="0"/>
              <a:t> permite integrar colas de mensajes con otros mecanismos de E/S</a:t>
            </a:r>
          </a:p>
          <a:p>
            <a:pPr lvl="1">
              <a:buFont typeface="Arial" panose="020B0604020202020204" pitchFamily="34" charset="0"/>
              <a:buChar char="•"/>
            </a:pPr>
            <a:endParaRPr lang="es-MX" dirty="0"/>
          </a:p>
          <a:p>
            <a:pPr lvl="1">
              <a:buFont typeface="Arial" panose="020B0604020202020204" pitchFamily="34" charset="0"/>
              <a:buChar char="•"/>
            </a:pPr>
            <a:r>
              <a:rPr lang="es-MX" dirty="0"/>
              <a:t>Ventaja clave: mayor integración con el sistema de archivos y E/S de Linux</a:t>
            </a:r>
            <a:endParaRPr lang="es-AR" dirty="0"/>
          </a:p>
          <a:p>
            <a:endParaRPr lang="es-AR" dirty="0"/>
          </a:p>
        </p:txBody>
      </p:sp>
    </p:spTree>
    <p:extLst>
      <p:ext uri="{BB962C8B-B14F-4D97-AF65-F5344CB8AC3E}">
        <p14:creationId xmlns:p14="http://schemas.microsoft.com/office/powerpoint/2010/main" val="3358266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4267B1-04BF-37F9-6EEC-8AF416BE988E}"/>
              </a:ext>
            </a:extLst>
          </p:cNvPr>
          <p:cNvSpPr>
            <a:spLocks noGrp="1"/>
          </p:cNvSpPr>
          <p:nvPr>
            <p:ph type="title"/>
          </p:nvPr>
        </p:nvSpPr>
        <p:spPr/>
        <p:txBody>
          <a:bodyPr/>
          <a:lstStyle/>
          <a:p>
            <a:r>
              <a:rPr lang="es-AR" dirty="0"/>
              <a:t>Límites de Colas de Mensajes</a:t>
            </a:r>
          </a:p>
        </p:txBody>
      </p:sp>
      <p:sp>
        <p:nvSpPr>
          <p:cNvPr id="3" name="Marcador de contenido 2">
            <a:extLst>
              <a:ext uri="{FF2B5EF4-FFF2-40B4-BE49-F238E27FC236}">
                <a16:creationId xmlns:a16="http://schemas.microsoft.com/office/drawing/2014/main" id="{B0BC3628-3501-D58A-FAB8-25B9F64FC9D9}"/>
              </a:ext>
            </a:extLst>
          </p:cNvPr>
          <p:cNvSpPr>
            <a:spLocks noGrp="1"/>
          </p:cNvSpPr>
          <p:nvPr>
            <p:ph idx="1"/>
          </p:nvPr>
        </p:nvSpPr>
        <p:spPr>
          <a:xfrm>
            <a:off x="1097280" y="1845734"/>
            <a:ext cx="10058400" cy="4230975"/>
          </a:xfrm>
        </p:spPr>
        <p:txBody>
          <a:bodyPr>
            <a:normAutofit fontScale="92500" lnSpcReduction="10000"/>
          </a:bodyPr>
          <a:lstStyle/>
          <a:p>
            <a:pPr lvl="1">
              <a:buFont typeface="Arial" panose="020B0604020202020204" pitchFamily="34" charset="0"/>
              <a:buChar char="•"/>
            </a:pPr>
            <a:r>
              <a:rPr lang="es-AR" dirty="0"/>
              <a:t>Límites definidos por POSIX:</a:t>
            </a:r>
          </a:p>
          <a:p>
            <a:r>
              <a:rPr lang="es-MX" dirty="0"/>
              <a:t>MQ_PRIO_MAX: prioridad máxima de mensajes.</a:t>
            </a:r>
          </a:p>
          <a:p>
            <a:r>
              <a:rPr lang="es-MX" dirty="0"/>
              <a:t>MQ_OPEN_MAX: número máximo de colas abiertas por proceso.</a:t>
            </a:r>
          </a:p>
          <a:p>
            <a:endParaRPr lang="es-MX" dirty="0"/>
          </a:p>
          <a:p>
            <a:pPr lvl="1">
              <a:buFont typeface="Arial" panose="020B0604020202020204" pitchFamily="34" charset="0"/>
              <a:buChar char="•"/>
            </a:pPr>
            <a:r>
              <a:rPr lang="es-AR" dirty="0"/>
              <a:t>En Linux:</a:t>
            </a:r>
          </a:p>
          <a:p>
            <a:r>
              <a:rPr lang="es-MX" dirty="0"/>
              <a:t>No usa MQ_OPEN_MAX directamente usa límites de file </a:t>
            </a:r>
            <a:r>
              <a:rPr lang="es-MX" dirty="0" err="1"/>
              <a:t>descriptors</a:t>
            </a:r>
            <a:r>
              <a:rPr lang="es-MX" dirty="0"/>
              <a:t>.</a:t>
            </a:r>
          </a:p>
          <a:p>
            <a:endParaRPr lang="es-MX" dirty="0"/>
          </a:p>
          <a:p>
            <a:pPr lvl="1">
              <a:buFont typeface="Arial" panose="020B0604020202020204" pitchFamily="34" charset="0"/>
              <a:buChar char="•"/>
            </a:pPr>
            <a:r>
              <a:rPr lang="es-MX" dirty="0"/>
              <a:t>Límites configurables en /</a:t>
            </a:r>
            <a:r>
              <a:rPr lang="es-MX" dirty="0" err="1"/>
              <a:t>proc</a:t>
            </a:r>
            <a:r>
              <a:rPr lang="es-MX" dirty="0"/>
              <a:t>/</a:t>
            </a:r>
            <a:r>
              <a:rPr lang="es-MX" dirty="0" err="1"/>
              <a:t>sys</a:t>
            </a:r>
            <a:r>
              <a:rPr lang="es-MX" dirty="0"/>
              <a:t>/</a:t>
            </a:r>
            <a:r>
              <a:rPr lang="es-MX" dirty="0" err="1"/>
              <a:t>fs</a:t>
            </a:r>
            <a:r>
              <a:rPr lang="es-MX" dirty="0"/>
              <a:t>/</a:t>
            </a:r>
            <a:r>
              <a:rPr lang="es-MX" dirty="0" err="1"/>
              <a:t>mqueue</a:t>
            </a:r>
            <a:r>
              <a:rPr lang="es-MX" dirty="0"/>
              <a:t>/:</a:t>
            </a:r>
          </a:p>
          <a:p>
            <a:r>
              <a:rPr lang="es-MX" dirty="0" err="1"/>
              <a:t>msg_max</a:t>
            </a:r>
            <a:r>
              <a:rPr lang="es-MX" dirty="0"/>
              <a:t> → máximo número de mensajes por cola </a:t>
            </a:r>
          </a:p>
          <a:p>
            <a:r>
              <a:rPr lang="es-MX" dirty="0" err="1"/>
              <a:t>msgsize_max</a:t>
            </a:r>
            <a:r>
              <a:rPr lang="es-MX" dirty="0"/>
              <a:t> → tamaño máximo de cada mensaje </a:t>
            </a:r>
          </a:p>
          <a:p>
            <a:r>
              <a:rPr lang="es-MX" dirty="0" err="1"/>
              <a:t>queues_max</a:t>
            </a:r>
            <a:r>
              <a:rPr lang="es-MX" dirty="0"/>
              <a:t> → número máximo de colas en el sistema</a:t>
            </a:r>
          </a:p>
          <a:p>
            <a:pPr marL="0" indent="0">
              <a:buNone/>
            </a:pPr>
            <a:endParaRPr lang="es-AR" dirty="0"/>
          </a:p>
        </p:txBody>
      </p:sp>
    </p:spTree>
    <p:extLst>
      <p:ext uri="{BB962C8B-B14F-4D97-AF65-F5344CB8AC3E}">
        <p14:creationId xmlns:p14="http://schemas.microsoft.com/office/powerpoint/2010/main" val="391501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8BA8FB-3DA3-EE2E-3E8C-58E51502A639}"/>
              </a:ext>
            </a:extLst>
          </p:cNvPr>
          <p:cNvSpPr>
            <a:spLocks noGrp="1"/>
          </p:cNvSpPr>
          <p:nvPr>
            <p:ph type="title"/>
          </p:nvPr>
        </p:nvSpPr>
        <p:spPr/>
        <p:txBody>
          <a:bodyPr/>
          <a:lstStyle/>
          <a:p>
            <a:r>
              <a:rPr lang="es-MX" dirty="0"/>
              <a:t>Comparación: POSIX vs </a:t>
            </a:r>
            <a:r>
              <a:rPr lang="es-MX" dirty="0" err="1"/>
              <a:t>System</a:t>
            </a:r>
            <a:r>
              <a:rPr lang="es-MX" dirty="0"/>
              <a:t> V</a:t>
            </a:r>
            <a:endParaRPr lang="es-AR" dirty="0"/>
          </a:p>
        </p:txBody>
      </p:sp>
      <p:sp>
        <p:nvSpPr>
          <p:cNvPr id="3" name="Marcador de contenido 2">
            <a:extLst>
              <a:ext uri="{FF2B5EF4-FFF2-40B4-BE49-F238E27FC236}">
                <a16:creationId xmlns:a16="http://schemas.microsoft.com/office/drawing/2014/main" id="{072C63A5-208D-4E7D-8A64-75AC6BB2DB40}"/>
              </a:ext>
            </a:extLst>
          </p:cNvPr>
          <p:cNvSpPr>
            <a:spLocks noGrp="1"/>
          </p:cNvSpPr>
          <p:nvPr>
            <p:ph idx="1"/>
          </p:nvPr>
        </p:nvSpPr>
        <p:spPr>
          <a:xfrm>
            <a:off x="1097280" y="1845733"/>
            <a:ext cx="10058400" cy="4404595"/>
          </a:xfrm>
        </p:spPr>
        <p:txBody>
          <a:bodyPr>
            <a:normAutofit fontScale="92500" lnSpcReduction="20000"/>
          </a:bodyPr>
          <a:lstStyle/>
          <a:p>
            <a:pPr lvl="1">
              <a:buFont typeface="Arial" panose="020B0604020202020204" pitchFamily="34" charset="0"/>
              <a:buChar char="•"/>
            </a:pPr>
            <a:r>
              <a:rPr lang="es-MX" sz="2000" b="1" dirty="0"/>
              <a:t>Ventajas de POSIX:</a:t>
            </a:r>
          </a:p>
          <a:p>
            <a:r>
              <a:rPr lang="es-MX" dirty="0"/>
              <a:t>Interfaz más simple y consistente </a:t>
            </a:r>
          </a:p>
          <a:p>
            <a:r>
              <a:rPr lang="es-MX" dirty="0"/>
              <a:t>Colas </a:t>
            </a:r>
            <a:r>
              <a:rPr lang="es-MX" dirty="0" err="1"/>
              <a:t>reference-counted</a:t>
            </a:r>
            <a:r>
              <a:rPr lang="es-MX" dirty="0"/>
              <a:t> (se eliminan automáticamente cuando no se usan) </a:t>
            </a:r>
          </a:p>
          <a:p>
            <a:r>
              <a:rPr lang="es-MX" dirty="0"/>
              <a:t>Soporte de notificación asíncrona (señales o </a:t>
            </a:r>
            <a:r>
              <a:rPr lang="es-MX" dirty="0" err="1"/>
              <a:t>threads</a:t>
            </a:r>
            <a:r>
              <a:rPr lang="es-MX" dirty="0"/>
              <a:t>) </a:t>
            </a:r>
          </a:p>
          <a:p>
            <a:r>
              <a:rPr lang="es-MX" dirty="0"/>
              <a:t>En Linux: integración con </a:t>
            </a:r>
            <a:r>
              <a:rPr lang="es-MX" dirty="0" err="1"/>
              <a:t>select</a:t>
            </a:r>
            <a:r>
              <a:rPr lang="es-MX" dirty="0"/>
              <a:t>(), </a:t>
            </a:r>
            <a:r>
              <a:rPr lang="es-MX" dirty="0" err="1"/>
              <a:t>poll</a:t>
            </a:r>
            <a:r>
              <a:rPr lang="es-MX" dirty="0"/>
              <a:t>(), </a:t>
            </a:r>
            <a:r>
              <a:rPr lang="es-MX" dirty="0" err="1"/>
              <a:t>epoll</a:t>
            </a:r>
            <a:r>
              <a:rPr lang="es-MX" dirty="0"/>
              <a:t>()</a:t>
            </a:r>
          </a:p>
          <a:p>
            <a:endParaRPr lang="es-MX" dirty="0"/>
          </a:p>
          <a:p>
            <a:pPr lvl="1">
              <a:buFont typeface="Arial" panose="020B0604020202020204" pitchFamily="34" charset="0"/>
              <a:buChar char="•"/>
            </a:pPr>
            <a:r>
              <a:rPr lang="es-MX" sz="2000" b="1" dirty="0"/>
              <a:t>Desventajas de POSIX:</a:t>
            </a:r>
          </a:p>
          <a:p>
            <a:r>
              <a:rPr lang="es-MX" dirty="0"/>
              <a:t>Menos portable (no todos los sistemas lo soportan igual) </a:t>
            </a:r>
          </a:p>
          <a:p>
            <a:r>
              <a:rPr lang="es-MX" dirty="0"/>
              <a:t>Menor flexibilidad en selección de mensajes (usa prioridades)</a:t>
            </a:r>
          </a:p>
          <a:p>
            <a:endParaRPr lang="es-MX" dirty="0"/>
          </a:p>
          <a:p>
            <a:pPr lvl="1">
              <a:buFont typeface="Arial" panose="020B0604020202020204" pitchFamily="34" charset="0"/>
              <a:buChar char="•"/>
            </a:pPr>
            <a:r>
              <a:rPr lang="es-MX" b="1" dirty="0"/>
              <a:t>Ventajas de </a:t>
            </a:r>
            <a:r>
              <a:rPr lang="es-MX" b="1" dirty="0" err="1"/>
              <a:t>System</a:t>
            </a:r>
            <a:r>
              <a:rPr lang="es-MX" b="1" dirty="0"/>
              <a:t> V:</a:t>
            </a:r>
          </a:p>
          <a:p>
            <a:r>
              <a:rPr lang="es-MX" dirty="0"/>
              <a:t>Permite seleccionar mensajes por tipo, más flexible que prioridades.</a:t>
            </a:r>
          </a:p>
          <a:p>
            <a:endParaRPr lang="es-MX" dirty="0"/>
          </a:p>
          <a:p>
            <a:endParaRPr lang="es-AR" dirty="0"/>
          </a:p>
        </p:txBody>
      </p:sp>
    </p:spTree>
    <p:extLst>
      <p:ext uri="{BB962C8B-B14F-4D97-AF65-F5344CB8AC3E}">
        <p14:creationId xmlns:p14="http://schemas.microsoft.com/office/powerpoint/2010/main" val="1951814795"/>
      </p:ext>
    </p:extLst>
  </p:cSld>
  <p:clrMapOvr>
    <a:masterClrMapping/>
  </p:clrMapOvr>
</p:sld>
</file>

<file path=ppt/theme/theme1.xml><?xml version="1.0" encoding="utf-8"?>
<a:theme xmlns:a="http://schemas.openxmlformats.org/drawingml/2006/main" name="Retrospección">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280</TotalTime>
  <Words>1563</Words>
  <Application>Microsoft Office PowerPoint</Application>
  <PresentationFormat>Panorámica</PresentationFormat>
  <Paragraphs>160</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Calibri Light</vt:lpstr>
      <vt:lpstr>Retrospección</vt:lpstr>
      <vt:lpstr>Cola de Mensajes POSIX</vt:lpstr>
      <vt:lpstr>Principios Fundamentales de POSIX</vt:lpstr>
      <vt:lpstr>Funciones Principales</vt:lpstr>
      <vt:lpstr>Apertura de una Cola de Mensajes</vt:lpstr>
      <vt:lpstr>Cierre de una Cola de Mensajes</vt:lpstr>
      <vt:lpstr>Eliminación de una Cola de Mensajes</vt:lpstr>
      <vt:lpstr>Atributos de la Cola de Mensajes</vt:lpstr>
      <vt:lpstr>Recuperación de Atributos de la Cola de Mensajes</vt:lpstr>
      <vt:lpstr>Modificación de los Atributos de la Cola de Mensajes</vt:lpstr>
      <vt:lpstr>Envío de Mensajes</vt:lpstr>
      <vt:lpstr>Recepción de Mensajes</vt:lpstr>
      <vt:lpstr>Envío y Recepción de Mensajes con Tiempo de Espera</vt:lpstr>
      <vt:lpstr>Notificación de Mensaje</vt:lpstr>
      <vt:lpstr>Métodos de Recepción de Notificación</vt:lpstr>
      <vt:lpstr>Características Específicas de Linux</vt:lpstr>
      <vt:lpstr>Límites de Colas de Mensajes</vt:lpstr>
      <vt:lpstr>Comparación: POSIX vs System V</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Gaston Salguero</dc:creator>
  <cp:lastModifiedBy>Gaston Salguero</cp:lastModifiedBy>
  <cp:revision>6</cp:revision>
  <dcterms:created xsi:type="dcterms:W3CDTF">2026-04-14T13:14:11Z</dcterms:created>
  <dcterms:modified xsi:type="dcterms:W3CDTF">2026-04-15T14:39:08Z</dcterms:modified>
</cp:coreProperties>
</file>