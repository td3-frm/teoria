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F36A48-5072-4D7F-BF3A-8AAEA354BBC9}">
  <a:tblStyle styleId="{C0F36A48-5072-4D7F-BF3A-8AAEA354BBC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Roboto-bold.fntdata"/><Relationship Id="rId10" Type="http://schemas.openxmlformats.org/officeDocument/2006/relationships/slide" Target="slides/slide4.xml"/><Relationship Id="rId21" Type="http://schemas.openxmlformats.org/officeDocument/2006/relationships/font" Target="fonts/Roboto-regular.fntdata"/><Relationship Id="rId13" Type="http://schemas.openxmlformats.org/officeDocument/2006/relationships/slide" Target="slides/slide7.xml"/><Relationship Id="rId24" Type="http://schemas.openxmlformats.org/officeDocument/2006/relationships/font" Target="fonts/Roboto-boldItalic.fntdata"/><Relationship Id="rId12" Type="http://schemas.openxmlformats.org/officeDocument/2006/relationships/slide" Target="slides/slide6.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6f7bf45e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6f7bf45e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6f7bf45e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6f7bf45e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6f7bf45e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6f7bf45e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6f7bf45e9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6f7bf45e9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6f7bf45e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6f7bf45e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6f7bf45e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6f7bf45e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Para hacer esto, necesitamos usar el comando tee, que escribe dos copias de lo que lee desde su entrada estándar: una en la salida estándar y la otra en el archivo nombrado en su argumento de línea de comandos.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6f7bf45e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6f7bf45e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6f7bf45e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6f7bf45e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6f7bf45e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6f7bf45e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6f7bf45e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6f7bf45e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6f7bf45e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6f7bf45e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6f7bf45e9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6f7bf45e9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6f7bf45e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6f7bf45e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1732947"/>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sz="5100"/>
              <a:t>FIFOs</a:t>
            </a:r>
            <a:endParaRPr sz="5100"/>
          </a:p>
        </p:txBody>
      </p:sp>
      <p:sp>
        <p:nvSpPr>
          <p:cNvPr id="86" name="Google Shape;86;p13"/>
          <p:cNvSpPr txBox="1"/>
          <p:nvPr>
            <p:ph idx="1" type="subTitle"/>
          </p:nvPr>
        </p:nvSpPr>
        <p:spPr>
          <a:xfrm>
            <a:off x="436850" y="2715922"/>
            <a:ext cx="8706900" cy="1011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Franco Santander</a:t>
            </a:r>
            <a:endParaRPr/>
          </a:p>
          <a:p>
            <a:pPr indent="0" lvl="0" marL="0" rtl="0" algn="l">
              <a:spcBef>
                <a:spcPts val="0"/>
              </a:spcBef>
              <a:spcAft>
                <a:spcPts val="0"/>
              </a:spcAft>
              <a:buNone/>
            </a:pPr>
            <a:r>
              <a:rPr lang="es-419"/>
              <a:t>47323</a:t>
            </a:r>
            <a:endParaRPr/>
          </a:p>
          <a:p>
            <a:pPr indent="0" lvl="0" marL="0" rtl="0" algn="l">
              <a:spcBef>
                <a:spcPts val="0"/>
              </a:spcBef>
              <a:spcAft>
                <a:spcPts val="0"/>
              </a:spcAft>
              <a:buNone/>
            </a:pPr>
            <a:r>
              <a:rPr lang="es-419"/>
              <a:t>5R5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419"/>
              <a:t>Introducción al concepto FIFOs en Linux.</a:t>
            </a:r>
            <a:endParaRPr/>
          </a:p>
        </p:txBody>
      </p:sp>
      <p:sp>
        <p:nvSpPr>
          <p:cNvPr id="92" name="Google Shape;92;p14"/>
          <p:cNvSpPr txBox="1"/>
          <p:nvPr>
            <p:ph idx="1" type="body"/>
          </p:nvPr>
        </p:nvSpPr>
        <p:spPr>
          <a:xfrm>
            <a:off x="311700" y="1017800"/>
            <a:ext cx="8520600" cy="33390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s-419">
                <a:solidFill>
                  <a:srgbClr val="000000"/>
                </a:solidFill>
                <a:latin typeface="Arial"/>
                <a:ea typeface="Arial"/>
                <a:cs typeface="Arial"/>
                <a:sym typeface="Arial"/>
              </a:rPr>
              <a:t>¿Qué es FIFO?</a:t>
            </a:r>
            <a:endParaRPr b="1">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es-419" sz="1600">
                <a:solidFill>
                  <a:srgbClr val="000000"/>
                </a:solidFill>
                <a:latin typeface="Arial"/>
                <a:ea typeface="Arial"/>
                <a:cs typeface="Arial"/>
                <a:sym typeface="Arial"/>
              </a:rPr>
              <a:t>El concepto FIFO es similar al de pipe. La principal diferencia es que FIFO posee un nombre y puede ser abierto de igual forma que cualquier archivo.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b="1" lang="es-419" sz="1600">
                <a:solidFill>
                  <a:srgbClr val="000000"/>
                </a:solidFill>
                <a:latin typeface="Arial"/>
                <a:ea typeface="Arial"/>
                <a:cs typeface="Arial"/>
                <a:sym typeface="Arial"/>
              </a:rPr>
              <a:t>FIFO (First In, First Out)</a:t>
            </a:r>
            <a:r>
              <a:rPr lang="es-419" sz="1600">
                <a:solidFill>
                  <a:srgbClr val="000000"/>
                </a:solidFill>
                <a:latin typeface="Arial"/>
                <a:ea typeface="Arial"/>
                <a:cs typeface="Arial"/>
                <a:sym typeface="Arial"/>
              </a:rPr>
              <a:t> es un mecanismo de comunicación entre procesos (</a:t>
            </a:r>
            <a:r>
              <a:rPr i="1" lang="es-419" sz="1600">
                <a:solidFill>
                  <a:srgbClr val="000000"/>
                </a:solidFill>
                <a:latin typeface="Arial"/>
                <a:ea typeface="Arial"/>
                <a:cs typeface="Arial"/>
                <a:sym typeface="Arial"/>
              </a:rPr>
              <a:t>Inter-Process Communication</a:t>
            </a:r>
            <a:r>
              <a:rPr lang="es-419" sz="1600">
                <a:solidFill>
                  <a:srgbClr val="000000"/>
                </a:solidFill>
                <a:latin typeface="Arial"/>
                <a:ea typeface="Arial"/>
                <a:cs typeface="Arial"/>
                <a:sym typeface="Arial"/>
              </a:rPr>
              <a:t> o IPC) en Linux. </a:t>
            </a:r>
            <a:r>
              <a:rPr lang="es-419" sz="1600">
                <a:solidFill>
                  <a:srgbClr val="000000"/>
                </a:solidFill>
                <a:latin typeface="Arial"/>
                <a:ea typeface="Arial"/>
                <a:cs typeface="Arial"/>
                <a:sym typeface="Arial"/>
              </a:rPr>
              <a:t>Sigue una estructura de cola: los datos que se escriben primero son los primeros en ser leídos.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s-419" sz="1600">
                <a:solidFill>
                  <a:srgbClr val="000000"/>
                </a:solidFill>
                <a:latin typeface="Arial"/>
                <a:ea typeface="Arial"/>
                <a:cs typeface="Arial"/>
                <a:sym typeface="Arial"/>
              </a:rPr>
              <a:t>También conocido como </a:t>
            </a:r>
            <a:r>
              <a:rPr i="1" lang="es-419" sz="1600">
                <a:solidFill>
                  <a:srgbClr val="000000"/>
                </a:solidFill>
                <a:latin typeface="Arial"/>
                <a:ea typeface="Arial"/>
                <a:cs typeface="Arial"/>
                <a:sym typeface="Arial"/>
              </a:rPr>
              <a:t>named pipe</a:t>
            </a:r>
            <a:r>
              <a:rPr lang="es-419" sz="1600">
                <a:solidFill>
                  <a:srgbClr val="000000"/>
                </a:solidFill>
                <a:latin typeface="Arial"/>
                <a:ea typeface="Arial"/>
                <a:cs typeface="Arial"/>
                <a:sym typeface="Arial"/>
              </a:rPr>
              <a:t> (tubería con nombre).</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s-419" sz="1600">
                <a:solidFill>
                  <a:srgbClr val="000000"/>
                </a:solidFill>
                <a:latin typeface="Arial"/>
                <a:ea typeface="Arial"/>
                <a:cs typeface="Arial"/>
                <a:sym typeface="Arial"/>
              </a:rPr>
              <a:t>Es un tipo especial de archivo que actúa como un canal de comunicación entre procesos que no tienen relación padre-hijo.</a:t>
            </a:r>
            <a:endParaRPr sz="1600">
              <a:solidFill>
                <a:srgbClr val="000000"/>
              </a:solidFill>
              <a:latin typeface="Arial"/>
              <a:ea typeface="Arial"/>
              <a:cs typeface="Arial"/>
              <a:sym typeface="Arial"/>
            </a:endParaRPr>
          </a:p>
          <a:p>
            <a:pPr indent="0" lvl="0" marL="457200" rtl="0" algn="l">
              <a:spcBef>
                <a:spcPts val="1200"/>
              </a:spcBef>
              <a:spcAft>
                <a:spcPts val="0"/>
              </a:spcAft>
              <a:buNone/>
            </a:pPr>
            <a:r>
              <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925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Diferencias con PIPEs</a:t>
            </a:r>
            <a:endParaRPr/>
          </a:p>
        </p:txBody>
      </p:sp>
      <p:graphicFrame>
        <p:nvGraphicFramePr>
          <p:cNvPr id="98" name="Google Shape;98;p15"/>
          <p:cNvGraphicFramePr/>
          <p:nvPr/>
        </p:nvGraphicFramePr>
        <p:xfrm>
          <a:off x="311700" y="727813"/>
          <a:ext cx="3000000" cy="3000000"/>
        </p:xfrm>
        <a:graphic>
          <a:graphicData uri="http://schemas.openxmlformats.org/drawingml/2006/table">
            <a:tbl>
              <a:tblPr>
                <a:noFill/>
                <a:tableStyleId>{C0F36A48-5072-4D7F-BF3A-8AAEA354BBC9}</a:tableStyleId>
              </a:tblPr>
              <a:tblGrid>
                <a:gridCol w="2413000"/>
                <a:gridCol w="2413000"/>
                <a:gridCol w="2413000"/>
              </a:tblGrid>
              <a:tr h="381000">
                <a:tc>
                  <a:txBody>
                    <a:bodyPr/>
                    <a:lstStyle/>
                    <a:p>
                      <a:pPr indent="0" lvl="0" marL="0" rtl="0" algn="l">
                        <a:spcBef>
                          <a:spcPts val="0"/>
                        </a:spcBef>
                        <a:spcAft>
                          <a:spcPts val="0"/>
                        </a:spcAft>
                        <a:buNone/>
                      </a:pPr>
                      <a:r>
                        <a:rPr lang="es-419"/>
                        <a:t>Características </a:t>
                      </a:r>
                      <a:endParaRPr/>
                    </a:p>
                  </a:txBody>
                  <a:tcPr marT="91425" marB="91425" marR="91425" marL="91425"/>
                </a:tc>
                <a:tc>
                  <a:txBody>
                    <a:bodyPr/>
                    <a:lstStyle/>
                    <a:p>
                      <a:pPr indent="0" lvl="0" marL="0" rtl="0" algn="l">
                        <a:spcBef>
                          <a:spcPts val="0"/>
                        </a:spcBef>
                        <a:spcAft>
                          <a:spcPts val="0"/>
                        </a:spcAft>
                        <a:buNone/>
                      </a:pPr>
                      <a:r>
                        <a:rPr lang="es-419"/>
                        <a:t>FIFOs</a:t>
                      </a:r>
                      <a:endParaRPr/>
                    </a:p>
                  </a:txBody>
                  <a:tcPr marT="91425" marB="91425" marR="91425" marL="91425"/>
                </a:tc>
                <a:tc>
                  <a:txBody>
                    <a:bodyPr/>
                    <a:lstStyle/>
                    <a:p>
                      <a:pPr indent="0" lvl="0" marL="0" rtl="0" algn="l">
                        <a:spcBef>
                          <a:spcPts val="0"/>
                        </a:spcBef>
                        <a:spcAft>
                          <a:spcPts val="0"/>
                        </a:spcAft>
                        <a:buNone/>
                      </a:pPr>
                      <a:r>
                        <a:rPr lang="es-419"/>
                        <a:t>PIPEs</a:t>
                      </a:r>
                      <a:endParaRPr/>
                    </a:p>
                  </a:txBody>
                  <a:tcPr marT="91425" marB="91425" marR="91425" marL="91425"/>
                </a:tc>
              </a:tr>
              <a:tr h="381000">
                <a:tc>
                  <a:txBody>
                    <a:bodyPr/>
                    <a:lstStyle/>
                    <a:p>
                      <a:pPr indent="0" lvl="0" marL="0" rtl="0" algn="l">
                        <a:spcBef>
                          <a:spcPts val="0"/>
                        </a:spcBef>
                        <a:spcAft>
                          <a:spcPts val="0"/>
                        </a:spcAft>
                        <a:buNone/>
                      </a:pPr>
                      <a:r>
                        <a:rPr lang="es-419"/>
                        <a:t>Persistencia</a:t>
                      </a:r>
                      <a:endParaRPr/>
                    </a:p>
                  </a:txBody>
                  <a:tcPr marT="91425" marB="91425" marR="91425" marL="91425"/>
                </a:tc>
                <a:tc>
                  <a:txBody>
                    <a:bodyPr/>
                    <a:lstStyle/>
                    <a:p>
                      <a:pPr indent="0" lvl="0" marL="0" rtl="0" algn="l">
                        <a:spcBef>
                          <a:spcPts val="0"/>
                        </a:spcBef>
                        <a:spcAft>
                          <a:spcPts val="0"/>
                        </a:spcAft>
                        <a:buNone/>
                      </a:pPr>
                      <a:r>
                        <a:rPr lang="es-419"/>
                        <a:t>Existe en el sistema de archivos	</a:t>
                      </a:r>
                      <a:endParaRPr/>
                    </a:p>
                  </a:txBody>
                  <a:tcPr marT="91425" marB="91425" marR="91425" marL="91425"/>
                </a:tc>
                <a:tc>
                  <a:txBody>
                    <a:bodyPr/>
                    <a:lstStyle/>
                    <a:p>
                      <a:pPr indent="0" lvl="0" marL="0" rtl="0" algn="l">
                        <a:spcBef>
                          <a:spcPts val="0"/>
                        </a:spcBef>
                        <a:spcAft>
                          <a:spcPts val="0"/>
                        </a:spcAft>
                        <a:buNone/>
                      </a:pPr>
                      <a:r>
                        <a:rPr lang="es-419"/>
                        <a:t>Solo existe mientras los procesos se </a:t>
                      </a:r>
                      <a:r>
                        <a:rPr lang="es-419"/>
                        <a:t>están</a:t>
                      </a:r>
                      <a:r>
                        <a:rPr lang="es-419"/>
                        <a:t> ejecutando</a:t>
                      </a:r>
                      <a:endParaRPr/>
                    </a:p>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s-419"/>
                        <a:t>Comunicación</a:t>
                      </a:r>
                      <a:endParaRPr/>
                    </a:p>
                  </a:txBody>
                  <a:tcPr marT="91425" marB="91425" marR="91425" marL="91425"/>
                </a:tc>
                <a:tc>
                  <a:txBody>
                    <a:bodyPr/>
                    <a:lstStyle/>
                    <a:p>
                      <a:pPr indent="0" lvl="0" marL="0" rtl="0" algn="l">
                        <a:spcBef>
                          <a:spcPts val="0"/>
                        </a:spcBef>
                        <a:spcAft>
                          <a:spcPts val="0"/>
                        </a:spcAft>
                        <a:buNone/>
                      </a:pPr>
                      <a:r>
                        <a:rPr lang="es-419"/>
                        <a:t>Entre procesos no relacionados	</a:t>
                      </a:r>
                      <a:endParaRPr/>
                    </a:p>
                  </a:txBody>
                  <a:tcPr marT="91425" marB="91425" marR="91425" marL="91425"/>
                </a:tc>
                <a:tc>
                  <a:txBody>
                    <a:bodyPr/>
                    <a:lstStyle/>
                    <a:p>
                      <a:pPr indent="0" lvl="0" marL="0" rtl="0" algn="l">
                        <a:spcBef>
                          <a:spcPts val="0"/>
                        </a:spcBef>
                        <a:spcAft>
                          <a:spcPts val="0"/>
                        </a:spcAft>
                        <a:buNone/>
                      </a:pPr>
                      <a:r>
                        <a:rPr lang="es-419"/>
                        <a:t>Solo entre procesos con una relación padre-hijo</a:t>
                      </a:r>
                      <a:endParaRPr/>
                    </a:p>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s-419"/>
                        <a:t>Modo de apertura</a:t>
                      </a:r>
                      <a:endParaRPr/>
                    </a:p>
                  </a:txBody>
                  <a:tcPr marT="91425" marB="91425" marR="91425" marL="91425"/>
                </a:tc>
                <a:tc>
                  <a:txBody>
                    <a:bodyPr/>
                    <a:lstStyle/>
                    <a:p>
                      <a:pPr indent="0" lvl="0" marL="0" rtl="0" algn="l">
                        <a:spcBef>
                          <a:spcPts val="0"/>
                        </a:spcBef>
                        <a:spcAft>
                          <a:spcPts val="0"/>
                        </a:spcAft>
                        <a:buNone/>
                      </a:pPr>
                      <a:r>
                        <a:rPr lang="es-419"/>
                        <a:t>Se abre como un archivo con open()	</a:t>
                      </a:r>
                      <a:endParaRPr/>
                    </a:p>
                  </a:txBody>
                  <a:tcPr marT="91425" marB="91425" marR="91425" marL="91425"/>
                </a:tc>
                <a:tc>
                  <a:txBody>
                    <a:bodyPr/>
                    <a:lstStyle/>
                    <a:p>
                      <a:pPr indent="0" lvl="0" marL="0" rtl="0" algn="l">
                        <a:spcBef>
                          <a:spcPts val="0"/>
                        </a:spcBef>
                        <a:spcAft>
                          <a:spcPts val="0"/>
                        </a:spcAft>
                        <a:buNone/>
                      </a:pPr>
                      <a:r>
                        <a:rPr lang="es-419"/>
                        <a:t>Se usa pipe() para crearlo</a:t>
                      </a:r>
                      <a:endParaRPr/>
                    </a:p>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s-419"/>
                        <a:t>Visibilidad</a:t>
                      </a:r>
                      <a:endParaRPr/>
                    </a:p>
                  </a:txBody>
                  <a:tcPr marT="91425" marB="91425" marR="91425" marL="91425"/>
                </a:tc>
                <a:tc>
                  <a:txBody>
                    <a:bodyPr/>
                    <a:lstStyle/>
                    <a:p>
                      <a:pPr indent="0" lvl="0" marL="0" rtl="0" algn="l">
                        <a:spcBef>
                          <a:spcPts val="0"/>
                        </a:spcBef>
                        <a:spcAft>
                          <a:spcPts val="0"/>
                        </a:spcAft>
                        <a:buNone/>
                      </a:pPr>
                      <a:r>
                        <a:rPr lang="es-419"/>
                        <a:t>Aparece en el sistema de archivos con ls -l	</a:t>
                      </a:r>
                      <a:endParaRPr/>
                    </a:p>
                  </a:txBody>
                  <a:tcPr marT="91425" marB="91425" marR="91425" marL="91425"/>
                </a:tc>
                <a:tc>
                  <a:txBody>
                    <a:bodyPr/>
                    <a:lstStyle/>
                    <a:p>
                      <a:pPr indent="0" lvl="0" marL="0" rtl="0" algn="l">
                        <a:spcBef>
                          <a:spcPts val="0"/>
                        </a:spcBef>
                        <a:spcAft>
                          <a:spcPts val="0"/>
                        </a:spcAft>
                        <a:buNone/>
                      </a:pPr>
                      <a:r>
                        <a:rPr lang="es-419"/>
                        <a:t>No aparece en el sistema de archivos</a:t>
                      </a:r>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2. Creación de un FIFO</a:t>
            </a:r>
            <a:endParaRPr/>
          </a:p>
        </p:txBody>
      </p:sp>
      <p:sp>
        <p:nvSpPr>
          <p:cNvPr id="104" name="Google Shape;104;p16"/>
          <p:cNvSpPr txBox="1"/>
          <p:nvPr>
            <p:ph idx="1" type="body"/>
          </p:nvPr>
        </p:nvSpPr>
        <p:spPr>
          <a:xfrm>
            <a:off x="-85175" y="11240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Utilizando el comando mkfifo de la terminal</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s-419">
                <a:solidFill>
                  <a:srgbClr val="188038"/>
                </a:solidFill>
              </a:rPr>
              <a:t>pathname</a:t>
            </a:r>
            <a:r>
              <a:rPr lang="es-419"/>
              <a:t>: Nombre del archivo FIFO.</a:t>
            </a:r>
            <a:endParaRPr/>
          </a:p>
          <a:p>
            <a:pPr indent="-342900" lvl="0" marL="457200" rtl="0" algn="l">
              <a:spcBef>
                <a:spcPts val="0"/>
              </a:spcBef>
              <a:spcAft>
                <a:spcPts val="0"/>
              </a:spcAft>
              <a:buSzPts val="1800"/>
              <a:buChar char="-"/>
            </a:pPr>
            <a:r>
              <a:rPr lang="es-419">
                <a:solidFill>
                  <a:srgbClr val="188038"/>
                </a:solidFill>
              </a:rPr>
              <a:t>mode</a:t>
            </a:r>
            <a:r>
              <a:rPr lang="es-419"/>
              <a:t>: Permisos del archivo FIFO (similar a los permisos de archivos normales en Linux).</a:t>
            </a:r>
            <a:endParaRPr/>
          </a:p>
          <a:p>
            <a:pPr indent="-342900" lvl="0" marL="457200" rtl="0" algn="l">
              <a:spcBef>
                <a:spcPts val="0"/>
              </a:spcBef>
              <a:spcAft>
                <a:spcPts val="0"/>
              </a:spcAft>
              <a:buSzPts val="1800"/>
              <a:buChar char="-"/>
            </a:pPr>
            <a:r>
              <a:rPr lang="es-419"/>
              <a:t>Una vez creado el archivo FIFO, cualquier procesopuede abrirlo</a:t>
            </a:r>
            <a:endParaRPr/>
          </a:p>
        </p:txBody>
      </p:sp>
      <p:pic>
        <p:nvPicPr>
          <p:cNvPr id="105" name="Google Shape;105;p16"/>
          <p:cNvPicPr preferRelativeResize="0"/>
          <p:nvPr/>
        </p:nvPicPr>
        <p:blipFill>
          <a:blip r:embed="rId3">
            <a:alphaModFix/>
          </a:blip>
          <a:stretch>
            <a:fillRect/>
          </a:stretch>
        </p:blipFill>
        <p:spPr>
          <a:xfrm>
            <a:off x="484200" y="1773699"/>
            <a:ext cx="7893751" cy="117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3. Uso de FIFO</a:t>
            </a:r>
            <a:endParaRPr/>
          </a:p>
        </p:txBody>
      </p:sp>
      <p:sp>
        <p:nvSpPr>
          <p:cNvPr id="111" name="Google Shape;111;p1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419"/>
              <a:t>Funcionamiento</a:t>
            </a:r>
            <a:endParaRPr/>
          </a:p>
          <a:p>
            <a:pPr indent="-342900" lvl="0" marL="457200" rtl="0" algn="l">
              <a:spcBef>
                <a:spcPts val="0"/>
              </a:spcBef>
              <a:spcAft>
                <a:spcPts val="0"/>
              </a:spcAft>
              <a:buSzPts val="1800"/>
              <a:buChar char="-"/>
            </a:pPr>
            <a:r>
              <a:rPr lang="es-419"/>
              <a:t>Un proceso escribe datos en la FIFO.</a:t>
            </a:r>
            <a:endParaRPr/>
          </a:p>
          <a:p>
            <a:pPr indent="-342900" lvl="0" marL="457200" rtl="0" algn="l">
              <a:spcBef>
                <a:spcPts val="0"/>
              </a:spcBef>
              <a:spcAft>
                <a:spcPts val="0"/>
              </a:spcAft>
              <a:buSzPts val="1800"/>
              <a:buChar char="-"/>
            </a:pPr>
            <a:r>
              <a:rPr lang="es-419"/>
              <a:t>Otro proceso lee esos datos de la FIFO.</a:t>
            </a:r>
            <a:endParaRPr/>
          </a:p>
          <a:p>
            <a:pPr indent="-342900" lvl="0" marL="457200" rtl="0" algn="l">
              <a:spcBef>
                <a:spcPts val="0"/>
              </a:spcBef>
              <a:spcAft>
                <a:spcPts val="0"/>
              </a:spcAft>
              <a:buSzPts val="1800"/>
              <a:buChar char="-"/>
            </a:pPr>
            <a:r>
              <a:rPr lang="es-419"/>
              <a:t>La comunicación se realiza de manera secuencial: los datos entran y salen en orden.</a:t>
            </a:r>
            <a:endParaRPr/>
          </a:p>
          <a:p>
            <a:pPr indent="-342900" lvl="0" marL="457200" rtl="0" algn="l">
              <a:spcBef>
                <a:spcPts val="0"/>
              </a:spcBef>
              <a:spcAft>
                <a:spcPts val="0"/>
              </a:spcAft>
              <a:buSzPts val="1800"/>
              <a:buAutoNum type="arabicPeriod"/>
            </a:pPr>
            <a:r>
              <a:rPr lang="es-419"/>
              <a:t>Modos de apertura</a:t>
            </a:r>
            <a:endParaRPr/>
          </a:p>
          <a:p>
            <a:pPr indent="-342900" lvl="0" marL="457200" rtl="0" algn="l">
              <a:spcBef>
                <a:spcPts val="0"/>
              </a:spcBef>
              <a:spcAft>
                <a:spcPts val="0"/>
              </a:spcAft>
              <a:buSzPts val="1800"/>
              <a:buChar char="-"/>
            </a:pPr>
            <a:r>
              <a:rPr lang="es-419"/>
              <a:t>Solo lectura (O_RDONLY): Un proceso abre la FIFO solo para leer datos.</a:t>
            </a:r>
            <a:endParaRPr/>
          </a:p>
          <a:p>
            <a:pPr indent="-342900" lvl="0" marL="457200" rtl="0" algn="l">
              <a:spcBef>
                <a:spcPts val="0"/>
              </a:spcBef>
              <a:spcAft>
                <a:spcPts val="0"/>
              </a:spcAft>
              <a:buSzPts val="1800"/>
              <a:buChar char="-"/>
            </a:pPr>
            <a:r>
              <a:rPr lang="es-419"/>
              <a:t>Solo escritura (O_WRONLY): Un proceso abre la FIFO solo para escribir datos.</a:t>
            </a:r>
            <a:endParaRPr/>
          </a:p>
          <a:p>
            <a:pPr indent="-342900" lvl="0" marL="457200" rtl="0" algn="l">
              <a:spcBef>
                <a:spcPts val="0"/>
              </a:spcBef>
              <a:spcAft>
                <a:spcPts val="0"/>
              </a:spcAft>
              <a:buSzPts val="1800"/>
              <a:buChar char="-"/>
            </a:pPr>
            <a:r>
              <a:rPr lang="es-419"/>
              <a:t>Lectura y escritura (O_RDWR): Se puede leer y escribir en la FIFO desde el mismo proceso.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4. Aplicaciones: Cliente-Servidor Concepto general </a:t>
            </a:r>
            <a:endParaRPr/>
          </a:p>
        </p:txBody>
      </p:sp>
      <p:sp>
        <p:nvSpPr>
          <p:cNvPr id="117" name="Google Shape;117;p18"/>
          <p:cNvSpPr txBox="1"/>
          <p:nvPr>
            <p:ph idx="1" type="body"/>
          </p:nvPr>
        </p:nvSpPr>
        <p:spPr>
          <a:xfrm>
            <a:off x="311700" y="1229875"/>
            <a:ext cx="4532100" cy="3522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sz="1600"/>
              <a:t>Se debe definir el nombre del server para que todos los clientes sepan como contactar al mismo.</a:t>
            </a:r>
            <a:endParaRPr sz="1600"/>
          </a:p>
          <a:p>
            <a:pPr indent="-330200" lvl="0" marL="457200" rtl="0" algn="l">
              <a:spcBef>
                <a:spcPts val="0"/>
              </a:spcBef>
              <a:spcAft>
                <a:spcPts val="0"/>
              </a:spcAft>
              <a:buSzPts val="1600"/>
              <a:buChar char="-"/>
            </a:pPr>
            <a:r>
              <a:rPr lang="es-419" sz="1600"/>
              <a:t>Se utiliza un FIFO como canal de comunicación entre un servidor y múltiples cliente</a:t>
            </a:r>
            <a:endParaRPr sz="1600"/>
          </a:p>
          <a:p>
            <a:pPr indent="-330200" lvl="0" marL="457200" rtl="0" algn="l">
              <a:spcBef>
                <a:spcPts val="0"/>
              </a:spcBef>
              <a:spcAft>
                <a:spcPts val="0"/>
              </a:spcAft>
              <a:buSzPts val="1600"/>
              <a:buChar char="-"/>
            </a:pPr>
            <a:r>
              <a:rPr lang="es-419" sz="1600"/>
              <a:t>Cada cliente escribe su solicitud en un FIFO público y espera una respuesta en un FIFO privado.</a:t>
            </a:r>
            <a:endParaRPr sz="1600"/>
          </a:p>
          <a:p>
            <a:pPr indent="-330200" lvl="0" marL="457200" rtl="0" algn="l">
              <a:spcBef>
                <a:spcPts val="0"/>
              </a:spcBef>
              <a:spcAft>
                <a:spcPts val="0"/>
              </a:spcAft>
              <a:buSzPts val="1600"/>
              <a:buChar char="-"/>
            </a:pPr>
            <a:r>
              <a:rPr lang="es-419" sz="1600"/>
              <a:t>Se identifica a cada FIFO privado de cliente según su PID.</a:t>
            </a:r>
            <a:endParaRPr sz="1600"/>
          </a:p>
        </p:txBody>
      </p:sp>
      <p:pic>
        <p:nvPicPr>
          <p:cNvPr id="118" name="Google Shape;118;p18"/>
          <p:cNvPicPr preferRelativeResize="0"/>
          <p:nvPr/>
        </p:nvPicPr>
        <p:blipFill>
          <a:blip r:embed="rId3">
            <a:alphaModFix/>
          </a:blip>
          <a:stretch>
            <a:fillRect/>
          </a:stretch>
        </p:blipFill>
        <p:spPr>
          <a:xfrm>
            <a:off x="5049100" y="1752300"/>
            <a:ext cx="3995400" cy="18295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4. Aplicaciones: Dual pipeline con FIFOs.</a:t>
            </a:r>
            <a:endParaRPr/>
          </a:p>
        </p:txBody>
      </p:sp>
      <p:sp>
        <p:nvSpPr>
          <p:cNvPr id="124" name="Google Shape;124;p19"/>
          <p:cNvSpPr txBox="1"/>
          <p:nvPr>
            <p:ph idx="1" type="body"/>
          </p:nvPr>
        </p:nvSpPr>
        <p:spPr>
          <a:xfrm>
            <a:off x="311700" y="1229875"/>
            <a:ext cx="8520600" cy="1416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Una de las </a:t>
            </a:r>
            <a:r>
              <a:rPr lang="es-419"/>
              <a:t>características de las tuberías de shell es su linealidad.</a:t>
            </a:r>
            <a:r>
              <a:rPr lang="es-419"/>
              <a:t> </a:t>
            </a:r>
            <a:endParaRPr/>
          </a:p>
          <a:p>
            <a:pPr indent="-342900" lvl="0" marL="457200" rtl="0" algn="l">
              <a:spcBef>
                <a:spcPts val="0"/>
              </a:spcBef>
              <a:spcAft>
                <a:spcPts val="0"/>
              </a:spcAft>
              <a:buSzPts val="1800"/>
              <a:buChar char="-"/>
            </a:pPr>
            <a:r>
              <a:rPr lang="es-419"/>
              <a:t>Mediante el uso de FIFO, es posible crear una bifurcación en una tubería, de modo que una copia duplicada de la salida de un proceso se envíe a otro proceso, además de a su sucesor en la tubería.</a:t>
            </a:r>
            <a:endParaRPr/>
          </a:p>
        </p:txBody>
      </p:sp>
      <p:pic>
        <p:nvPicPr>
          <p:cNvPr id="125" name="Google Shape;125;p19"/>
          <p:cNvPicPr preferRelativeResize="0"/>
          <p:nvPr/>
        </p:nvPicPr>
        <p:blipFill>
          <a:blip r:embed="rId3">
            <a:alphaModFix/>
          </a:blip>
          <a:stretch>
            <a:fillRect/>
          </a:stretch>
        </p:blipFill>
        <p:spPr>
          <a:xfrm>
            <a:off x="4491350" y="2610770"/>
            <a:ext cx="2895074" cy="874575"/>
          </a:xfrm>
          <a:prstGeom prst="rect">
            <a:avLst/>
          </a:prstGeom>
          <a:noFill/>
          <a:ln>
            <a:noFill/>
          </a:ln>
        </p:spPr>
      </p:pic>
      <p:pic>
        <p:nvPicPr>
          <p:cNvPr id="126" name="Google Shape;126;p19"/>
          <p:cNvPicPr preferRelativeResize="0"/>
          <p:nvPr/>
        </p:nvPicPr>
        <p:blipFill>
          <a:blip r:embed="rId4">
            <a:alphaModFix/>
          </a:blip>
          <a:stretch>
            <a:fillRect/>
          </a:stretch>
        </p:blipFill>
        <p:spPr>
          <a:xfrm>
            <a:off x="2855926" y="3419700"/>
            <a:ext cx="6165925" cy="1416275"/>
          </a:xfrm>
          <a:prstGeom prst="rect">
            <a:avLst/>
          </a:prstGeom>
          <a:noFill/>
          <a:ln>
            <a:noFill/>
          </a:ln>
        </p:spPr>
      </p:pic>
      <p:sp>
        <p:nvSpPr>
          <p:cNvPr id="127" name="Google Shape;127;p19"/>
          <p:cNvSpPr txBox="1"/>
          <p:nvPr/>
        </p:nvSpPr>
        <p:spPr>
          <a:xfrm>
            <a:off x="806875" y="2646175"/>
            <a:ext cx="2555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600">
                <a:solidFill>
                  <a:schemeClr val="dk2"/>
                </a:solidFill>
                <a:latin typeface="Roboto"/>
                <a:ea typeface="Roboto"/>
                <a:cs typeface="Roboto"/>
                <a:sym typeface="Roboto"/>
              </a:rPr>
              <a:t>Para esto, se debe utilizar </a:t>
            </a:r>
            <a:endParaRPr sz="1600">
              <a:solidFill>
                <a:schemeClr val="dk2"/>
              </a:solidFill>
              <a:latin typeface="Roboto"/>
              <a:ea typeface="Roboto"/>
              <a:cs typeface="Roboto"/>
              <a:sym typeface="Roboto"/>
            </a:endParaRPr>
          </a:p>
          <a:p>
            <a:pPr indent="0" lvl="0" marL="0" rtl="0" algn="l">
              <a:spcBef>
                <a:spcPts val="0"/>
              </a:spcBef>
              <a:spcAft>
                <a:spcPts val="0"/>
              </a:spcAft>
              <a:buNone/>
            </a:pPr>
            <a:r>
              <a:rPr lang="es-419" sz="1600">
                <a:solidFill>
                  <a:schemeClr val="dk2"/>
                </a:solidFill>
                <a:latin typeface="Roboto"/>
                <a:ea typeface="Roboto"/>
                <a:cs typeface="Roboto"/>
                <a:sym typeface="Roboto"/>
              </a:rPr>
              <a:t>el comando ‘tee’</a:t>
            </a:r>
            <a:endParaRPr sz="16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idx="1" type="body"/>
          </p:nvPr>
        </p:nvSpPr>
        <p:spPr>
          <a:xfrm>
            <a:off x="311700" y="1108050"/>
            <a:ext cx="8520600" cy="11181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es-419"/>
              <a:t>Recordar que la información dentro de un pipe o FIFO es un flujo de datos. Es por ello que ambas partes (remitente - receptor) deben llegar a un acuerdo para separar el mensaje.</a:t>
            </a:r>
            <a:endParaRPr/>
          </a:p>
          <a:p>
            <a:pPr indent="0" lvl="0" marL="0" rtl="0" algn="l">
              <a:spcBef>
                <a:spcPts val="1200"/>
              </a:spcBef>
              <a:spcAft>
                <a:spcPts val="1200"/>
              </a:spcAft>
              <a:buNone/>
            </a:pPr>
            <a:r>
              <a:t/>
            </a:r>
            <a:endParaRPr/>
          </a:p>
        </p:txBody>
      </p:sp>
      <p:sp>
        <p:nvSpPr>
          <p:cNvPr id="133" name="Google Shape;133;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4. Aplicaciones: Cliente-Servidor.</a:t>
            </a:r>
            <a:endParaRPr/>
          </a:p>
        </p:txBody>
      </p:sp>
      <p:sp>
        <p:nvSpPr>
          <p:cNvPr id="134" name="Google Shape;134;p20"/>
          <p:cNvSpPr txBox="1"/>
          <p:nvPr/>
        </p:nvSpPr>
        <p:spPr>
          <a:xfrm>
            <a:off x="530950" y="1863000"/>
            <a:ext cx="4321500" cy="2805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2"/>
              </a:buClr>
              <a:buSzPts val="1500"/>
              <a:buFont typeface="Roboto"/>
              <a:buChar char="-"/>
            </a:pPr>
            <a:r>
              <a:rPr lang="es-419" sz="1500">
                <a:solidFill>
                  <a:schemeClr val="dk2"/>
                </a:solidFill>
                <a:latin typeface="Roboto"/>
                <a:ea typeface="Roboto"/>
                <a:cs typeface="Roboto"/>
                <a:sym typeface="Roboto"/>
              </a:rPr>
              <a:t>Existen tres métodos:</a:t>
            </a:r>
            <a:endParaRPr sz="1500">
              <a:solidFill>
                <a:schemeClr val="dk2"/>
              </a:solidFill>
              <a:latin typeface="Roboto"/>
              <a:ea typeface="Roboto"/>
              <a:cs typeface="Roboto"/>
              <a:sym typeface="Roboto"/>
            </a:endParaRPr>
          </a:p>
          <a:p>
            <a:pPr indent="-323850" lvl="0" marL="457200" rtl="0" algn="l">
              <a:lnSpc>
                <a:spcPct val="115000"/>
              </a:lnSpc>
              <a:spcBef>
                <a:spcPts val="0"/>
              </a:spcBef>
              <a:spcAft>
                <a:spcPts val="0"/>
              </a:spcAft>
              <a:buClr>
                <a:schemeClr val="dk2"/>
              </a:buClr>
              <a:buSzPts val="1500"/>
              <a:buFont typeface="Roboto"/>
              <a:buAutoNum type="arabicPeriod"/>
            </a:pPr>
            <a:r>
              <a:rPr lang="es-419" sz="1500">
                <a:solidFill>
                  <a:schemeClr val="dk2"/>
                </a:solidFill>
                <a:latin typeface="Roboto"/>
                <a:ea typeface="Roboto"/>
                <a:cs typeface="Roboto"/>
                <a:sym typeface="Roboto"/>
              </a:rPr>
              <a:t>Carácter delimitador: No debería aparecer en el mensaje. Se tiene que leer byte por byte hasta encontrar el carácter.</a:t>
            </a:r>
            <a:endParaRPr sz="1500">
              <a:solidFill>
                <a:schemeClr val="dk2"/>
              </a:solidFill>
              <a:latin typeface="Roboto"/>
              <a:ea typeface="Roboto"/>
              <a:cs typeface="Roboto"/>
              <a:sym typeface="Roboto"/>
            </a:endParaRPr>
          </a:p>
          <a:p>
            <a:pPr indent="-323850" lvl="0" marL="457200" rtl="0" algn="l">
              <a:lnSpc>
                <a:spcPct val="115000"/>
              </a:lnSpc>
              <a:spcBef>
                <a:spcPts val="0"/>
              </a:spcBef>
              <a:spcAft>
                <a:spcPts val="0"/>
              </a:spcAft>
              <a:buClr>
                <a:schemeClr val="dk2"/>
              </a:buClr>
              <a:buSzPts val="1500"/>
              <a:buFont typeface="Roboto"/>
              <a:buAutoNum type="arabicPeriod"/>
            </a:pPr>
            <a:r>
              <a:rPr lang="es-419" sz="1500">
                <a:solidFill>
                  <a:schemeClr val="dk2"/>
                </a:solidFill>
                <a:latin typeface="Roboto"/>
                <a:ea typeface="Roboto"/>
                <a:cs typeface="Roboto"/>
                <a:sym typeface="Roboto"/>
              </a:rPr>
              <a:t>Longitud del mensaje: Eficiente pero puede conducir a problemas si es que ocurre un error en el mensaje (cambia su longitud)</a:t>
            </a:r>
            <a:endParaRPr sz="1500">
              <a:solidFill>
                <a:schemeClr val="dk2"/>
              </a:solidFill>
              <a:latin typeface="Roboto"/>
              <a:ea typeface="Roboto"/>
              <a:cs typeface="Roboto"/>
              <a:sym typeface="Roboto"/>
            </a:endParaRPr>
          </a:p>
          <a:p>
            <a:pPr indent="-323850" lvl="0" marL="457200" rtl="0" algn="l">
              <a:lnSpc>
                <a:spcPct val="115000"/>
              </a:lnSpc>
              <a:spcBef>
                <a:spcPts val="0"/>
              </a:spcBef>
              <a:spcAft>
                <a:spcPts val="0"/>
              </a:spcAft>
              <a:buClr>
                <a:schemeClr val="dk2"/>
              </a:buClr>
              <a:buSzPts val="1500"/>
              <a:buFont typeface="Roboto"/>
              <a:buAutoNum type="arabicPeriod"/>
            </a:pPr>
            <a:r>
              <a:rPr lang="es-419" sz="1500">
                <a:solidFill>
                  <a:schemeClr val="dk2"/>
                </a:solidFill>
                <a:latin typeface="Roboto"/>
                <a:ea typeface="Roboto"/>
                <a:cs typeface="Roboto"/>
                <a:sym typeface="Roboto"/>
              </a:rPr>
              <a:t>Longitud fija: Más sencillo de programar, también puede conducir a problemas si la longitud del mensaje no es la correcta</a:t>
            </a:r>
            <a:endParaRPr sz="1500">
              <a:solidFill>
                <a:schemeClr val="dk2"/>
              </a:solidFill>
              <a:latin typeface="Roboto"/>
              <a:ea typeface="Roboto"/>
              <a:cs typeface="Roboto"/>
              <a:sym typeface="Roboto"/>
            </a:endParaRPr>
          </a:p>
        </p:txBody>
      </p:sp>
      <p:pic>
        <p:nvPicPr>
          <p:cNvPr id="135" name="Google Shape;135;p20"/>
          <p:cNvPicPr preferRelativeResize="0"/>
          <p:nvPr/>
        </p:nvPicPr>
        <p:blipFill>
          <a:blip r:embed="rId3">
            <a:alphaModFix/>
          </a:blip>
          <a:stretch>
            <a:fillRect/>
          </a:stretch>
        </p:blipFill>
        <p:spPr>
          <a:xfrm>
            <a:off x="5145975" y="1863000"/>
            <a:ext cx="3604701" cy="2195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idx="1" type="body"/>
          </p:nvPr>
        </p:nvSpPr>
        <p:spPr>
          <a:xfrm>
            <a:off x="73575" y="1406250"/>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419"/>
              <a:t>Cr</a:t>
            </a:r>
            <a:r>
              <a:rPr lang="es-419"/>
              <a:t>eación del FIFO público: Se crea un FIFO en un directorio conocido, permitiendo que los clientes escriban solicitudes. </a:t>
            </a:r>
            <a:endParaRPr/>
          </a:p>
          <a:p>
            <a:pPr indent="-342900" lvl="0" marL="457200" rtl="0" algn="l">
              <a:spcBef>
                <a:spcPts val="0"/>
              </a:spcBef>
              <a:spcAft>
                <a:spcPts val="0"/>
              </a:spcAft>
              <a:buSzPts val="1800"/>
              <a:buAutoNum type="arabicPeriod"/>
            </a:pPr>
            <a:r>
              <a:rPr lang="es-419"/>
              <a:t>E</a:t>
            </a:r>
            <a:r>
              <a:rPr lang="es-419"/>
              <a:t>spera de solicitudes: El servidor abre el FIFO público en modo lectura y espera mensajes de los clientes. Esto se debe realizar antes de la llegada de cualquier clientes para asegurarse la existencia de la FIFO en el momento que el cliente desea abrirla.</a:t>
            </a:r>
            <a:endParaRPr/>
          </a:p>
          <a:p>
            <a:pPr indent="-342900" lvl="0" marL="457200" rtl="0" algn="l">
              <a:spcBef>
                <a:spcPts val="0"/>
              </a:spcBef>
              <a:spcAft>
                <a:spcPts val="0"/>
              </a:spcAft>
              <a:buSzPts val="1800"/>
              <a:buAutoNum type="arabicPeriod"/>
            </a:pPr>
            <a:r>
              <a:rPr lang="es-419"/>
              <a:t>Procesamiento de la solicitud: Al recibir una solicitud, el servidor la procesa y determina el FIFO privado del cliente para responder.</a:t>
            </a:r>
            <a:endParaRPr/>
          </a:p>
          <a:p>
            <a:pPr indent="-342900" lvl="0" marL="457200" rtl="0" algn="l">
              <a:spcBef>
                <a:spcPts val="0"/>
              </a:spcBef>
              <a:spcAft>
                <a:spcPts val="0"/>
              </a:spcAft>
              <a:buSzPts val="1800"/>
              <a:buAutoNum type="arabicPeriod"/>
            </a:pPr>
            <a:r>
              <a:rPr lang="es-419"/>
              <a:t>Envío de respuesta: El servidor escribe la respuesta en el FIFO</a:t>
            </a:r>
            <a:endParaRPr/>
          </a:p>
          <a:p>
            <a:pPr indent="0" lvl="0" marL="457200" rtl="0" algn="l">
              <a:spcBef>
                <a:spcPts val="1200"/>
              </a:spcBef>
              <a:spcAft>
                <a:spcPts val="1200"/>
              </a:spcAft>
              <a:buNone/>
            </a:pPr>
            <a:r>
              <a:rPr lang="es-419"/>
              <a:t> privado del cliente.</a:t>
            </a:r>
            <a:endParaRPr/>
          </a:p>
        </p:txBody>
      </p:sp>
      <p:sp>
        <p:nvSpPr>
          <p:cNvPr id="141" name="Google Shape;141;p21"/>
          <p:cNvSpPr txBox="1"/>
          <p:nvPr>
            <p:ph type="title"/>
          </p:nvPr>
        </p:nvSpPr>
        <p:spPr>
          <a:xfrm>
            <a:off x="311700" y="410000"/>
            <a:ext cx="8520600" cy="88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4. Aplicaciones: Cliente-Servidor -Funcionamiento del servidor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idx="1" type="body"/>
          </p:nvPr>
        </p:nvSpPr>
        <p:spPr>
          <a:xfrm>
            <a:off x="311700" y="1406250"/>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419"/>
              <a:t>Creación del FIFO privado: Cada cliente crea su propio FIFO temporal para recibir la respuesta. Debe realizarse antes del </a:t>
            </a:r>
            <a:r>
              <a:rPr lang="es-419"/>
              <a:t>envío</a:t>
            </a:r>
            <a:r>
              <a:rPr lang="es-419"/>
              <a:t> de la solicitud para asegurarse la existencia de la FIFO al momento de recibir la respuesta del servidor.</a:t>
            </a:r>
            <a:endParaRPr/>
          </a:p>
          <a:p>
            <a:pPr indent="-342900" lvl="0" marL="457200" rtl="0" algn="l">
              <a:spcBef>
                <a:spcPts val="0"/>
              </a:spcBef>
              <a:spcAft>
                <a:spcPts val="0"/>
              </a:spcAft>
              <a:buSzPts val="1800"/>
              <a:buAutoNum type="arabicPeriod"/>
            </a:pPr>
            <a:r>
              <a:rPr lang="es-419"/>
              <a:t>Envío de solicitud: El cliente escribe su mensaje en el FIFO público junto con la referencia a su FIFO privado.</a:t>
            </a:r>
            <a:endParaRPr/>
          </a:p>
          <a:p>
            <a:pPr indent="-342900" lvl="0" marL="457200" rtl="0" algn="l">
              <a:spcBef>
                <a:spcPts val="0"/>
              </a:spcBef>
              <a:spcAft>
                <a:spcPts val="0"/>
              </a:spcAft>
              <a:buSzPts val="1800"/>
              <a:buAutoNum type="arabicPeriod"/>
            </a:pPr>
            <a:r>
              <a:rPr lang="es-419"/>
              <a:t>Recepción de la respuesta: El cliente espera la respuesta en su FIFO privado y la lee cuando está disponible.</a:t>
            </a:r>
            <a:endParaRPr/>
          </a:p>
        </p:txBody>
      </p:sp>
      <p:sp>
        <p:nvSpPr>
          <p:cNvPr id="147" name="Google Shape;147;p22"/>
          <p:cNvSpPr txBox="1"/>
          <p:nvPr>
            <p:ph type="title"/>
          </p:nvPr>
        </p:nvSpPr>
        <p:spPr>
          <a:xfrm>
            <a:off x="311700" y="410000"/>
            <a:ext cx="8520600" cy="88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4. Aplicaciones: Cliente-Servidor -Funcionamiento del cliente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5. </a:t>
            </a:r>
            <a:r>
              <a:rPr lang="es-419"/>
              <a:t>O_NONBLOCK</a:t>
            </a:r>
            <a:endParaRPr/>
          </a:p>
        </p:txBody>
      </p:sp>
      <p:sp>
        <p:nvSpPr>
          <p:cNvPr id="153" name="Google Shape;153;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Por defecto, cuando un proceso realiza operaciones de entrada/salida (I/O) en un FIFO, se bloquea si la operación no puede completarse inmediatamente:</a:t>
            </a:r>
            <a:endParaRPr/>
          </a:p>
          <a:p>
            <a:pPr indent="-342900" lvl="0" marL="457200" rtl="0" algn="l">
              <a:spcBef>
                <a:spcPts val="1200"/>
              </a:spcBef>
              <a:spcAft>
                <a:spcPts val="0"/>
              </a:spcAft>
              <a:buSzPts val="1800"/>
              <a:buChar char="-"/>
            </a:pPr>
            <a:r>
              <a:rPr lang="es-419"/>
              <a:t>Una lectura read() en un FIFO vacío bloquea el proceso hasta que haya datos disponibles.</a:t>
            </a:r>
            <a:endParaRPr/>
          </a:p>
          <a:p>
            <a:pPr indent="-342900" lvl="0" marL="457200" rtl="0" algn="l">
              <a:spcBef>
                <a:spcPts val="0"/>
              </a:spcBef>
              <a:spcAft>
                <a:spcPts val="0"/>
              </a:spcAft>
              <a:buSzPts val="1800"/>
              <a:buChar char="-"/>
            </a:pPr>
            <a:r>
              <a:rPr lang="es-419"/>
              <a:t>Una escritura write() en un FIFO lleno bloquea el proceso hasta que haya espacio disponible.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1101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5. O_NONBLOCK</a:t>
            </a:r>
            <a:endParaRPr/>
          </a:p>
        </p:txBody>
      </p:sp>
      <p:sp>
        <p:nvSpPr>
          <p:cNvPr id="159" name="Google Shape;159;p24"/>
          <p:cNvSpPr txBox="1"/>
          <p:nvPr>
            <p:ph idx="1" type="body"/>
          </p:nvPr>
        </p:nvSpPr>
        <p:spPr>
          <a:xfrm>
            <a:off x="277500" y="717950"/>
            <a:ext cx="8589000" cy="27870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s-419" sz="2979"/>
              <a:t>Para evitar que un proceso se quede esperando, se puede abrir el FIFO con la bandera O_NONBLOCK, lo que cambia el comportamiento:</a:t>
            </a:r>
            <a:endParaRPr sz="2979"/>
          </a:p>
          <a:p>
            <a:pPr indent="-318480" lvl="0" marL="457200" rtl="0" algn="l">
              <a:spcBef>
                <a:spcPts val="1200"/>
              </a:spcBef>
              <a:spcAft>
                <a:spcPts val="0"/>
              </a:spcAft>
              <a:buSzPct val="100000"/>
              <a:buChar char="-"/>
            </a:pPr>
            <a:r>
              <a:rPr lang="es-419" sz="2979"/>
              <a:t>Lectura sin bloqueo: Si no hay datos disponibles, read() devuelve inmediatamente con un valor de 0 en lugar de bloquearse.</a:t>
            </a:r>
            <a:endParaRPr sz="2979"/>
          </a:p>
          <a:p>
            <a:pPr indent="-318480" lvl="0" marL="457200" rtl="0" algn="l">
              <a:spcBef>
                <a:spcPts val="0"/>
              </a:spcBef>
              <a:spcAft>
                <a:spcPts val="0"/>
              </a:spcAft>
              <a:buSzPct val="100000"/>
              <a:buChar char="-"/>
            </a:pPr>
            <a:r>
              <a:rPr lang="es-419" sz="2979"/>
              <a:t>Escritura sin bloqueo: Si el FIFO está lleno, write() devuelve un error con EAGAIN en lugar de bloquearse.</a:t>
            </a:r>
            <a:endParaRPr sz="2979"/>
          </a:p>
          <a:p>
            <a:pPr indent="0" lvl="0" marL="0" rtl="0" algn="l">
              <a:spcBef>
                <a:spcPts val="1200"/>
              </a:spcBef>
              <a:spcAft>
                <a:spcPts val="0"/>
              </a:spcAft>
              <a:buNone/>
            </a:pPr>
            <a:r>
              <a:rPr lang="es-419" sz="2979"/>
              <a:t>Este mecanismo es útil en programas que deben seguir ejecutándose sin interrupciones, como servidores y sistemas en tiempo real. </a:t>
            </a:r>
            <a:endParaRPr sz="2979"/>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60" name="Google Shape;160;p24"/>
          <p:cNvPicPr preferRelativeResize="0"/>
          <p:nvPr/>
        </p:nvPicPr>
        <p:blipFill>
          <a:blip r:embed="rId3">
            <a:alphaModFix/>
          </a:blip>
          <a:stretch>
            <a:fillRect/>
          </a:stretch>
        </p:blipFill>
        <p:spPr>
          <a:xfrm>
            <a:off x="637450" y="3079125"/>
            <a:ext cx="7963251" cy="1399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6. Comportamiento de Read() y Write()</a:t>
            </a:r>
            <a:endParaRPr/>
          </a:p>
        </p:txBody>
      </p:sp>
      <p:sp>
        <p:nvSpPr>
          <p:cNvPr id="166" name="Google Shape;166;p2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419"/>
              <a:t>Comportamiento de read():</a:t>
            </a:r>
            <a:endParaRPr/>
          </a:p>
          <a:p>
            <a:pPr indent="-342900" lvl="0" marL="457200" rtl="0" algn="l">
              <a:spcBef>
                <a:spcPts val="0"/>
              </a:spcBef>
              <a:spcAft>
                <a:spcPts val="0"/>
              </a:spcAft>
              <a:buSzPts val="1800"/>
              <a:buChar char="-"/>
            </a:pPr>
            <a:r>
              <a:rPr lang="es-419"/>
              <a:t>read() en una FIFO vacío bloquea el proceso hasta que otro proceso escriba datos.</a:t>
            </a:r>
            <a:endParaRPr/>
          </a:p>
          <a:p>
            <a:pPr indent="-342900" lvl="0" marL="457200" rtl="0" algn="l">
              <a:spcBef>
                <a:spcPts val="0"/>
              </a:spcBef>
              <a:spcAft>
                <a:spcPts val="0"/>
              </a:spcAft>
              <a:buSzPts val="1800"/>
              <a:buChar char="-"/>
            </a:pPr>
            <a:r>
              <a:rPr lang="es-419"/>
              <a:t>En cambio, si el descriptor de archivo se abrió con O_NONBLOCK y el FIFO está vacío, read() devuelve 0 (EOF).</a:t>
            </a:r>
            <a:endParaRPr/>
          </a:p>
          <a:p>
            <a:pPr indent="-342900" lvl="0" marL="457200" rtl="0" algn="l">
              <a:spcBef>
                <a:spcPts val="0"/>
              </a:spcBef>
              <a:spcAft>
                <a:spcPts val="0"/>
              </a:spcAft>
              <a:buSzPts val="1800"/>
              <a:buAutoNum type="arabicPeriod"/>
            </a:pPr>
            <a:r>
              <a:rPr lang="es-419"/>
              <a:t>Comportamiento de write():</a:t>
            </a:r>
            <a:endParaRPr/>
          </a:p>
          <a:p>
            <a:pPr indent="-342900" lvl="0" marL="457200" rtl="0" algn="l">
              <a:spcBef>
                <a:spcPts val="0"/>
              </a:spcBef>
              <a:spcAft>
                <a:spcPts val="0"/>
              </a:spcAft>
              <a:buSzPts val="1800"/>
              <a:buChar char="-"/>
            </a:pPr>
            <a:r>
              <a:rPr lang="es-419"/>
              <a:t>write() bloquea el proceso si la FIFO está llena hasta que haya espacio disponible.</a:t>
            </a:r>
            <a:endParaRPr/>
          </a:p>
          <a:p>
            <a:pPr indent="-342900" lvl="0" marL="457200" rtl="0" algn="l">
              <a:spcBef>
                <a:spcPts val="0"/>
              </a:spcBef>
              <a:spcAft>
                <a:spcPts val="0"/>
              </a:spcAft>
              <a:buSzPts val="1800"/>
              <a:buChar char="-"/>
            </a:pPr>
            <a:r>
              <a:rPr lang="es-419"/>
              <a:t>En cambio, si se abrió con O_NONBLOCK, write() devuelve un error EAGAIN en lugar de bloquearse.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329325" y="983275"/>
            <a:ext cx="7274700" cy="133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4000"/>
              <a:t>Fin de la presentación</a:t>
            </a:r>
            <a:endParaRPr sz="4000"/>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