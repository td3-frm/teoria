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74" r:id="rId6"/>
    <p:sldId id="269" r:id="rId7"/>
    <p:sldId id="270" r:id="rId8"/>
    <p:sldId id="262" r:id="rId9"/>
    <p:sldId id="260" r:id="rId10"/>
    <p:sldId id="264" r:id="rId11"/>
    <p:sldId id="261" r:id="rId12"/>
    <p:sldId id="271" r:id="rId13"/>
    <p:sldId id="272" r:id="rId14"/>
    <p:sldId id="273" r:id="rId15"/>
    <p:sldId id="265" r:id="rId16"/>
    <p:sldId id="266" r:id="rId17"/>
    <p:sldId id="268" r:id="rId18"/>
  </p:sldIdLst>
  <p:sldSz cx="12192000" cy="6858000"/>
  <p:notesSz cx="6858000" cy="9144000"/>
  <p:defaultTextStyle>
    <a:defPPr>
      <a:defRPr lang="es-MX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0" autoAdjust="0"/>
    <p:restoredTop sz="94660"/>
  </p:normalViewPr>
  <p:slideViewPr>
    <p:cSldViewPr snapToGrid="0">
      <p:cViewPr varScale="1">
        <p:scale>
          <a:sx n="68" d="100"/>
          <a:sy n="68" d="100"/>
        </p:scale>
        <p:origin x="81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MX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6620C1F-5F50-4982-B07F-F805C0DEB431}" type="datetimeFigureOut">
              <a:rPr lang="es-MX" smtClean="0"/>
              <a:t>27/03/2025</a:t>
            </a:fld>
            <a:endParaRPr lang="es-MX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MX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MX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688408-2C0C-4818-89B2-59C31572B936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6716673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MX" dirty="0"/>
              <a:t>Unidireccionales; ósea que el flujo de datos va siempre en un solo sentido. Algo </a:t>
            </a:r>
            <a:r>
              <a:rPr lang="es-MX" dirty="0" err="1"/>
              <a:t>atomico</a:t>
            </a:r>
            <a:r>
              <a:rPr lang="es-MX" dirty="0"/>
              <a:t> implica que la acción debe ser realizada en su totalidad y no puede ser interrumpida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A688408-2C0C-4818-89B2-59C31572B936}" type="slidenum">
              <a:rPr lang="es-MX" smtClean="0"/>
              <a:t>3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96834280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MX" dirty="0"/>
              <a:t>Las funciones de </a:t>
            </a:r>
            <a:r>
              <a:rPr lang="es-MX" dirty="0" err="1"/>
              <a:t>stdio</a:t>
            </a:r>
            <a:r>
              <a:rPr lang="es-MX" dirty="0"/>
              <a:t> generan problemas con los buffers. Esto se vera mejor mas adelante.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A688408-2C0C-4818-89B2-59C31572B936}" type="slidenum">
              <a:rPr lang="es-MX" smtClean="0"/>
              <a:t>4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98085265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MX" dirty="0"/>
              <a:t>El proceso padre elimina </a:t>
            </a:r>
            <a:r>
              <a:rPr lang="es-MX" dirty="0" err="1"/>
              <a:t>filedes</a:t>
            </a:r>
            <a:r>
              <a:rPr lang="es-MX" dirty="0"/>
              <a:t>[0] el extremo de lectura y el proceso hijo elimina </a:t>
            </a:r>
            <a:r>
              <a:rPr lang="es-MX" dirty="0" err="1"/>
              <a:t>filedes</a:t>
            </a:r>
            <a:r>
              <a:rPr lang="es-MX" dirty="0"/>
              <a:t>[1] el extremo de escritura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A688408-2C0C-4818-89B2-59C31572B936}" type="slidenum">
              <a:rPr lang="es-MX" smtClean="0"/>
              <a:t>6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58052603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MX" dirty="0"/>
              <a:t>Sobre el segundo punto: si no se borrasen, habrían interferencias entre los dos procesos y podría que la tubería no tenga en cuenta las lecturas o las escrituras correctas.</a:t>
            </a:r>
          </a:p>
          <a:p>
            <a:endParaRPr lang="es-MX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MX" dirty="0"/>
              <a:t>Los descriptores de archivos serian los </a:t>
            </a:r>
            <a:r>
              <a:rPr lang="es-MX" dirty="0" err="1"/>
              <a:t>stdout</a:t>
            </a:r>
            <a:r>
              <a:rPr lang="es-MX" dirty="0"/>
              <a:t> y los </a:t>
            </a:r>
            <a:r>
              <a:rPr lang="es-MX" dirty="0" err="1"/>
              <a:t>stdin</a:t>
            </a:r>
            <a:r>
              <a:rPr lang="es-MX" dirty="0"/>
              <a:t> del sistema operativo</a:t>
            </a:r>
          </a:p>
          <a:p>
            <a:endParaRPr lang="es-MX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A688408-2C0C-4818-89B2-59C31572B936}" type="slidenum">
              <a:rPr lang="es-MX" smtClean="0"/>
              <a:t>7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77310298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MX" dirty="0" err="1"/>
              <a:t>Tambien</a:t>
            </a:r>
            <a:r>
              <a:rPr lang="es-MX" dirty="0"/>
              <a:t> hay otra función </a:t>
            </a:r>
            <a:r>
              <a:rPr lang="es-MX" dirty="0" err="1"/>
              <a:t>llamda</a:t>
            </a:r>
            <a:r>
              <a:rPr lang="es-MX" dirty="0"/>
              <a:t> </a:t>
            </a:r>
            <a:r>
              <a:rPr lang="es-MX" dirty="0" err="1"/>
              <a:t>system</a:t>
            </a:r>
            <a:r>
              <a:rPr lang="es-MX" dirty="0"/>
              <a:t>(). Es muy similar a este pero funciona de forma muy distinta.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A688408-2C0C-4818-89B2-59C31572B936}" type="slidenum">
              <a:rPr lang="es-MX" smtClean="0"/>
              <a:t>14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95354005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9BD299-BC56-57FF-379A-4A8185D1B51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s-MX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BB35703-63B2-AB40-59E6-B257DAA718C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s-MX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5DDAF0-CAE2-D2F3-B82F-ECF3ECC546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B7BE8B-B806-4764-BC50-C56921482094}" type="datetimeFigureOut">
              <a:rPr lang="es-MX" smtClean="0"/>
              <a:t>27/03/2025</a:t>
            </a:fld>
            <a:endParaRPr lang="es-MX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CE2A74-50C3-5BF0-6C84-7E8EB7ABD8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D907DE-21C8-231A-8EF8-B245F57E21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4DB546-DFB2-490F-9AAD-B7DDBEDFBCD9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906361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9EDA94-88DA-5703-485B-945D1CCF52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MX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1EFFFD-846A-F523-5E4E-D91C3EA4B1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MX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4ECE4F-44A8-4F12-9CD8-D4AF8115FA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B7BE8B-B806-4764-BC50-C56921482094}" type="datetimeFigureOut">
              <a:rPr lang="es-MX" smtClean="0"/>
              <a:t>27/03/2025</a:t>
            </a:fld>
            <a:endParaRPr lang="es-MX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1CF463-F263-8F5F-D336-A4DEF26061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B9BFB5-9F51-27EB-C640-44F10F52D7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4DB546-DFB2-490F-9AAD-B7DDBEDFBCD9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7735888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13247B-B506-B6B7-3E9A-453B7D8B26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s-MX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345C786-1796-0335-7F6C-0006D6D4E0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E29393-611B-498F-C223-D48B763AC8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B7BE8B-B806-4764-BC50-C56921482094}" type="datetimeFigureOut">
              <a:rPr lang="es-MX" smtClean="0"/>
              <a:t>27/03/2025</a:t>
            </a:fld>
            <a:endParaRPr lang="es-MX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E8382D-3AAF-97F2-47E5-D7E2774753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616853-E13E-34E6-E63F-4871A5CB38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4DB546-DFB2-490F-9AAD-B7DDBEDFBCD9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6305830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3149A8-EFDA-B7DE-691E-60A49024C9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MX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591136-303F-4FB5-3EE3-86248B15F2F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MX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1D347DD-26BA-88DC-B65F-55E5BDAA39B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MX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307D1C2-500D-F10A-C656-795041218C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B7BE8B-B806-4764-BC50-C56921482094}" type="datetimeFigureOut">
              <a:rPr lang="es-MX" smtClean="0"/>
              <a:t>27/03/2025</a:t>
            </a:fld>
            <a:endParaRPr lang="es-MX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14C760E-9956-15B6-D048-0519C75EE4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C82ACA6-B224-E823-7492-92A7BAB5E8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4DB546-DFB2-490F-9AAD-B7DDBEDFBCD9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4614014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DEE7B6-F02D-F3FA-FB8D-600368393B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s-MX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7BC72C3-5BE1-F52B-9FF8-56AEB62DEA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7DA1AB7-969F-ACFA-9975-A41FA32BCAE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MX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6983393-3097-8EE5-1533-9207004D50B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3A4784F-8B43-CCF7-AA65-88BEA594040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MX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22DE12C-0CF1-8B7E-C77E-135C8EB926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B7BE8B-B806-4764-BC50-C56921482094}" type="datetimeFigureOut">
              <a:rPr lang="es-MX" smtClean="0"/>
              <a:t>27/03/2025</a:t>
            </a:fld>
            <a:endParaRPr lang="es-MX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6607918-3D82-0BD1-0DE8-7A2C85613B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EE87DED-E71F-F2B2-17A9-C8C7D9B8D0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4DB546-DFB2-490F-9AAD-B7DDBEDFBCD9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9617663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166E1B-6C80-AACA-7DB7-E30D50DA80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MX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656D531-672F-6848-A4EF-D6BEB59784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B7BE8B-B806-4764-BC50-C56921482094}" type="datetimeFigureOut">
              <a:rPr lang="es-MX" smtClean="0"/>
              <a:t>27/03/2025</a:t>
            </a:fld>
            <a:endParaRPr lang="es-MX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EFD65D-E3EC-9B28-10AC-ED1DC6A683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A805B76-FC0E-E273-963D-9E20E9CF72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4DB546-DFB2-490F-9AAD-B7DDBEDFBCD9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1860564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78A58D3-D13C-A8C6-031D-999FA47EDB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B7BE8B-B806-4764-BC50-C56921482094}" type="datetimeFigureOut">
              <a:rPr lang="es-MX" smtClean="0"/>
              <a:t>27/03/2025</a:t>
            </a:fld>
            <a:endParaRPr lang="es-MX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D27070C-DE8B-9BD4-514D-2E3A914B77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307172-FDCD-A274-D142-0C6300372A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4DB546-DFB2-490F-9AAD-B7DDBEDFBCD9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8151036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CAC827-E50C-2388-CCEE-DBD13C52A9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s-MX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CF37D7-CDCC-CE04-E5A6-5E1A5B4232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MX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2642D14-3C4A-54CA-5BD1-2F127FD6DE4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5064847-6CB6-2F19-7698-35D11A96FB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B7BE8B-B806-4764-BC50-C56921482094}" type="datetimeFigureOut">
              <a:rPr lang="es-MX" smtClean="0"/>
              <a:t>27/03/2025</a:t>
            </a:fld>
            <a:endParaRPr lang="es-MX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C35E0F6-C964-6FA4-018C-67215180B8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9D42498-D030-DA2A-821F-B428008736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4DB546-DFB2-490F-9AAD-B7DDBEDFBCD9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4342549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24E679-5618-504A-E1F3-0BA0BF55C8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s-MX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14E8229-0D6B-968E-6A9C-ED4B872CA7A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MX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9A31E8C-3AC5-04E4-F7C7-05B3A8E58BE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B908206-8FD4-9274-692D-E7EB1D4C67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B7BE8B-B806-4764-BC50-C56921482094}" type="datetimeFigureOut">
              <a:rPr lang="es-MX" smtClean="0"/>
              <a:t>27/03/2025</a:t>
            </a:fld>
            <a:endParaRPr lang="es-MX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11C59FF-0EDE-4143-9683-B51C8C9328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2B801C0-2783-94F8-B4E2-07625338CD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4DB546-DFB2-490F-9AAD-B7DDBEDFBCD9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8224580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FC2FDC-25D1-8013-B8B5-CDDAA2ADD6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MX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C95F422-EC2B-2B94-D658-C942D7E5840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MX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3ACD96-210A-B91C-2E3E-C597823815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B7BE8B-B806-4764-BC50-C56921482094}" type="datetimeFigureOut">
              <a:rPr lang="es-MX" smtClean="0"/>
              <a:t>27/03/2025</a:t>
            </a:fld>
            <a:endParaRPr lang="es-MX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8F869E-2FFA-24F8-A8C7-E2978F0748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F20CF5-2C1A-C5F8-224A-72F16E08B8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4DB546-DFB2-490F-9AAD-B7DDBEDFBCD9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4735396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C516D42-96B8-A52F-A1E1-6521C29DEB5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s-MX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69D90F0-9833-9A72-6691-0B13DC7FC1B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MX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59D47C-0670-F1C6-4748-B90E9D4A6A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B7BE8B-B806-4764-BC50-C56921482094}" type="datetimeFigureOut">
              <a:rPr lang="es-MX" smtClean="0"/>
              <a:t>27/03/2025</a:t>
            </a:fld>
            <a:endParaRPr lang="es-MX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5DD228-3611-2F6A-163B-49B9F07278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B96BD6-BB0A-F1A7-53A4-F6D4C5757A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4DB546-DFB2-490F-9AAD-B7DDBEDFBCD9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8904064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0BD9385-719D-4F64-A4AA-67B94FAF07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s-MX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7F9DAAF-FF09-3C4F-E8C7-F977459C75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MX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34092C-30B7-7B1A-7F30-1ABC0AB886C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6B7BE8B-B806-4764-BC50-C56921482094}" type="datetimeFigureOut">
              <a:rPr lang="es-MX" smtClean="0"/>
              <a:t>27/03/2025</a:t>
            </a:fld>
            <a:endParaRPr lang="es-MX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77AB31-6D6D-0269-341B-2A9A0F52688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MX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E69124-F52B-EBE5-1B4A-5EBF976713A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D4DB546-DFB2-490F-9AAD-B7DDBEDFBCD9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4951463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MX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4C1CA9-67A1-CE05-2F55-B0F721181AE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MX" dirty="0"/>
              <a:t>Tuberías (pipelines)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5D81E36-F873-D8C2-3A3B-726FD117741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s-MX" dirty="0"/>
              <a:t>Gonzalo Luna</a:t>
            </a:r>
          </a:p>
          <a:p>
            <a:r>
              <a:rPr lang="es-MX" dirty="0"/>
              <a:t>27/3 TD3</a:t>
            </a:r>
          </a:p>
          <a:p>
            <a:r>
              <a:rPr lang="es-MX" dirty="0"/>
              <a:t>5R5 2025</a:t>
            </a:r>
          </a:p>
        </p:txBody>
      </p:sp>
    </p:spTree>
    <p:extLst>
      <p:ext uri="{BB962C8B-B14F-4D97-AF65-F5344CB8AC3E}">
        <p14:creationId xmlns:p14="http://schemas.microsoft.com/office/powerpoint/2010/main" val="8060599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B3244F-2FFF-8A88-5F33-14AAD475A9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¿Qué es una tubería?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D29DC9-23F2-8937-ADFD-091DBC3267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MX" dirty="0"/>
              <a:t>Se puede entender como una estructura que permite la comunicación entre diferentes procesos.</a:t>
            </a:r>
          </a:p>
          <a:p>
            <a:r>
              <a:rPr lang="es-MX" dirty="0"/>
              <a:t>En el Shell de Linux, esta se representa con el símbolo “|”</a:t>
            </a:r>
          </a:p>
          <a:p>
            <a:r>
              <a:rPr lang="es-MX" dirty="0"/>
              <a:t>Por ejemplo: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A0D17EE-36BD-C3EE-6F2C-33E3D1E0F2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28504" y="4124063"/>
            <a:ext cx="5760739" cy="130506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1ADF83A2-A9A6-90C9-30E7-4013264FED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95121" y="4441521"/>
            <a:ext cx="2177988" cy="670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96311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D121D6-57A0-9685-63BA-4543757D2A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Características de las tuberías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7AC08B-1B20-7ED2-54F2-8F0B0B99A8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MX" dirty="0"/>
              <a:t>Es un “Byte </a:t>
            </a:r>
            <a:r>
              <a:rPr lang="es-MX" dirty="0" err="1"/>
              <a:t>Stream</a:t>
            </a:r>
            <a:r>
              <a:rPr lang="es-MX" dirty="0"/>
              <a:t>”: La lectura y escritura se hace de forma secuencial, por ende los bloques de datos se leen en el mismo orden en el que fueron escritos en la misma.</a:t>
            </a:r>
          </a:p>
          <a:p>
            <a:r>
              <a:rPr lang="es-MX" dirty="0"/>
              <a:t>Son unidireccionales</a:t>
            </a:r>
          </a:p>
          <a:p>
            <a:r>
              <a:rPr lang="es-MX" dirty="0"/>
              <a:t>Tienen una capacidad limitada: La tubería no es mas que un buffer de memoria en el </a:t>
            </a:r>
            <a:r>
              <a:rPr lang="es-MX" dirty="0" err="1"/>
              <a:t>kernel</a:t>
            </a:r>
            <a:r>
              <a:rPr lang="es-MX" dirty="0"/>
              <a:t>. El espacio de este buffer varia en función del SO. Por ejemplo, Linux 2.6.11 y versiones superiores tienen una capacidad máxima de 65536 bytes.</a:t>
            </a:r>
          </a:p>
          <a:p>
            <a:r>
              <a:rPr lang="es-MX" dirty="0"/>
              <a:t>La escritura sobre la tubería es atómica.</a:t>
            </a:r>
          </a:p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8367045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C8CA4D-76CE-42CD-D8CC-A338C5EA7E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Creación de una tubería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09742F-20C0-E916-0DE0-68E4461056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s-MX" dirty="0"/>
              <a:t>La función pipe() permite crear una tubería.</a:t>
            </a:r>
          </a:p>
          <a:p>
            <a:endParaRPr lang="es-MX" dirty="0"/>
          </a:p>
          <a:p>
            <a:endParaRPr lang="es-MX" dirty="0"/>
          </a:p>
          <a:p>
            <a:endParaRPr lang="es-MX" dirty="0"/>
          </a:p>
          <a:p>
            <a:r>
              <a:rPr lang="es-MX" dirty="0"/>
              <a:t>Cuando se crea una tubería, este devuelve dos descriptores de archivos. En este caso </a:t>
            </a:r>
            <a:r>
              <a:rPr lang="es-MX" dirty="0" err="1"/>
              <a:t>filedes</a:t>
            </a:r>
            <a:r>
              <a:rPr lang="es-MX" dirty="0"/>
              <a:t>[0] (extremo de lectura) y </a:t>
            </a:r>
            <a:r>
              <a:rPr lang="es-MX" dirty="0" err="1"/>
              <a:t>filedes</a:t>
            </a:r>
            <a:r>
              <a:rPr lang="es-MX" dirty="0"/>
              <a:t>[1] (extremo de escritura). Se pueden usar </a:t>
            </a:r>
            <a:r>
              <a:rPr lang="es-MX" dirty="0" err="1"/>
              <a:t>read</a:t>
            </a:r>
            <a:r>
              <a:rPr lang="es-MX" dirty="0"/>
              <a:t>(), </a:t>
            </a:r>
            <a:r>
              <a:rPr lang="es-MX" dirty="0" err="1"/>
              <a:t>write</a:t>
            </a:r>
            <a:r>
              <a:rPr lang="es-MX" dirty="0"/>
              <a:t>() u otras funciones de </a:t>
            </a:r>
            <a:r>
              <a:rPr lang="es-MX" dirty="0" err="1"/>
              <a:t>stdio</a:t>
            </a:r>
            <a:r>
              <a:rPr lang="es-MX" dirty="0"/>
              <a:t> como </a:t>
            </a:r>
            <a:r>
              <a:rPr lang="es-MX" dirty="0" err="1"/>
              <a:t>printf</a:t>
            </a:r>
            <a:r>
              <a:rPr lang="es-MX" dirty="0"/>
              <a:t>() en estos descriptores de archivos</a:t>
            </a:r>
          </a:p>
          <a:p>
            <a:endParaRPr lang="es-MX" dirty="0"/>
          </a:p>
          <a:p>
            <a:endParaRPr lang="es-MX" dirty="0"/>
          </a:p>
          <a:p>
            <a:endParaRPr lang="es-MX" dirty="0"/>
          </a:p>
          <a:p>
            <a:pPr marL="0" indent="0">
              <a:buNone/>
            </a:pPr>
            <a:endParaRPr lang="es-MX" dirty="0"/>
          </a:p>
          <a:p>
            <a:pPr marL="0" indent="0">
              <a:buNone/>
            </a:pPr>
            <a:endParaRPr lang="es-MX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23746F6-F24D-0393-2ED0-921FB9E53E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06685" y="2488634"/>
            <a:ext cx="7578629" cy="13180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94957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19F355-8257-2465-F7D4-2DF92E1447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Creación de una tubería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9E12626-5F64-E72A-5415-F3306EDA70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MX" dirty="0"/>
              <a:t>El resultado de la función anterior se puede visualizar de la siguiente manera: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316353D-112D-81D8-3AA4-12B9CBE27B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31402" y="3429000"/>
            <a:ext cx="3929195" cy="24148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96930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0C2C87-3180-729F-3F3E-F5D5CA3127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Creación de la tubería.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9EB77B-8505-6A7F-15AE-5ED10A2AF7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s-MX" dirty="0"/>
              <a:t>Para conectar dos procesos distintos, se llama a </a:t>
            </a:r>
            <a:r>
              <a:rPr lang="es-MX" dirty="0" err="1"/>
              <a:t>fork</a:t>
            </a:r>
            <a:r>
              <a:rPr lang="es-MX" dirty="0"/>
              <a:t>(), posteriormente de haber creado la </a:t>
            </a:r>
            <a:r>
              <a:rPr lang="es-MX" dirty="0" err="1"/>
              <a:t>tuberia</a:t>
            </a:r>
            <a:r>
              <a:rPr lang="es-MX" dirty="0"/>
              <a:t>, donde el hijo copia los archivos descriptores del padre. Inmediatamente, un proceso debe eliminar el archivo descriptor de lectura y el proceso restante el de escritura.</a:t>
            </a:r>
          </a:p>
          <a:p>
            <a:endParaRPr lang="es-MX" dirty="0"/>
          </a:p>
          <a:p>
            <a:endParaRPr lang="es-MX" dirty="0"/>
          </a:p>
          <a:p>
            <a:endParaRPr lang="es-MX" dirty="0"/>
          </a:p>
          <a:p>
            <a:endParaRPr lang="es-MX" dirty="0"/>
          </a:p>
          <a:p>
            <a:endParaRPr lang="es-MX" dirty="0"/>
          </a:p>
          <a:p>
            <a:endParaRPr lang="es-MX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963F42-C878-6A21-668C-5E4A235220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82157" y="3648940"/>
            <a:ext cx="2583006" cy="28829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9C5187F-11B2-9FC3-235A-9BD993D19C4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09120" y="3767232"/>
            <a:ext cx="2583006" cy="26463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0432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EEE2F1-24AA-C191-C08F-1C0BC64AFD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Creación de una tubería.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77EB57-E610-8816-0CB4-6DCF0F2B6E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s-MX" dirty="0"/>
              <a:t>Es posible que un proceso padre y un proceso hijo compartan la salida de una misma tubería, pero es necesario algún mecanismo de sincronismo entre ambos procesos.</a:t>
            </a:r>
          </a:p>
          <a:p>
            <a:r>
              <a:rPr lang="es-MX" dirty="0"/>
              <a:t>Se borran los archivos descriptores innecesarios para garantizar que funcione bien la tubería.</a:t>
            </a:r>
          </a:p>
          <a:p>
            <a:r>
              <a:rPr lang="es-MX" dirty="0"/>
              <a:t>Se pueden crear múltiples tuberías en un solo proceso y cada tubería tiene su propio buffer de memoria en el </a:t>
            </a:r>
            <a:r>
              <a:rPr lang="es-MX" dirty="0" err="1"/>
              <a:t>kernel</a:t>
            </a:r>
            <a:r>
              <a:rPr lang="es-MX" dirty="0"/>
              <a:t>.</a:t>
            </a:r>
          </a:p>
          <a:p>
            <a:r>
              <a:rPr lang="es-MX" dirty="0"/>
              <a:t>Los procesos en Linux no son conscientes de la existencia de la tubería. Solo hacen operaciones con los descriptores de archivos</a:t>
            </a:r>
          </a:p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42995990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915880-20CF-A6B1-A117-71A087EEC1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Los diferentes usos de las tuberías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F98485-89C0-AA87-9F93-458FC8C79D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MX" dirty="0"/>
              <a:t>Las tuberías se pueden utilizar para realizar otro tipo de función para el cual fue creado.</a:t>
            </a:r>
          </a:p>
          <a:p>
            <a:r>
              <a:rPr lang="es-MX" dirty="0"/>
              <a:t>Particularmente, se pueden usar para:</a:t>
            </a:r>
          </a:p>
          <a:p>
            <a:pPr lvl="1"/>
            <a:r>
              <a:rPr lang="es-MX" dirty="0"/>
              <a:t>Sincronizar procesos</a:t>
            </a:r>
          </a:p>
          <a:p>
            <a:pPr lvl="1"/>
            <a:r>
              <a:rPr lang="es-MX" dirty="0"/>
              <a:t>Vincular filtros.</a:t>
            </a:r>
          </a:p>
          <a:p>
            <a:pPr lvl="2"/>
            <a:r>
              <a:rPr lang="es-MX" dirty="0"/>
              <a:t>A lo que se refiere con “filtros”, es a programas que leen datos por </a:t>
            </a:r>
            <a:r>
              <a:rPr lang="es-MX" dirty="0" err="1"/>
              <a:t>stdin</a:t>
            </a:r>
            <a:r>
              <a:rPr lang="es-MX" dirty="0"/>
              <a:t> y escriben por </a:t>
            </a:r>
            <a:r>
              <a:rPr lang="es-MX" dirty="0" err="1"/>
              <a:t>stdout</a:t>
            </a:r>
            <a:r>
              <a:rPr lang="es-MX" dirty="0"/>
              <a:t> </a:t>
            </a:r>
          </a:p>
          <a:p>
            <a:pPr lvl="1"/>
            <a:r>
              <a:rPr lang="es-MX" dirty="0"/>
              <a:t>Interactuar con el Shell.</a:t>
            </a:r>
          </a:p>
        </p:txBody>
      </p:sp>
    </p:spTree>
    <p:extLst>
      <p:ext uri="{BB962C8B-B14F-4D97-AF65-F5344CB8AC3E}">
        <p14:creationId xmlns:p14="http://schemas.microsoft.com/office/powerpoint/2010/main" val="67286979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A210F7-27E4-4B6C-7C38-6EAA457A3E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El uso de tuberías para sincronizar procesos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DDA467-E261-17E3-A62C-7B863D136D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MX" dirty="0"/>
              <a:t>El proceso padre crea la tubera y genera al proceso hijo. El proceso padre cerrara el descriptor de archivos para la escritura y realizara su función.</a:t>
            </a:r>
          </a:p>
          <a:p>
            <a:r>
              <a:rPr lang="es-MX" dirty="0"/>
              <a:t>El proceso hijo realizara su función y cuando termine cerrara el descriptor de archivos para la escritura.</a:t>
            </a:r>
          </a:p>
          <a:p>
            <a:r>
              <a:rPr lang="es-MX" dirty="0"/>
              <a:t>El padre al terminar con su función, llamara a la función </a:t>
            </a:r>
            <a:r>
              <a:rPr lang="es-MX" dirty="0" err="1"/>
              <a:t>call</a:t>
            </a:r>
            <a:r>
              <a:rPr lang="es-MX" dirty="0"/>
              <a:t>() para verificar si el proceso hijo ha terminado.</a:t>
            </a:r>
          </a:p>
          <a:p>
            <a:r>
              <a:rPr lang="es-MX" dirty="0"/>
              <a:t>Si el proceso hijo terminó, entonces la función </a:t>
            </a:r>
            <a:r>
              <a:rPr lang="es-MX" dirty="0" err="1"/>
              <a:t>call</a:t>
            </a:r>
            <a:r>
              <a:rPr lang="es-MX" dirty="0"/>
              <a:t> devolverá un </a:t>
            </a:r>
            <a:r>
              <a:rPr lang="es-MX" dirty="0" err="1"/>
              <a:t>end</a:t>
            </a:r>
            <a:r>
              <a:rPr lang="es-MX" dirty="0"/>
              <a:t>-</a:t>
            </a:r>
            <a:r>
              <a:rPr lang="es-MX" dirty="0" err="1"/>
              <a:t>of</a:t>
            </a:r>
            <a:r>
              <a:rPr lang="es-MX" dirty="0"/>
              <a:t>-file y seguirá normalmente. En caso contrario, esperará a que el proceso hijo termine.</a:t>
            </a:r>
          </a:p>
        </p:txBody>
      </p:sp>
    </p:spTree>
    <p:extLst>
      <p:ext uri="{BB962C8B-B14F-4D97-AF65-F5344CB8AC3E}">
        <p14:creationId xmlns:p14="http://schemas.microsoft.com/office/powerpoint/2010/main" val="267206437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6E84F5-0028-5BA7-CDA7-4211126BEB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Vinculación de filtros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CD5B0C-C186-C34A-690A-85026F1187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MX" dirty="0"/>
              <a:t>Esto se puede realizar duplicando los descriptores de archivos de la tubería y ligando la salida y entrada de los procesos a los extremos de lectura y escritura de la tubería correspondiente.</a:t>
            </a:r>
          </a:p>
          <a:p>
            <a:r>
              <a:rPr lang="es-MX" dirty="0"/>
              <a:t>Los descriptores de archivos sobrantes podemos eliminarlos sin inconvenientes. El resultado seria el siguiente: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4F9D9CE-060A-DC65-FA23-5274190AEC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15630" y="4293876"/>
            <a:ext cx="5760739" cy="13050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688799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DCDDE2-F1BC-6942-4DF0-3FF442C0B5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Interacción con el Shell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1E3815-75FF-F195-1C0D-5FA550DEBA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MX" dirty="0"/>
              <a:t>Es posible interactuar con el Shell del SO en la ejecución de un proceso. Linux provee una función que simplifica esto denominado popen() y </a:t>
            </a:r>
            <a:r>
              <a:rPr lang="es-MX" dirty="0" err="1"/>
              <a:t>pclose</a:t>
            </a:r>
            <a:r>
              <a:rPr lang="es-MX" dirty="0"/>
              <a:t>()</a:t>
            </a:r>
          </a:p>
          <a:p>
            <a:endParaRPr lang="es-MX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AB590C2-C879-B0B1-4F91-F6F630F031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76435" y="3429000"/>
            <a:ext cx="7239130" cy="18060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325623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261250-D9DC-8D1F-497A-2B991893BA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Interacción con el Shell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2E817E-0F46-A39B-FC81-27262E91A0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MX" dirty="0"/>
              <a:t>La función popen() crea una tubería y llama a un </a:t>
            </a:r>
            <a:r>
              <a:rPr lang="es-MX" dirty="0" err="1"/>
              <a:t>fork</a:t>
            </a:r>
            <a:r>
              <a:rPr lang="es-MX" dirty="0"/>
              <a:t> donde el proceso hijo ejecuta el comando de Shell escrito como argumento y su modo.</a:t>
            </a:r>
          </a:p>
          <a:p>
            <a:endParaRPr lang="es-MX" dirty="0"/>
          </a:p>
          <a:p>
            <a:endParaRPr lang="es-MX" dirty="0"/>
          </a:p>
          <a:p>
            <a:pPr lvl="1"/>
            <a:r>
              <a:rPr lang="es-MX" dirty="0" err="1"/>
              <a:t>command</a:t>
            </a:r>
            <a:r>
              <a:rPr lang="es-MX" dirty="0"/>
              <a:t>: indica el comando de Shell que se ejecutara</a:t>
            </a:r>
          </a:p>
          <a:p>
            <a:pPr lvl="1"/>
            <a:r>
              <a:rPr lang="es-MX" dirty="0" err="1"/>
              <a:t>mode</a:t>
            </a:r>
            <a:r>
              <a:rPr lang="es-MX" dirty="0"/>
              <a:t>: este indica si el proceso padre leerá (en este caso se usa “r”) o escribirá (se usa “w”) sobre la tubería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4DD0DA4-9000-7DC5-D4B8-B3221ABB1E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9803" y="3195084"/>
            <a:ext cx="8868314" cy="8062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231473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B36665-6DFD-4853-01C7-2A8F21D97C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Interacción con el Shell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74933C-DCA1-78C5-2029-53D27F24A7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MX" dirty="0"/>
              <a:t>Se ejecuta la función </a:t>
            </a:r>
            <a:r>
              <a:rPr lang="es-MX" dirty="0" err="1"/>
              <a:t>pclose</a:t>
            </a:r>
            <a:r>
              <a:rPr lang="es-MX" dirty="0"/>
              <a:t>() para cerrar la tubería cuando se termina con la lectura o escritura y espera a que termine el proceso hijo</a:t>
            </a:r>
          </a:p>
          <a:p>
            <a:endParaRPr lang="es-MX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4BF295A-35A7-A73B-75FE-9BBDCB0B76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66500" y="3425483"/>
            <a:ext cx="8459000" cy="6839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695220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617AE1-55E9-F966-4ADD-59CD71F289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Interacción con Shell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04B3B52-6082-09C1-711D-B61CA1B3ADA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393479" y="2066228"/>
            <a:ext cx="9405041" cy="2725543"/>
          </a:xfrm>
        </p:spPr>
      </p:pic>
    </p:spTree>
    <p:extLst>
      <p:ext uri="{BB962C8B-B14F-4D97-AF65-F5344CB8AC3E}">
        <p14:creationId xmlns:p14="http://schemas.microsoft.com/office/powerpoint/2010/main" val="411916922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B34F93-EE06-FD96-789F-962A49736E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Posible inconveniente con el uso de tuberías.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E20BB8-C55D-2A6F-3B51-7688314409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MX" dirty="0"/>
              <a:t>Las funciones de la librería </a:t>
            </a:r>
            <a:r>
              <a:rPr lang="es-MX" dirty="0" err="1"/>
              <a:t>stdio</a:t>
            </a:r>
            <a:r>
              <a:rPr lang="es-MX" dirty="0"/>
              <a:t> presentan una particularidad que podría provocar problemas al utilizarlas en conjunto con las tuberías</a:t>
            </a:r>
          </a:p>
          <a:p>
            <a:r>
              <a:rPr lang="es-MX" dirty="0"/>
              <a:t>Estas funciones concluirán siempre y cuando el buffer </a:t>
            </a:r>
            <a:r>
              <a:rPr lang="es-MX" dirty="0" err="1"/>
              <a:t>stdio</a:t>
            </a:r>
            <a:r>
              <a:rPr lang="es-MX" dirty="0"/>
              <a:t> esté lleno. En la gran mayoría de los casos no es un problema.</a:t>
            </a:r>
          </a:p>
          <a:p>
            <a:r>
              <a:rPr lang="es-MX" dirty="0"/>
              <a:t>Pero si el proceso requiere recibir datos en la tubería inmediatamente. Esto podría suponer un problema.</a:t>
            </a:r>
          </a:p>
          <a:p>
            <a:r>
              <a:rPr lang="es-MX" dirty="0"/>
              <a:t>Esto se puede evitar deshabilitando el buffer </a:t>
            </a:r>
            <a:r>
              <a:rPr lang="es-MX" dirty="0" err="1"/>
              <a:t>stdio</a:t>
            </a:r>
            <a:r>
              <a:rPr lang="es-MX" dirty="0"/>
              <a:t> utilizando </a:t>
            </a:r>
            <a:r>
              <a:rPr lang="es-MX" dirty="0" err="1"/>
              <a:t>setbuf</a:t>
            </a:r>
            <a:r>
              <a:rPr lang="es-MX" dirty="0"/>
              <a:t>(</a:t>
            </a:r>
            <a:r>
              <a:rPr lang="es-MX" dirty="0" err="1"/>
              <a:t>fp</a:t>
            </a:r>
            <a:r>
              <a:rPr lang="es-MX" dirty="0"/>
              <a:t>, NULL).</a:t>
            </a:r>
          </a:p>
        </p:txBody>
      </p:sp>
    </p:spTree>
    <p:extLst>
      <p:ext uri="{BB962C8B-B14F-4D97-AF65-F5344CB8AC3E}">
        <p14:creationId xmlns:p14="http://schemas.microsoft.com/office/powerpoint/2010/main" val="18043925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607046-A632-E142-5DA4-82C1F508D1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Resumen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EBA66E-8A93-A795-C105-D0CE810102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MX" dirty="0"/>
              <a:t>Una tubería es un mecanismo de comunicación entre dos procesos.</a:t>
            </a:r>
          </a:p>
          <a:p>
            <a:r>
              <a:rPr lang="es-MX" dirty="0"/>
              <a:t>Se crea con la función pipe().</a:t>
            </a:r>
          </a:p>
          <a:p>
            <a:r>
              <a:rPr lang="es-MX" dirty="0"/>
              <a:t>Se pueden crear </a:t>
            </a:r>
            <a:r>
              <a:rPr lang="es-MX" dirty="0" err="1"/>
              <a:t>multiples</a:t>
            </a:r>
            <a:r>
              <a:rPr lang="es-MX" dirty="0"/>
              <a:t> tuberías en un mismo proceso y, además, varios procesos pueden utilizar la misma tubería (pero se requiere sincronizar estos procesos)</a:t>
            </a:r>
          </a:p>
          <a:p>
            <a:r>
              <a:rPr lang="es-MX" dirty="0"/>
              <a:t>Tiene diversas aplicaciones, entre ellas podemos mencionar:</a:t>
            </a:r>
          </a:p>
          <a:p>
            <a:pPr lvl="1"/>
            <a:r>
              <a:rPr lang="es-MX" dirty="0"/>
              <a:t>Sincronización de procesos</a:t>
            </a:r>
          </a:p>
          <a:p>
            <a:pPr lvl="1"/>
            <a:r>
              <a:rPr lang="es-MX" dirty="0"/>
              <a:t>Vincular diferentes programas.</a:t>
            </a:r>
          </a:p>
          <a:p>
            <a:pPr lvl="1"/>
            <a:r>
              <a:rPr lang="es-MX" dirty="0"/>
              <a:t>Interactuar con el Shell</a:t>
            </a:r>
          </a:p>
          <a:p>
            <a:pPr lvl="1"/>
            <a:endParaRPr lang="es-MX" dirty="0"/>
          </a:p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403433483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5917E7-82F9-864E-FD6C-E7176EFB9F5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MX" dirty="0"/>
              <a:t>Gracias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4526A58-D0BE-33C3-FAF7-3807B20FAB2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s-MX" dirty="0"/>
              <a:t>Fin de la presentación.</a:t>
            </a:r>
          </a:p>
        </p:txBody>
      </p:sp>
    </p:spTree>
    <p:extLst>
      <p:ext uri="{BB962C8B-B14F-4D97-AF65-F5344CB8AC3E}">
        <p14:creationId xmlns:p14="http://schemas.microsoft.com/office/powerpoint/2010/main" val="420717024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450</TotalTime>
  <Words>1028</Words>
  <Application>Microsoft Office PowerPoint</Application>
  <PresentationFormat>Widescreen</PresentationFormat>
  <Paragraphs>88</Paragraphs>
  <Slides>17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1" baseType="lpstr">
      <vt:lpstr>Arial</vt:lpstr>
      <vt:lpstr>Calibri</vt:lpstr>
      <vt:lpstr>Calibri Light</vt:lpstr>
      <vt:lpstr>Office Theme</vt:lpstr>
      <vt:lpstr>Tuberías (pipelines)</vt:lpstr>
      <vt:lpstr>¿Qué es una tubería?</vt:lpstr>
      <vt:lpstr>Características de las tuberías</vt:lpstr>
      <vt:lpstr>Creación de una tubería</vt:lpstr>
      <vt:lpstr>Creación de una tubería</vt:lpstr>
      <vt:lpstr>Creación de la tubería.</vt:lpstr>
      <vt:lpstr>Creación de una tubería.</vt:lpstr>
      <vt:lpstr>Los diferentes usos de las tuberías</vt:lpstr>
      <vt:lpstr>El uso de tuberías para sincronizar procesos</vt:lpstr>
      <vt:lpstr>Vinculación de filtros</vt:lpstr>
      <vt:lpstr>Interacción con el Shell</vt:lpstr>
      <vt:lpstr>Interacción con el Shell</vt:lpstr>
      <vt:lpstr>Interacción con el Shell</vt:lpstr>
      <vt:lpstr>Interacción con Shell</vt:lpstr>
      <vt:lpstr>Posible inconveniente con el uso de tuberías.</vt:lpstr>
      <vt:lpstr>Resumen</vt:lpstr>
      <vt:lpstr>Gracias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Gonzalo</dc:creator>
  <cp:lastModifiedBy>Gonzalo</cp:lastModifiedBy>
  <cp:revision>4</cp:revision>
  <dcterms:created xsi:type="dcterms:W3CDTF">2025-03-27T00:08:21Z</dcterms:created>
  <dcterms:modified xsi:type="dcterms:W3CDTF">2025-03-27T23:30:14Z</dcterms:modified>
</cp:coreProperties>
</file>